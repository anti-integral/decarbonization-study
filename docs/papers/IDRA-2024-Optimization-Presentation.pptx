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  <p:sldMasterId id="2147483661" r:id="rId2"/>
  </p:sldMasterIdLst>
  <p:notesMasterIdLst>
    <p:notesMasterId r:id="rId38"/>
  </p:notesMasterIdLst>
  <p:sldIdLst>
    <p:sldId id="305" r:id="rId3"/>
    <p:sldId id="256" r:id="rId4"/>
    <p:sldId id="257" r:id="rId5"/>
    <p:sldId id="258" r:id="rId6"/>
    <p:sldId id="288" r:id="rId7"/>
    <p:sldId id="289" r:id="rId8"/>
    <p:sldId id="292" r:id="rId9"/>
    <p:sldId id="308" r:id="rId10"/>
    <p:sldId id="266" r:id="rId11"/>
    <p:sldId id="324" r:id="rId12"/>
    <p:sldId id="267" r:id="rId13"/>
    <p:sldId id="294" r:id="rId14"/>
    <p:sldId id="270" r:id="rId15"/>
    <p:sldId id="271" r:id="rId16"/>
    <p:sldId id="282" r:id="rId17"/>
    <p:sldId id="284" r:id="rId18"/>
    <p:sldId id="320" r:id="rId19"/>
    <p:sldId id="312" r:id="rId20"/>
    <p:sldId id="285" r:id="rId21"/>
    <p:sldId id="264" r:id="rId22"/>
    <p:sldId id="323" r:id="rId23"/>
    <p:sldId id="313" r:id="rId24"/>
    <p:sldId id="306" r:id="rId25"/>
    <p:sldId id="311" r:id="rId26"/>
    <p:sldId id="290" r:id="rId27"/>
    <p:sldId id="300" r:id="rId28"/>
    <p:sldId id="314" r:id="rId29"/>
    <p:sldId id="325" r:id="rId30"/>
    <p:sldId id="299" r:id="rId31"/>
    <p:sldId id="322" r:id="rId32"/>
    <p:sldId id="301" r:id="rId33"/>
    <p:sldId id="319" r:id="rId34"/>
    <p:sldId id="278" r:id="rId35"/>
    <p:sldId id="279" r:id="rId36"/>
    <p:sldId id="321" r:id="rId37"/>
  </p:sldIdLst>
  <p:sldSz cx="9144000" cy="5143500" type="screen16x9"/>
  <p:notesSz cx="6858000" cy="9144000"/>
  <p:embeddedFontLst>
    <p:embeddedFont>
      <p:font typeface="Aptos SemiBold" panose="020B0004020202020204" pitchFamily="34" charset="0"/>
      <p:bold r:id="rId39"/>
    </p:embeddedFont>
    <p:embeddedFont>
      <p:font typeface="Cambria Math" panose="02040503050406030204" pitchFamily="18" charset="0"/>
      <p:regular r:id="rId40"/>
    </p:embeddedFont>
    <p:embeddedFont>
      <p:font typeface="Lato Medium" panose="020F0502020204030203" pitchFamily="34" charset="0"/>
      <p:regular r:id="rId41"/>
      <p:italic r:id="rId42"/>
    </p:embeddedFont>
    <p:embeddedFont>
      <p:font typeface="Roboto" panose="02000000000000000000" pitchFamily="2" charset="0"/>
      <p:regular r:id="rId43"/>
      <p:bold r:id="rId44"/>
      <p:italic r:id="rId45"/>
      <p:boldItalic r:id="rId4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47" roundtripDataSignature="AMtx7mi+kRbL8m5cZ0+BzCtMV0RWVMcIW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A7A7A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3C8E665-70A1-4E61-A9FF-45C530C6B50D}">
  <a:tblStyle styleId="{03C8E665-70A1-4E61-A9FF-45C530C6B50D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60"/>
    <p:restoredTop sz="94364" autoAdjust="0"/>
  </p:normalViewPr>
  <p:slideViewPr>
    <p:cSldViewPr snapToGrid="0">
      <p:cViewPr varScale="1">
        <p:scale>
          <a:sx n="91" d="100"/>
          <a:sy n="91" d="100"/>
        </p:scale>
        <p:origin x="504" y="2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font" Target="fonts/font1.fntdata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font" Target="fonts/font4.fntdata"/><Relationship Id="rId47" Type="http://customschemas.google.com/relationships/presentationmetadata" Target="metadata"/><Relationship Id="rId50" Type="http://schemas.openxmlformats.org/officeDocument/2006/relationships/theme" Target="theme/them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font" Target="fonts/font2.fntdata"/><Relationship Id="rId45" Type="http://schemas.openxmlformats.org/officeDocument/2006/relationships/font" Target="fonts/font7.fntdata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font" Target="fonts/font6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font" Target="fonts/font5.fntdata"/><Relationship Id="rId48" Type="http://schemas.openxmlformats.org/officeDocument/2006/relationships/presProps" Target="presProps.xml"/><Relationship Id="rId8" Type="http://schemas.openxmlformats.org/officeDocument/2006/relationships/slide" Target="slides/slide6.xml"/><Relationship Id="rId51" Type="http://schemas.openxmlformats.org/officeDocument/2006/relationships/tableStyles" Target="tableStyle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notesMaster" Target="notesMasters/notesMaster1.xml"/><Relationship Id="rId46" Type="http://schemas.openxmlformats.org/officeDocument/2006/relationships/font" Target="fonts/font8.fntdata"/><Relationship Id="rId20" Type="http://schemas.openxmlformats.org/officeDocument/2006/relationships/slide" Target="slides/slide18.xml"/><Relationship Id="rId41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1" i="0" u="none" strike="noStrike" kern="1200" spc="0" baseline="0">
              <a:solidFill>
                <a:schemeClr val="accent3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7F9-47D4-8B6C-117A23452C5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7F9-47D4-8B6C-117A23452C59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7F9-47D4-8B6C-117A23452C59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400"/>
        <c:overlap val="-30"/>
        <c:axId val="1301622367"/>
        <c:axId val="1301606527"/>
      </c:barChart>
      <c:catAx>
        <c:axId val="130162236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1301606527"/>
        <c:crosses val="autoZero"/>
        <c:auto val="1"/>
        <c:lblAlgn val="ctr"/>
        <c:lblOffset val="100"/>
        <c:noMultiLvlLbl val="0"/>
      </c:catAx>
      <c:valAx>
        <c:axId val="130160652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130162236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50000"/>
                </a:scheme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>
          <a:solidFill>
            <a:schemeClr val="tx1"/>
          </a:solidFill>
        </a:defRPr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320" b="0" i="0" u="none" strike="noStrike" kern="1200" spc="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r>
              <a:rPr lang="es-ES" sz="1400" b="1" dirty="0">
                <a:solidFill>
                  <a:schemeClr val="accent3"/>
                </a:solidFill>
              </a:rPr>
              <a:t>Chart </a:t>
            </a:r>
            <a:r>
              <a:rPr lang="es-ES" sz="1400" b="1" dirty="0" err="1">
                <a:solidFill>
                  <a:schemeClr val="accent3"/>
                </a:solidFill>
              </a:rPr>
              <a:t>Title</a:t>
            </a:r>
            <a:endParaRPr lang="es-ES" sz="1400" b="1" dirty="0">
              <a:solidFill>
                <a:schemeClr val="accent3"/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320" b="0" i="0" u="none" strike="noStrike" kern="1200" spc="0" baseline="0">
              <a:solidFill>
                <a:schemeClr val="tx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596-4795-97B6-7608CE3BAC2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596-4795-97B6-7608CE3BAC2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D596-4795-97B6-7608CE3BAC2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2"/>
        <c:overlap val="-28"/>
        <c:axId val="363869968"/>
        <c:axId val="1143907999"/>
      </c:barChart>
      <c:catAx>
        <c:axId val="36386996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1143907999"/>
        <c:crosses val="autoZero"/>
        <c:auto val="1"/>
        <c:lblAlgn val="ctr"/>
        <c:lblOffset val="100"/>
        <c:noMultiLvlLbl val="0"/>
      </c:catAx>
      <c:valAx>
        <c:axId val="1143907999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36386996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solidFill>
                <a:schemeClr val="tx1">
                  <a:lumMod val="50000"/>
                </a:scheme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1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 sz="1400" dirty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Sales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chemeClr val="accent6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9494-4B41-87B6-E8A2AA906CFC}"/>
              </c:ext>
            </c:extLst>
          </c:dPt>
          <c:dPt>
            <c:idx val="1"/>
            <c:bubble3D val="0"/>
            <c:spPr>
              <a:solidFill>
                <a:schemeClr val="accent5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9494-4B41-87B6-E8A2AA906CFC}"/>
              </c:ext>
            </c:extLst>
          </c:dPt>
          <c:dPt>
            <c:idx val="2"/>
            <c:bubble3D val="0"/>
            <c:spPr>
              <a:solidFill>
                <a:schemeClr val="accent4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9494-4B41-87B6-E8A2AA906CFC}"/>
              </c:ext>
            </c:extLst>
          </c:dPt>
          <c:dPt>
            <c:idx val="3"/>
            <c:bubble3D val="0"/>
            <c:spPr>
              <a:solidFill>
                <a:schemeClr val="accent6">
                  <a:lumMod val="60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9494-4B41-87B6-E8A2AA906CFC}"/>
              </c:ext>
            </c:extLst>
          </c:dPt>
          <c:dLbls>
            <c:dLbl>
              <c:idx val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197" b="0" i="0" u="none" strike="noStrike" kern="1200" baseline="0">
                      <a:solidFill>
                        <a:schemeClr val="bg2"/>
                      </a:solidFill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defRPr>
                  </a:pPr>
                  <a:endParaRPr lang="en-US"/>
                </a:p>
              </c:txPr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9494-4B41-87B6-E8A2AA906CFC}"/>
                </c:ext>
              </c:extLst>
            </c:dLbl>
            <c:dLbl>
              <c:idx val="2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9494-4B41-87B6-E8A2AA906CF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bg2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eparator>
</c:separator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</c:ext>
            </c:extLst>
          </c:dLbls>
          <c:cat>
            <c:strRef>
              <c:f>Sheet1!$A$2:$A$5</c:f>
              <c:strCache>
                <c:ptCount val="4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  <c:pt idx="3">
                  <c:v>4th Qtr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9494-4B41-87B6-E8A2AA906CF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firstSliceAng val="0"/>
        <c:holeSize val="59"/>
      </c:doughnut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>
          <a:solidFill>
            <a:schemeClr val="tx1"/>
          </a:solidFill>
        </a:defRPr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5"/>
    </mc:Choice>
    <mc:Fallback>
      <c:style val="5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s-ES" dirty="0">
                <a:solidFill>
                  <a:schemeClr val="accent3"/>
                </a:solidFill>
              </a:rPr>
              <a:t>Chart </a:t>
            </a:r>
            <a:r>
              <a:rPr lang="es-ES" dirty="0" err="1">
                <a:solidFill>
                  <a:schemeClr val="accent3"/>
                </a:solidFill>
              </a:rPr>
              <a:t>Title</a:t>
            </a:r>
            <a:endParaRPr lang="es-ES" dirty="0">
              <a:solidFill>
                <a:schemeClr val="accent3"/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3">
                <a:shade val="76000"/>
              </a:schemeClr>
            </a:solidFill>
            <a:ln>
              <a:noFill/>
            </a:ln>
            <a:effectLst/>
          </c:spPr>
          <c:cat>
            <c:numRef>
              <c:f>Sheet1!$A$2:$A$6</c:f>
              <c:numCache>
                <c:formatCode>m/d/yyyy</c:formatCode>
                <c:ptCount val="5"/>
                <c:pt idx="0">
                  <c:v>37261</c:v>
                </c:pt>
                <c:pt idx="1">
                  <c:v>37262</c:v>
                </c:pt>
                <c:pt idx="2">
                  <c:v>37263</c:v>
                </c:pt>
                <c:pt idx="3">
                  <c:v>37264</c:v>
                </c:pt>
                <c:pt idx="4">
                  <c:v>37265</c:v>
                </c:pt>
              </c:numCache>
            </c:numRef>
          </c:cat>
          <c:val>
            <c:numRef>
              <c:f>Sheet1!$B$2:$B$6</c:f>
              <c:numCache>
                <c:formatCode>General</c:formatCode>
                <c:ptCount val="5"/>
                <c:pt idx="0">
                  <c:v>32</c:v>
                </c:pt>
                <c:pt idx="1">
                  <c:v>32</c:v>
                </c:pt>
                <c:pt idx="2">
                  <c:v>28</c:v>
                </c:pt>
                <c:pt idx="3">
                  <c:v>12</c:v>
                </c:pt>
                <c:pt idx="4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649-4964-A866-EB34310447A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3">
                <a:tint val="77000"/>
              </a:schemeClr>
            </a:solidFill>
            <a:ln>
              <a:noFill/>
            </a:ln>
            <a:effectLst/>
          </c:spPr>
          <c:cat>
            <c:numRef>
              <c:f>Sheet1!$A$2:$A$6</c:f>
              <c:numCache>
                <c:formatCode>m/d/yyyy</c:formatCode>
                <c:ptCount val="5"/>
                <c:pt idx="0">
                  <c:v>37261</c:v>
                </c:pt>
                <c:pt idx="1">
                  <c:v>37262</c:v>
                </c:pt>
                <c:pt idx="2">
                  <c:v>37263</c:v>
                </c:pt>
                <c:pt idx="3">
                  <c:v>37264</c:v>
                </c:pt>
                <c:pt idx="4">
                  <c:v>37265</c:v>
                </c:pt>
              </c:numCache>
            </c:numRef>
          </c:cat>
          <c:val>
            <c:numRef>
              <c:f>Sheet1!$C$2:$C$6</c:f>
              <c:numCache>
                <c:formatCode>General</c:formatCode>
                <c:ptCount val="5"/>
                <c:pt idx="0">
                  <c:v>12</c:v>
                </c:pt>
                <c:pt idx="1">
                  <c:v>12</c:v>
                </c:pt>
                <c:pt idx="2">
                  <c:v>12</c:v>
                </c:pt>
                <c:pt idx="3">
                  <c:v>21</c:v>
                </c:pt>
                <c:pt idx="4">
                  <c:v>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649-4964-A866-EB34310447A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141568784"/>
        <c:axId val="1141569744"/>
      </c:areaChart>
      <c:dateAx>
        <c:axId val="1141568784"/>
        <c:scaling>
          <c:orientation val="minMax"/>
          <c:max val="37265"/>
          <c:min val="37261"/>
        </c:scaling>
        <c:delete val="0"/>
        <c:axPos val="b"/>
        <c:numFmt formatCode="m/d/yy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41569744"/>
        <c:crosses val="autoZero"/>
        <c:auto val="1"/>
        <c:lblOffset val="100"/>
        <c:baseTimeUnit val="days"/>
      </c:dateAx>
      <c:valAx>
        <c:axId val="1141569744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chemeClr val="tx1"/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4156878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zero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200">
          <a:solidFill>
            <a:schemeClr val="tx1"/>
          </a:solidFill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withinLinear" id="16">
  <a:schemeClr val="accent3"/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D42449B-4F84-40F7-8098-3CA78FA438CA}" type="doc">
      <dgm:prSet loTypeId="urn:microsoft.com/office/officeart/2005/8/layout/hChevron3" loCatId="process" qsTypeId="urn:microsoft.com/office/officeart/2005/8/quickstyle/simple1" qsCatId="simple" csTypeId="urn:microsoft.com/office/officeart/2005/8/colors/colorful2" csCatId="colorful" phldr="1"/>
      <dgm:spPr/>
    </dgm:pt>
    <dgm:pt modelId="{BE38D935-83FB-475B-9E59-436DDAEE5351}">
      <dgm:prSet phldrT="[Text]" custT="1"/>
      <dgm:spPr/>
      <dgm:t>
        <a:bodyPr/>
        <a:lstStyle/>
        <a:p>
          <a:r>
            <a:rPr lang="en-US" sz="1800">
              <a:solidFill>
                <a:schemeClr val="bg2"/>
              </a:solidFill>
              <a:latin typeface="Arial" panose="020B0604020202020204" pitchFamily="34" charset="0"/>
              <a:cs typeface="Arial" panose="020B0604020202020204" pitchFamily="34" charset="0"/>
            </a:rPr>
            <a:t>Text</a:t>
          </a:r>
          <a:endParaRPr lang="en-US" sz="1800" dirty="0">
            <a:solidFill>
              <a:schemeClr val="bg2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97BB7B28-61C4-43D9-B142-9DB91458198D}" type="parTrans" cxnId="{F266D3AD-B66E-4760-9FE6-FB0A474A8413}">
      <dgm:prSet/>
      <dgm:spPr/>
      <dgm:t>
        <a:bodyPr/>
        <a:lstStyle/>
        <a:p>
          <a:endParaRPr lang="en-US" sz="1100">
            <a:solidFill>
              <a:schemeClr val="bg2"/>
            </a:solidFill>
          </a:endParaRPr>
        </a:p>
      </dgm:t>
    </dgm:pt>
    <dgm:pt modelId="{41240ADF-379C-470E-A737-2909691A8FAE}" type="sibTrans" cxnId="{F266D3AD-B66E-4760-9FE6-FB0A474A8413}">
      <dgm:prSet/>
      <dgm:spPr/>
      <dgm:t>
        <a:bodyPr/>
        <a:lstStyle/>
        <a:p>
          <a:endParaRPr lang="en-US" sz="1100">
            <a:solidFill>
              <a:schemeClr val="bg2"/>
            </a:solidFill>
          </a:endParaRPr>
        </a:p>
      </dgm:t>
    </dgm:pt>
    <dgm:pt modelId="{68151B12-09DA-4575-8EA9-9290D63CCD39}">
      <dgm:prSet phldrT="[Text]" custT="1"/>
      <dgm:spPr/>
      <dgm:t>
        <a:bodyPr/>
        <a:lstStyle/>
        <a:p>
          <a:r>
            <a:rPr lang="en-US" sz="1800">
              <a:solidFill>
                <a:schemeClr val="bg2"/>
              </a:solidFill>
              <a:latin typeface="Arial" panose="020B0604020202020204" pitchFamily="34" charset="0"/>
              <a:cs typeface="Arial" panose="020B0604020202020204" pitchFamily="34" charset="0"/>
            </a:rPr>
            <a:t>Text</a:t>
          </a:r>
          <a:endParaRPr lang="en-US" sz="1800" dirty="0">
            <a:solidFill>
              <a:schemeClr val="bg2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7E70A639-70D6-4C1C-9216-FEF0E1390BE9}" type="parTrans" cxnId="{3E4CA29A-CBB8-4E1A-8376-E0AFB6D6AFC8}">
      <dgm:prSet/>
      <dgm:spPr/>
      <dgm:t>
        <a:bodyPr/>
        <a:lstStyle/>
        <a:p>
          <a:endParaRPr lang="en-US" sz="1100">
            <a:solidFill>
              <a:schemeClr val="bg2"/>
            </a:solidFill>
          </a:endParaRPr>
        </a:p>
      </dgm:t>
    </dgm:pt>
    <dgm:pt modelId="{D0B644B0-CC09-4084-880F-919D3F740231}" type="sibTrans" cxnId="{3E4CA29A-CBB8-4E1A-8376-E0AFB6D6AFC8}">
      <dgm:prSet/>
      <dgm:spPr/>
      <dgm:t>
        <a:bodyPr/>
        <a:lstStyle/>
        <a:p>
          <a:endParaRPr lang="en-US" sz="1100">
            <a:solidFill>
              <a:schemeClr val="bg2"/>
            </a:solidFill>
          </a:endParaRPr>
        </a:p>
      </dgm:t>
    </dgm:pt>
    <dgm:pt modelId="{98DD6828-C670-4D06-8257-A3BEACCD5710}">
      <dgm:prSet phldrT="[Text]" custT="1"/>
      <dgm:spPr/>
      <dgm:t>
        <a:bodyPr/>
        <a:lstStyle/>
        <a:p>
          <a:r>
            <a:rPr lang="en-US" sz="1800">
              <a:solidFill>
                <a:schemeClr val="bg2"/>
              </a:solidFill>
              <a:latin typeface="Arial" panose="020B0604020202020204" pitchFamily="34" charset="0"/>
              <a:cs typeface="Arial" panose="020B0604020202020204" pitchFamily="34" charset="0"/>
            </a:rPr>
            <a:t>Text</a:t>
          </a:r>
          <a:endParaRPr lang="en-US" sz="1800" dirty="0">
            <a:solidFill>
              <a:schemeClr val="bg2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0EF561FB-E382-4ADD-BFD1-CDBE2FFF02D3}" type="parTrans" cxnId="{18ED8763-2178-4370-ADED-81F005B79410}">
      <dgm:prSet/>
      <dgm:spPr/>
      <dgm:t>
        <a:bodyPr/>
        <a:lstStyle/>
        <a:p>
          <a:endParaRPr lang="en-US" sz="1100">
            <a:solidFill>
              <a:schemeClr val="bg2"/>
            </a:solidFill>
          </a:endParaRPr>
        </a:p>
      </dgm:t>
    </dgm:pt>
    <dgm:pt modelId="{8A70C966-FE42-4934-ACDD-DEF2BBBB6091}" type="sibTrans" cxnId="{18ED8763-2178-4370-ADED-81F005B79410}">
      <dgm:prSet/>
      <dgm:spPr/>
      <dgm:t>
        <a:bodyPr/>
        <a:lstStyle/>
        <a:p>
          <a:endParaRPr lang="en-US" sz="1100">
            <a:solidFill>
              <a:schemeClr val="bg2"/>
            </a:solidFill>
          </a:endParaRPr>
        </a:p>
      </dgm:t>
    </dgm:pt>
    <dgm:pt modelId="{81B4962C-2431-4713-9305-B9DE150DAA51}">
      <dgm:prSet phldrT="[Text]" custT="1"/>
      <dgm:spPr/>
      <dgm:t>
        <a:bodyPr/>
        <a:lstStyle/>
        <a:p>
          <a:r>
            <a:rPr lang="en-US" sz="1800">
              <a:solidFill>
                <a:schemeClr val="bg2"/>
              </a:solidFill>
              <a:latin typeface="Arial" panose="020B0604020202020204" pitchFamily="34" charset="0"/>
              <a:cs typeface="Arial" panose="020B0604020202020204" pitchFamily="34" charset="0"/>
            </a:rPr>
            <a:t>Text</a:t>
          </a:r>
          <a:endParaRPr lang="en-US" sz="1800" dirty="0">
            <a:solidFill>
              <a:schemeClr val="bg2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5D23CB3D-2DC3-4BCF-B110-7044D19F5070}" type="parTrans" cxnId="{CFF151EE-D289-4D1C-B192-2E33A61779E9}">
      <dgm:prSet/>
      <dgm:spPr/>
      <dgm:t>
        <a:bodyPr/>
        <a:lstStyle/>
        <a:p>
          <a:endParaRPr lang="en-US" sz="1100">
            <a:solidFill>
              <a:schemeClr val="bg2"/>
            </a:solidFill>
          </a:endParaRPr>
        </a:p>
      </dgm:t>
    </dgm:pt>
    <dgm:pt modelId="{27F2B075-6938-4C02-9DC4-118B1A52AB23}" type="sibTrans" cxnId="{CFF151EE-D289-4D1C-B192-2E33A61779E9}">
      <dgm:prSet/>
      <dgm:spPr/>
      <dgm:t>
        <a:bodyPr/>
        <a:lstStyle/>
        <a:p>
          <a:endParaRPr lang="en-US" sz="1100">
            <a:solidFill>
              <a:schemeClr val="bg2"/>
            </a:solidFill>
          </a:endParaRPr>
        </a:p>
      </dgm:t>
    </dgm:pt>
    <dgm:pt modelId="{8793D675-5AFD-4EE9-8A8E-FAD82A4CEF29}">
      <dgm:prSet phldrT="[Text]" custT="1"/>
      <dgm:spPr/>
      <dgm:t>
        <a:bodyPr/>
        <a:lstStyle/>
        <a:p>
          <a:r>
            <a:rPr lang="en-US" sz="1800">
              <a:solidFill>
                <a:schemeClr val="bg2"/>
              </a:solidFill>
              <a:latin typeface="Arial" panose="020B0604020202020204" pitchFamily="34" charset="0"/>
              <a:cs typeface="Arial" panose="020B0604020202020204" pitchFamily="34" charset="0"/>
            </a:rPr>
            <a:t>Text</a:t>
          </a:r>
          <a:endParaRPr lang="en-US" sz="1800" dirty="0">
            <a:solidFill>
              <a:schemeClr val="bg2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361A7653-8C9A-4F66-A0E0-846DA4FCB810}" type="parTrans" cxnId="{A950FC7F-8BA8-400C-97D5-B6D93DCF196E}">
      <dgm:prSet/>
      <dgm:spPr/>
      <dgm:t>
        <a:bodyPr/>
        <a:lstStyle/>
        <a:p>
          <a:endParaRPr lang="en-US" sz="1100">
            <a:solidFill>
              <a:schemeClr val="bg2"/>
            </a:solidFill>
          </a:endParaRPr>
        </a:p>
      </dgm:t>
    </dgm:pt>
    <dgm:pt modelId="{F269C9B3-DADE-4532-A9A5-183682AEBB2E}" type="sibTrans" cxnId="{A950FC7F-8BA8-400C-97D5-B6D93DCF196E}">
      <dgm:prSet/>
      <dgm:spPr/>
      <dgm:t>
        <a:bodyPr/>
        <a:lstStyle/>
        <a:p>
          <a:endParaRPr lang="en-US" sz="1100">
            <a:solidFill>
              <a:schemeClr val="bg2"/>
            </a:solidFill>
          </a:endParaRPr>
        </a:p>
      </dgm:t>
    </dgm:pt>
    <dgm:pt modelId="{3718FA8D-655A-470F-A651-582928A26464}">
      <dgm:prSet phldrT="[Text]" custT="1"/>
      <dgm:spPr/>
      <dgm:t>
        <a:bodyPr/>
        <a:lstStyle/>
        <a:p>
          <a:r>
            <a:rPr lang="en-US" sz="1800">
              <a:solidFill>
                <a:schemeClr val="bg2"/>
              </a:solidFill>
              <a:latin typeface="Arial" panose="020B0604020202020204" pitchFamily="34" charset="0"/>
              <a:cs typeface="Arial" panose="020B0604020202020204" pitchFamily="34" charset="0"/>
            </a:rPr>
            <a:t>Text</a:t>
          </a:r>
          <a:endParaRPr lang="en-US" sz="1800" dirty="0">
            <a:solidFill>
              <a:schemeClr val="bg2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741AB332-4D6D-4DBA-A639-1684A2823574}" type="parTrans" cxnId="{462817A9-FF7B-4621-B5A1-34F1A2060E69}">
      <dgm:prSet/>
      <dgm:spPr/>
      <dgm:t>
        <a:bodyPr/>
        <a:lstStyle/>
        <a:p>
          <a:endParaRPr lang="en-US" sz="1100">
            <a:solidFill>
              <a:schemeClr val="bg2"/>
            </a:solidFill>
          </a:endParaRPr>
        </a:p>
      </dgm:t>
    </dgm:pt>
    <dgm:pt modelId="{B78722E8-78C9-40D3-A042-7B2F684F8901}" type="sibTrans" cxnId="{462817A9-FF7B-4621-B5A1-34F1A2060E69}">
      <dgm:prSet/>
      <dgm:spPr/>
      <dgm:t>
        <a:bodyPr/>
        <a:lstStyle/>
        <a:p>
          <a:endParaRPr lang="en-US" sz="1100">
            <a:solidFill>
              <a:schemeClr val="bg2"/>
            </a:solidFill>
          </a:endParaRPr>
        </a:p>
      </dgm:t>
    </dgm:pt>
    <dgm:pt modelId="{7C42374D-48C6-4435-8C6C-873B2F199689}">
      <dgm:prSet phldrT="[Text]" custT="1"/>
      <dgm:spPr/>
      <dgm:t>
        <a:bodyPr/>
        <a:lstStyle/>
        <a:p>
          <a:r>
            <a:rPr lang="en-US" sz="1800">
              <a:solidFill>
                <a:schemeClr val="bg2"/>
              </a:solidFill>
              <a:latin typeface="Arial" panose="020B0604020202020204" pitchFamily="34" charset="0"/>
              <a:cs typeface="Arial" panose="020B0604020202020204" pitchFamily="34" charset="0"/>
            </a:rPr>
            <a:t>Text</a:t>
          </a:r>
          <a:endParaRPr lang="en-US" sz="1800" dirty="0">
            <a:solidFill>
              <a:schemeClr val="bg2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05611381-15F9-420C-89DA-55DE034F7686}" type="parTrans" cxnId="{E3A83139-5B4B-48EC-87AA-D4F2B18EF789}">
      <dgm:prSet/>
      <dgm:spPr/>
      <dgm:t>
        <a:bodyPr/>
        <a:lstStyle/>
        <a:p>
          <a:endParaRPr lang="en-US" sz="1100">
            <a:solidFill>
              <a:schemeClr val="bg2"/>
            </a:solidFill>
          </a:endParaRPr>
        </a:p>
      </dgm:t>
    </dgm:pt>
    <dgm:pt modelId="{40527823-7D06-4EAF-AC95-BDF805D7B303}" type="sibTrans" cxnId="{E3A83139-5B4B-48EC-87AA-D4F2B18EF789}">
      <dgm:prSet/>
      <dgm:spPr/>
      <dgm:t>
        <a:bodyPr/>
        <a:lstStyle/>
        <a:p>
          <a:endParaRPr lang="en-US" sz="1100">
            <a:solidFill>
              <a:schemeClr val="bg2"/>
            </a:solidFill>
          </a:endParaRPr>
        </a:p>
      </dgm:t>
    </dgm:pt>
    <dgm:pt modelId="{DFD2C1AA-1C74-48DB-9346-7D265B095E03}" type="pres">
      <dgm:prSet presAssocID="{4D42449B-4F84-40F7-8098-3CA78FA438CA}" presName="Name0" presStyleCnt="0">
        <dgm:presLayoutVars>
          <dgm:dir/>
          <dgm:resizeHandles val="exact"/>
        </dgm:presLayoutVars>
      </dgm:prSet>
      <dgm:spPr/>
    </dgm:pt>
    <dgm:pt modelId="{C8EFD422-48D0-4A27-9649-4491A4A94ED1}" type="pres">
      <dgm:prSet presAssocID="{BE38D935-83FB-475B-9E59-436DDAEE5351}" presName="parTxOnly" presStyleLbl="node1" presStyleIdx="0" presStyleCnt="7" custLinFactNeighborX="1405">
        <dgm:presLayoutVars>
          <dgm:bulletEnabled val="1"/>
        </dgm:presLayoutVars>
      </dgm:prSet>
      <dgm:spPr/>
    </dgm:pt>
    <dgm:pt modelId="{EABA94D8-9948-4A2C-8600-8A9B6CEAB7C0}" type="pres">
      <dgm:prSet presAssocID="{41240ADF-379C-470E-A737-2909691A8FAE}" presName="parSpace" presStyleCnt="0"/>
      <dgm:spPr/>
    </dgm:pt>
    <dgm:pt modelId="{9CB6A14C-72B6-4B02-8C85-24688AC0FD7C}" type="pres">
      <dgm:prSet presAssocID="{68151B12-09DA-4575-8EA9-9290D63CCD39}" presName="parTxOnly" presStyleLbl="node1" presStyleIdx="1" presStyleCnt="7">
        <dgm:presLayoutVars>
          <dgm:bulletEnabled val="1"/>
        </dgm:presLayoutVars>
      </dgm:prSet>
      <dgm:spPr/>
    </dgm:pt>
    <dgm:pt modelId="{BEB19125-1B94-4532-8CA8-79D4CB5E8D90}" type="pres">
      <dgm:prSet presAssocID="{D0B644B0-CC09-4084-880F-919D3F740231}" presName="parSpace" presStyleCnt="0"/>
      <dgm:spPr/>
    </dgm:pt>
    <dgm:pt modelId="{D650B19A-4B83-4DE6-A432-F4197A133F5E}" type="pres">
      <dgm:prSet presAssocID="{98DD6828-C670-4D06-8257-A3BEACCD5710}" presName="parTxOnly" presStyleLbl="node1" presStyleIdx="2" presStyleCnt="7">
        <dgm:presLayoutVars>
          <dgm:bulletEnabled val="1"/>
        </dgm:presLayoutVars>
      </dgm:prSet>
      <dgm:spPr/>
    </dgm:pt>
    <dgm:pt modelId="{2A618229-ABA3-4C0D-B49F-7EE112E11227}" type="pres">
      <dgm:prSet presAssocID="{8A70C966-FE42-4934-ACDD-DEF2BBBB6091}" presName="parSpace" presStyleCnt="0"/>
      <dgm:spPr/>
    </dgm:pt>
    <dgm:pt modelId="{1662ECF9-987A-4F98-BCCA-682CFDA5FC84}" type="pres">
      <dgm:prSet presAssocID="{81B4962C-2431-4713-9305-B9DE150DAA51}" presName="parTxOnly" presStyleLbl="node1" presStyleIdx="3" presStyleCnt="7">
        <dgm:presLayoutVars>
          <dgm:bulletEnabled val="1"/>
        </dgm:presLayoutVars>
      </dgm:prSet>
      <dgm:spPr/>
    </dgm:pt>
    <dgm:pt modelId="{277BD331-922B-4E66-AB9E-EC19873A148E}" type="pres">
      <dgm:prSet presAssocID="{27F2B075-6938-4C02-9DC4-118B1A52AB23}" presName="parSpace" presStyleCnt="0"/>
      <dgm:spPr/>
    </dgm:pt>
    <dgm:pt modelId="{841A0C70-4D5F-4D22-83F0-7E34AF5D4A94}" type="pres">
      <dgm:prSet presAssocID="{8793D675-5AFD-4EE9-8A8E-FAD82A4CEF29}" presName="parTxOnly" presStyleLbl="node1" presStyleIdx="4" presStyleCnt="7">
        <dgm:presLayoutVars>
          <dgm:bulletEnabled val="1"/>
        </dgm:presLayoutVars>
      </dgm:prSet>
      <dgm:spPr/>
    </dgm:pt>
    <dgm:pt modelId="{3AA89695-B992-421F-AEE8-777DA1E17A76}" type="pres">
      <dgm:prSet presAssocID="{F269C9B3-DADE-4532-A9A5-183682AEBB2E}" presName="parSpace" presStyleCnt="0"/>
      <dgm:spPr/>
    </dgm:pt>
    <dgm:pt modelId="{6A3E026B-ADB1-41F3-9767-6A0BC2F6B872}" type="pres">
      <dgm:prSet presAssocID="{3718FA8D-655A-470F-A651-582928A26464}" presName="parTxOnly" presStyleLbl="node1" presStyleIdx="5" presStyleCnt="7">
        <dgm:presLayoutVars>
          <dgm:bulletEnabled val="1"/>
        </dgm:presLayoutVars>
      </dgm:prSet>
      <dgm:spPr/>
    </dgm:pt>
    <dgm:pt modelId="{80404E36-B54C-454E-92E5-BA99525856B0}" type="pres">
      <dgm:prSet presAssocID="{B78722E8-78C9-40D3-A042-7B2F684F8901}" presName="parSpace" presStyleCnt="0"/>
      <dgm:spPr/>
    </dgm:pt>
    <dgm:pt modelId="{EF72D2B0-B009-447D-8880-4B05F3B5EBE1}" type="pres">
      <dgm:prSet presAssocID="{7C42374D-48C6-4435-8C6C-873B2F199689}" presName="parTxOnly" presStyleLbl="node1" presStyleIdx="6" presStyleCnt="7">
        <dgm:presLayoutVars>
          <dgm:bulletEnabled val="1"/>
        </dgm:presLayoutVars>
      </dgm:prSet>
      <dgm:spPr/>
    </dgm:pt>
  </dgm:ptLst>
  <dgm:cxnLst>
    <dgm:cxn modelId="{07671218-2D14-473B-B656-41F2F12CF53D}" type="presOf" srcId="{7C42374D-48C6-4435-8C6C-873B2F199689}" destId="{EF72D2B0-B009-447D-8880-4B05F3B5EBE1}" srcOrd="0" destOrd="0" presId="urn:microsoft.com/office/officeart/2005/8/layout/hChevron3"/>
    <dgm:cxn modelId="{D23B9B20-D91B-4E28-9679-9D6C060484C7}" type="presOf" srcId="{BE38D935-83FB-475B-9E59-436DDAEE5351}" destId="{C8EFD422-48D0-4A27-9649-4491A4A94ED1}" srcOrd="0" destOrd="0" presId="urn:microsoft.com/office/officeart/2005/8/layout/hChevron3"/>
    <dgm:cxn modelId="{6E279635-6F31-4E2F-AF39-5B734FEAB8FA}" type="presOf" srcId="{98DD6828-C670-4D06-8257-A3BEACCD5710}" destId="{D650B19A-4B83-4DE6-A432-F4197A133F5E}" srcOrd="0" destOrd="0" presId="urn:microsoft.com/office/officeart/2005/8/layout/hChevron3"/>
    <dgm:cxn modelId="{E3A83139-5B4B-48EC-87AA-D4F2B18EF789}" srcId="{4D42449B-4F84-40F7-8098-3CA78FA438CA}" destId="{7C42374D-48C6-4435-8C6C-873B2F199689}" srcOrd="6" destOrd="0" parTransId="{05611381-15F9-420C-89DA-55DE034F7686}" sibTransId="{40527823-7D06-4EAF-AC95-BDF805D7B303}"/>
    <dgm:cxn modelId="{18ED8763-2178-4370-ADED-81F005B79410}" srcId="{4D42449B-4F84-40F7-8098-3CA78FA438CA}" destId="{98DD6828-C670-4D06-8257-A3BEACCD5710}" srcOrd="2" destOrd="0" parTransId="{0EF561FB-E382-4ADD-BFD1-CDBE2FFF02D3}" sibTransId="{8A70C966-FE42-4934-ACDD-DEF2BBBB6091}"/>
    <dgm:cxn modelId="{89778E7D-1036-48CF-8A23-9F627F9DD345}" type="presOf" srcId="{8793D675-5AFD-4EE9-8A8E-FAD82A4CEF29}" destId="{841A0C70-4D5F-4D22-83F0-7E34AF5D4A94}" srcOrd="0" destOrd="0" presId="urn:microsoft.com/office/officeart/2005/8/layout/hChevron3"/>
    <dgm:cxn modelId="{A950FC7F-8BA8-400C-97D5-B6D93DCF196E}" srcId="{4D42449B-4F84-40F7-8098-3CA78FA438CA}" destId="{8793D675-5AFD-4EE9-8A8E-FAD82A4CEF29}" srcOrd="4" destOrd="0" parTransId="{361A7653-8C9A-4F66-A0E0-846DA4FCB810}" sibTransId="{F269C9B3-DADE-4532-A9A5-183682AEBB2E}"/>
    <dgm:cxn modelId="{3E4CA29A-CBB8-4E1A-8376-E0AFB6D6AFC8}" srcId="{4D42449B-4F84-40F7-8098-3CA78FA438CA}" destId="{68151B12-09DA-4575-8EA9-9290D63CCD39}" srcOrd="1" destOrd="0" parTransId="{7E70A639-70D6-4C1C-9216-FEF0E1390BE9}" sibTransId="{D0B644B0-CC09-4084-880F-919D3F740231}"/>
    <dgm:cxn modelId="{462817A9-FF7B-4621-B5A1-34F1A2060E69}" srcId="{4D42449B-4F84-40F7-8098-3CA78FA438CA}" destId="{3718FA8D-655A-470F-A651-582928A26464}" srcOrd="5" destOrd="0" parTransId="{741AB332-4D6D-4DBA-A639-1684A2823574}" sibTransId="{B78722E8-78C9-40D3-A042-7B2F684F8901}"/>
    <dgm:cxn modelId="{F266D3AD-B66E-4760-9FE6-FB0A474A8413}" srcId="{4D42449B-4F84-40F7-8098-3CA78FA438CA}" destId="{BE38D935-83FB-475B-9E59-436DDAEE5351}" srcOrd="0" destOrd="0" parTransId="{97BB7B28-61C4-43D9-B142-9DB91458198D}" sibTransId="{41240ADF-379C-470E-A737-2909691A8FAE}"/>
    <dgm:cxn modelId="{CCDDA2C6-5E2A-4926-9D38-8CD6168F4B9B}" type="presOf" srcId="{4D42449B-4F84-40F7-8098-3CA78FA438CA}" destId="{DFD2C1AA-1C74-48DB-9346-7D265B095E03}" srcOrd="0" destOrd="0" presId="urn:microsoft.com/office/officeart/2005/8/layout/hChevron3"/>
    <dgm:cxn modelId="{4B9BD7DE-F7FD-4B82-9561-7EC59F45C468}" type="presOf" srcId="{3718FA8D-655A-470F-A651-582928A26464}" destId="{6A3E026B-ADB1-41F3-9767-6A0BC2F6B872}" srcOrd="0" destOrd="0" presId="urn:microsoft.com/office/officeart/2005/8/layout/hChevron3"/>
    <dgm:cxn modelId="{CFF151EE-D289-4D1C-B192-2E33A61779E9}" srcId="{4D42449B-4F84-40F7-8098-3CA78FA438CA}" destId="{81B4962C-2431-4713-9305-B9DE150DAA51}" srcOrd="3" destOrd="0" parTransId="{5D23CB3D-2DC3-4BCF-B110-7044D19F5070}" sibTransId="{27F2B075-6938-4C02-9DC4-118B1A52AB23}"/>
    <dgm:cxn modelId="{EA0A33F0-1F35-436B-8C27-A3EE372F302C}" type="presOf" srcId="{81B4962C-2431-4713-9305-B9DE150DAA51}" destId="{1662ECF9-987A-4F98-BCCA-682CFDA5FC84}" srcOrd="0" destOrd="0" presId="urn:microsoft.com/office/officeart/2005/8/layout/hChevron3"/>
    <dgm:cxn modelId="{C1BD74F5-CB05-4765-B033-13076BB9F102}" type="presOf" srcId="{68151B12-09DA-4575-8EA9-9290D63CCD39}" destId="{9CB6A14C-72B6-4B02-8C85-24688AC0FD7C}" srcOrd="0" destOrd="0" presId="urn:microsoft.com/office/officeart/2005/8/layout/hChevron3"/>
    <dgm:cxn modelId="{160017F6-76AD-4E8C-AFB0-C43889133E5B}" type="presParOf" srcId="{DFD2C1AA-1C74-48DB-9346-7D265B095E03}" destId="{C8EFD422-48D0-4A27-9649-4491A4A94ED1}" srcOrd="0" destOrd="0" presId="urn:microsoft.com/office/officeart/2005/8/layout/hChevron3"/>
    <dgm:cxn modelId="{2E3ECD05-E903-446B-8706-F4F524E50AE9}" type="presParOf" srcId="{DFD2C1AA-1C74-48DB-9346-7D265B095E03}" destId="{EABA94D8-9948-4A2C-8600-8A9B6CEAB7C0}" srcOrd="1" destOrd="0" presId="urn:microsoft.com/office/officeart/2005/8/layout/hChevron3"/>
    <dgm:cxn modelId="{F7518FA6-C5B6-42E9-A6E5-6B84F92C1C0A}" type="presParOf" srcId="{DFD2C1AA-1C74-48DB-9346-7D265B095E03}" destId="{9CB6A14C-72B6-4B02-8C85-24688AC0FD7C}" srcOrd="2" destOrd="0" presId="urn:microsoft.com/office/officeart/2005/8/layout/hChevron3"/>
    <dgm:cxn modelId="{2307CD29-2674-42A4-858C-03FA3B19C200}" type="presParOf" srcId="{DFD2C1AA-1C74-48DB-9346-7D265B095E03}" destId="{BEB19125-1B94-4532-8CA8-79D4CB5E8D90}" srcOrd="3" destOrd="0" presId="urn:microsoft.com/office/officeart/2005/8/layout/hChevron3"/>
    <dgm:cxn modelId="{7B0EEE59-65BC-4DE5-A11A-D6C1CCB2699A}" type="presParOf" srcId="{DFD2C1AA-1C74-48DB-9346-7D265B095E03}" destId="{D650B19A-4B83-4DE6-A432-F4197A133F5E}" srcOrd="4" destOrd="0" presId="urn:microsoft.com/office/officeart/2005/8/layout/hChevron3"/>
    <dgm:cxn modelId="{4AF407BF-8CFC-41DD-9DCB-EF2E6D226C02}" type="presParOf" srcId="{DFD2C1AA-1C74-48DB-9346-7D265B095E03}" destId="{2A618229-ABA3-4C0D-B49F-7EE112E11227}" srcOrd="5" destOrd="0" presId="urn:microsoft.com/office/officeart/2005/8/layout/hChevron3"/>
    <dgm:cxn modelId="{382151B8-B879-4860-8332-47732039C7F6}" type="presParOf" srcId="{DFD2C1AA-1C74-48DB-9346-7D265B095E03}" destId="{1662ECF9-987A-4F98-BCCA-682CFDA5FC84}" srcOrd="6" destOrd="0" presId="urn:microsoft.com/office/officeart/2005/8/layout/hChevron3"/>
    <dgm:cxn modelId="{4053E1B3-BAFB-475A-8371-8F7AC98A647D}" type="presParOf" srcId="{DFD2C1AA-1C74-48DB-9346-7D265B095E03}" destId="{277BD331-922B-4E66-AB9E-EC19873A148E}" srcOrd="7" destOrd="0" presId="urn:microsoft.com/office/officeart/2005/8/layout/hChevron3"/>
    <dgm:cxn modelId="{E1B4CD43-3200-4CA6-A8E3-DA23F2662DAA}" type="presParOf" srcId="{DFD2C1AA-1C74-48DB-9346-7D265B095E03}" destId="{841A0C70-4D5F-4D22-83F0-7E34AF5D4A94}" srcOrd="8" destOrd="0" presId="urn:microsoft.com/office/officeart/2005/8/layout/hChevron3"/>
    <dgm:cxn modelId="{5EF86B8C-C555-465F-A7FB-337425D9271A}" type="presParOf" srcId="{DFD2C1AA-1C74-48DB-9346-7D265B095E03}" destId="{3AA89695-B992-421F-AEE8-777DA1E17A76}" srcOrd="9" destOrd="0" presId="urn:microsoft.com/office/officeart/2005/8/layout/hChevron3"/>
    <dgm:cxn modelId="{6201B8DB-F35F-4EB9-865E-D82A2533062D}" type="presParOf" srcId="{DFD2C1AA-1C74-48DB-9346-7D265B095E03}" destId="{6A3E026B-ADB1-41F3-9767-6A0BC2F6B872}" srcOrd="10" destOrd="0" presId="urn:microsoft.com/office/officeart/2005/8/layout/hChevron3"/>
    <dgm:cxn modelId="{F3992534-2C0D-469C-A3BD-5202DE9C1367}" type="presParOf" srcId="{DFD2C1AA-1C74-48DB-9346-7D265B095E03}" destId="{80404E36-B54C-454E-92E5-BA99525856B0}" srcOrd="11" destOrd="0" presId="urn:microsoft.com/office/officeart/2005/8/layout/hChevron3"/>
    <dgm:cxn modelId="{C095C27C-51E3-4095-A1AA-053014685771}" type="presParOf" srcId="{DFD2C1AA-1C74-48DB-9346-7D265B095E03}" destId="{EF72D2B0-B009-447D-8880-4B05F3B5EBE1}" srcOrd="12" destOrd="0" presId="urn:microsoft.com/office/officeart/2005/8/layout/hChevron3"/>
  </dgm:cxnLst>
  <dgm:bg/>
  <dgm:whole>
    <a:ln>
      <a:noFill/>
    </a:ln>
  </dgm:whole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8EFD422-48D0-4A27-9649-4491A4A94ED1}">
      <dsp:nvSpPr>
        <dsp:cNvPr id="0" name=""/>
        <dsp:cNvSpPr/>
      </dsp:nvSpPr>
      <dsp:spPr>
        <a:xfrm>
          <a:off x="4975" y="1366328"/>
          <a:ext cx="1359377" cy="543750"/>
        </a:xfrm>
        <a:prstGeom prst="homePlat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6012" tIns="48006" rIns="24003" bIns="4800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>
              <a:solidFill>
                <a:schemeClr val="bg2"/>
              </a:solidFill>
              <a:latin typeface="Arial" panose="020B0604020202020204" pitchFamily="34" charset="0"/>
              <a:cs typeface="Arial" panose="020B0604020202020204" pitchFamily="34" charset="0"/>
            </a:rPr>
            <a:t>Text</a:t>
          </a:r>
          <a:endParaRPr lang="en-US" sz="1800" kern="1200" dirty="0">
            <a:solidFill>
              <a:schemeClr val="bg2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4975" y="1366328"/>
        <a:ext cx="1223440" cy="543750"/>
      </dsp:txXfrm>
    </dsp:sp>
    <dsp:sp modelId="{9CB6A14C-72B6-4B02-8C85-24688AC0FD7C}">
      <dsp:nvSpPr>
        <dsp:cNvPr id="0" name=""/>
        <dsp:cNvSpPr/>
      </dsp:nvSpPr>
      <dsp:spPr>
        <a:xfrm>
          <a:off x="1088657" y="1366328"/>
          <a:ext cx="1359377" cy="543750"/>
        </a:xfrm>
        <a:prstGeom prst="chevron">
          <a:avLst/>
        </a:prstGeom>
        <a:solidFill>
          <a:schemeClr val="accent2">
            <a:hueOff val="393608"/>
            <a:satOff val="-667"/>
            <a:lumOff val="-297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48006" rIns="24003" bIns="4800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>
              <a:solidFill>
                <a:schemeClr val="bg2"/>
              </a:solidFill>
              <a:latin typeface="Arial" panose="020B0604020202020204" pitchFamily="34" charset="0"/>
              <a:cs typeface="Arial" panose="020B0604020202020204" pitchFamily="34" charset="0"/>
            </a:rPr>
            <a:t>Text</a:t>
          </a:r>
          <a:endParaRPr lang="en-US" sz="1800" kern="1200" dirty="0">
            <a:solidFill>
              <a:schemeClr val="bg2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1360532" y="1366328"/>
        <a:ext cx="815627" cy="543750"/>
      </dsp:txXfrm>
    </dsp:sp>
    <dsp:sp modelId="{D650B19A-4B83-4DE6-A432-F4197A133F5E}">
      <dsp:nvSpPr>
        <dsp:cNvPr id="0" name=""/>
        <dsp:cNvSpPr/>
      </dsp:nvSpPr>
      <dsp:spPr>
        <a:xfrm>
          <a:off x="2176158" y="1366328"/>
          <a:ext cx="1359377" cy="543750"/>
        </a:xfrm>
        <a:prstGeom prst="chevron">
          <a:avLst/>
        </a:prstGeom>
        <a:solidFill>
          <a:schemeClr val="accent2">
            <a:hueOff val="787217"/>
            <a:satOff val="-1335"/>
            <a:lumOff val="-594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48006" rIns="24003" bIns="4800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>
              <a:solidFill>
                <a:schemeClr val="bg2"/>
              </a:solidFill>
              <a:latin typeface="Arial" panose="020B0604020202020204" pitchFamily="34" charset="0"/>
              <a:cs typeface="Arial" panose="020B0604020202020204" pitchFamily="34" charset="0"/>
            </a:rPr>
            <a:t>Text</a:t>
          </a:r>
          <a:endParaRPr lang="en-US" sz="1800" kern="1200" dirty="0">
            <a:solidFill>
              <a:schemeClr val="bg2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2448033" y="1366328"/>
        <a:ext cx="815627" cy="543750"/>
      </dsp:txXfrm>
    </dsp:sp>
    <dsp:sp modelId="{1662ECF9-987A-4F98-BCCA-682CFDA5FC84}">
      <dsp:nvSpPr>
        <dsp:cNvPr id="0" name=""/>
        <dsp:cNvSpPr/>
      </dsp:nvSpPr>
      <dsp:spPr>
        <a:xfrm>
          <a:off x="3263660" y="1366328"/>
          <a:ext cx="1359377" cy="543750"/>
        </a:xfrm>
        <a:prstGeom prst="chevron">
          <a:avLst/>
        </a:prstGeom>
        <a:solidFill>
          <a:schemeClr val="accent2">
            <a:hueOff val="1180825"/>
            <a:satOff val="-2002"/>
            <a:lumOff val="-8922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48006" rIns="24003" bIns="4800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>
              <a:solidFill>
                <a:schemeClr val="bg2"/>
              </a:solidFill>
              <a:latin typeface="Arial" panose="020B0604020202020204" pitchFamily="34" charset="0"/>
              <a:cs typeface="Arial" panose="020B0604020202020204" pitchFamily="34" charset="0"/>
            </a:rPr>
            <a:t>Text</a:t>
          </a:r>
          <a:endParaRPr lang="en-US" sz="1800" kern="1200" dirty="0">
            <a:solidFill>
              <a:schemeClr val="bg2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3535535" y="1366328"/>
        <a:ext cx="815627" cy="543750"/>
      </dsp:txXfrm>
    </dsp:sp>
    <dsp:sp modelId="{841A0C70-4D5F-4D22-83F0-7E34AF5D4A94}">
      <dsp:nvSpPr>
        <dsp:cNvPr id="0" name=""/>
        <dsp:cNvSpPr/>
      </dsp:nvSpPr>
      <dsp:spPr>
        <a:xfrm>
          <a:off x="4351162" y="1366328"/>
          <a:ext cx="1359377" cy="543750"/>
        </a:xfrm>
        <a:prstGeom prst="chevron">
          <a:avLst/>
        </a:prstGeom>
        <a:solidFill>
          <a:schemeClr val="accent2">
            <a:hueOff val="1574433"/>
            <a:satOff val="-2669"/>
            <a:lumOff val="-11897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48006" rIns="24003" bIns="4800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>
              <a:solidFill>
                <a:schemeClr val="bg2"/>
              </a:solidFill>
              <a:latin typeface="Arial" panose="020B0604020202020204" pitchFamily="34" charset="0"/>
              <a:cs typeface="Arial" panose="020B0604020202020204" pitchFamily="34" charset="0"/>
            </a:rPr>
            <a:t>Text</a:t>
          </a:r>
          <a:endParaRPr lang="en-US" sz="1800" kern="1200" dirty="0">
            <a:solidFill>
              <a:schemeClr val="bg2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4623037" y="1366328"/>
        <a:ext cx="815627" cy="543750"/>
      </dsp:txXfrm>
    </dsp:sp>
    <dsp:sp modelId="{6A3E026B-ADB1-41F3-9767-6A0BC2F6B872}">
      <dsp:nvSpPr>
        <dsp:cNvPr id="0" name=""/>
        <dsp:cNvSpPr/>
      </dsp:nvSpPr>
      <dsp:spPr>
        <a:xfrm>
          <a:off x="5438664" y="1366328"/>
          <a:ext cx="1359377" cy="543750"/>
        </a:xfrm>
        <a:prstGeom prst="chevron">
          <a:avLst/>
        </a:prstGeom>
        <a:solidFill>
          <a:schemeClr val="accent2">
            <a:hueOff val="1968041"/>
            <a:satOff val="-3337"/>
            <a:lumOff val="-14871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48006" rIns="24003" bIns="4800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>
              <a:solidFill>
                <a:schemeClr val="bg2"/>
              </a:solidFill>
              <a:latin typeface="Arial" panose="020B0604020202020204" pitchFamily="34" charset="0"/>
              <a:cs typeface="Arial" panose="020B0604020202020204" pitchFamily="34" charset="0"/>
            </a:rPr>
            <a:t>Text</a:t>
          </a:r>
          <a:endParaRPr lang="en-US" sz="1800" kern="1200" dirty="0">
            <a:solidFill>
              <a:schemeClr val="bg2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5710539" y="1366328"/>
        <a:ext cx="815627" cy="543750"/>
      </dsp:txXfrm>
    </dsp:sp>
    <dsp:sp modelId="{EF72D2B0-B009-447D-8880-4B05F3B5EBE1}">
      <dsp:nvSpPr>
        <dsp:cNvPr id="0" name=""/>
        <dsp:cNvSpPr/>
      </dsp:nvSpPr>
      <dsp:spPr>
        <a:xfrm>
          <a:off x="6526166" y="1366328"/>
          <a:ext cx="1359377" cy="543750"/>
        </a:xfrm>
        <a:prstGeom prst="chevron">
          <a:avLst/>
        </a:prstGeom>
        <a:solidFill>
          <a:schemeClr val="accent2">
            <a:hueOff val="2361649"/>
            <a:satOff val="-4004"/>
            <a:lumOff val="-1784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48006" rIns="24003" bIns="4800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>
              <a:solidFill>
                <a:schemeClr val="bg2"/>
              </a:solidFill>
              <a:latin typeface="Arial" panose="020B0604020202020204" pitchFamily="34" charset="0"/>
              <a:cs typeface="Arial" panose="020B0604020202020204" pitchFamily="34" charset="0"/>
            </a:rPr>
            <a:t>Text</a:t>
          </a:r>
          <a:endParaRPr lang="en-US" sz="1800" kern="1200" dirty="0">
            <a:solidFill>
              <a:schemeClr val="bg2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6798041" y="1366328"/>
        <a:ext cx="815627" cy="54375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43889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2cb7789cb2f_0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7" name="Google Shape;57;g2cb7789cb2f_0_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" name="Google Shape;64;p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2" name="Google Shape;72;p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14203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7" name="Google Shape;87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191219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7" name="Google Shape;87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7870869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2bd79b9a629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1" name="Google Shape;131;g2bd79b9a629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150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8681699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>
          <a:extLst>
            <a:ext uri="{FF2B5EF4-FFF2-40B4-BE49-F238E27FC236}">
              <a16:creationId xmlns:a16="http://schemas.microsoft.com/office/drawing/2014/main" id="{EB6F1F63-6E51-B0AB-A3A1-7B5CE12B3E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2bd79b9a629_1_0:notes">
            <a:extLst>
              <a:ext uri="{FF2B5EF4-FFF2-40B4-BE49-F238E27FC236}">
                <a16:creationId xmlns:a16="http://schemas.microsoft.com/office/drawing/2014/main" id="{5F1AB945-9DC7-F36A-3712-AB468EB33A3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1" name="Google Shape;131;g2bd79b9a629_1_0:notes">
            <a:extLst>
              <a:ext uri="{FF2B5EF4-FFF2-40B4-BE49-F238E27FC236}">
                <a16:creationId xmlns:a16="http://schemas.microsoft.com/office/drawing/2014/main" id="{49B0028A-0626-5B72-7864-4227571D71D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150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6944006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8" name="Google Shape;138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2010121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8" name="Google Shape;138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1839779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2bd79b9a629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3" name="Google Shape;163;g2bd79b9a629_1_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3042155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0" name="Google Shape;170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7629155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717369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286619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4" name="Google Shape;124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0640737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7" name="Google Shape;87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2912840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7" name="Google Shape;87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1723063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7" name="Google Shape;11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320119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>
          <a:extLst>
            <a:ext uri="{FF2B5EF4-FFF2-40B4-BE49-F238E27FC236}">
              <a16:creationId xmlns:a16="http://schemas.microsoft.com/office/drawing/2014/main" id="{10A909C7-C836-C390-13D8-BE62E151D0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2:notes">
            <a:extLst>
              <a:ext uri="{FF2B5EF4-FFF2-40B4-BE49-F238E27FC236}">
                <a16:creationId xmlns:a16="http://schemas.microsoft.com/office/drawing/2014/main" id="{E24A3C53-7338-82A7-68D8-36B3BFBD0D0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4" name="Google Shape;124;p12:notes">
            <a:extLst>
              <a:ext uri="{FF2B5EF4-FFF2-40B4-BE49-F238E27FC236}">
                <a16:creationId xmlns:a16="http://schemas.microsoft.com/office/drawing/2014/main" id="{0D38BC87-533D-49F0-6B27-04D51EEF571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2353018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7" name="Google Shape;87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8939159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7" name="Google Shape;11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6030077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7" name="Google Shape;87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3029030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445272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013756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2bd1100ac18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1" name="Google Shape;231;g2bd1100ac18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0171654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>
          <a:extLst>
            <a:ext uri="{FF2B5EF4-FFF2-40B4-BE49-F238E27FC236}">
              <a16:creationId xmlns:a16="http://schemas.microsoft.com/office/drawing/2014/main" id="{BE90B601-77D8-F504-145C-AE8C0D44DD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2bd1100ac18_0_11:notes">
            <a:extLst>
              <a:ext uri="{FF2B5EF4-FFF2-40B4-BE49-F238E27FC236}">
                <a16:creationId xmlns:a16="http://schemas.microsoft.com/office/drawing/2014/main" id="{251EFDBB-A82C-D7DB-DC36-4320F76EAFF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1" name="Google Shape;231;g2bd1100ac18_0_11:notes">
            <a:extLst>
              <a:ext uri="{FF2B5EF4-FFF2-40B4-BE49-F238E27FC236}">
                <a16:creationId xmlns:a16="http://schemas.microsoft.com/office/drawing/2014/main" id="{2C8585BA-BEDB-648D-ED2B-77D5759A192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1847852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253816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2bd1100ac18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1" name="Google Shape;231;g2bd1100ac18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8418998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963338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727075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2bd1100ac18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1" name="Google Shape;231;g2bd1100ac18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8" name="Google Shape;238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8" name="Google Shape;238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02107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.png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8.png"/></Relationships>
</file>

<file path=ppt/slideLayouts/_rels/slideLayout20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1.xml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Relationship Id="rId9" Type="http://schemas.openxmlformats.org/officeDocument/2006/relationships/image" Target="../media/image1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.png"/><Relationship Id="rId4" Type="http://schemas.openxmlformats.org/officeDocument/2006/relationships/chart" Target="../charts/chart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.png"/><Relationship Id="rId5" Type="http://schemas.openxmlformats.org/officeDocument/2006/relationships/chart" Target="../charts/chart3.xml"/><Relationship Id="rId4" Type="http://schemas.openxmlformats.org/officeDocument/2006/relationships/chart" Target="../charts/chart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.png"/><Relationship Id="rId4" Type="http://schemas.openxmlformats.org/officeDocument/2006/relationships/chart" Target="../charts/chart4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.png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.png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.png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1C367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 dirty="0"/>
          </a:p>
        </p:txBody>
      </p:sp>
      <p:sp>
        <p:nvSpPr>
          <p:cNvPr id="17" name="Google Shape;17;p2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8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>
                <a:solidFill>
                  <a:srgbClr val="1C3678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2" name="Google Shape;22;p2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6" name="Google Shape;26;p4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1C367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2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>
                <a:solidFill>
                  <a:srgbClr val="1C3678"/>
                </a:solidFill>
              </a:defRPr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0" name="Google Shape;30;p29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>
                <a:solidFill>
                  <a:srgbClr val="1C3678"/>
                </a:solidFill>
              </a:defRPr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2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3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1C367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3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31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solidFill>
                  <a:srgbClr val="1C367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7" name="Google Shape;37;p31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8" name="Google Shape;38;p3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32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solidFill>
                  <a:srgbClr val="1C367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1" name="Google Shape;41;p3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33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33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>
                <a:solidFill>
                  <a:srgbClr val="1C3678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5" name="Google Shape;45;p33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>
                <a:solidFill>
                  <a:srgbClr val="1C3678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6" name="Google Shape;46;p33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solidFill>
                  <a:srgbClr val="1C3678"/>
                </a:solidFill>
              </a:defRPr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3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4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rgbClr val="1C3678"/>
                </a:solidFill>
              </a:defRPr>
            </a:lvl1pPr>
          </a:lstStyle>
          <a:p>
            <a:endParaRPr/>
          </a:p>
        </p:txBody>
      </p:sp>
      <p:sp>
        <p:nvSpPr>
          <p:cNvPr id="50" name="Google Shape;50;p3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5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3" name="Google Shape;53;p35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3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Presenta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new bgs v2-03.png" descr="new bgs v2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ln w="12700">
            <a:miter lim="400000"/>
          </a:ln>
        </p:spPr>
      </p:pic>
      <p:sp>
        <p:nvSpPr>
          <p:cNvPr id="26" name="Presentation Title"/>
          <p:cNvSpPr txBox="1">
            <a:spLocks noGrp="1"/>
          </p:cNvSpPr>
          <p:nvPr>
            <p:ph type="title" hasCustomPrompt="1"/>
          </p:nvPr>
        </p:nvSpPr>
        <p:spPr>
          <a:xfrm>
            <a:off x="452436" y="965622"/>
            <a:ext cx="8239127" cy="1743076"/>
          </a:xfrm>
          <a:prstGeom prst="rect">
            <a:avLst/>
          </a:prstGeom>
        </p:spPr>
        <p:txBody>
          <a:bodyPr anchor="b"/>
          <a:lstStyle>
            <a:lvl1pPr algn="ctr">
              <a:lnSpc>
                <a:spcPct val="80000"/>
              </a:lnSpc>
              <a:defRPr sz="4350" b="1" spc="-87">
                <a:latin typeface="Lato-Bold"/>
                <a:ea typeface="Lato-Bold"/>
                <a:cs typeface="Lato-Bold"/>
                <a:sym typeface="Lato-Bold"/>
              </a:defRPr>
            </a:lvl1pPr>
          </a:lstStyle>
          <a:p>
            <a:r>
              <a:t>Presentation Title</a:t>
            </a:r>
          </a:p>
        </p:txBody>
      </p:sp>
      <p:sp>
        <p:nvSpPr>
          <p:cNvPr id="27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450504" y="2708697"/>
            <a:ext cx="8239126" cy="714376"/>
          </a:xfrm>
          <a:prstGeom prst="rect">
            <a:avLst/>
          </a:prstGeom>
        </p:spPr>
        <p:txBody>
          <a:bodyPr/>
          <a:lstStyle>
            <a:lvl1pPr marL="0" indent="0" algn="ctr" defTabSz="309563">
              <a:spcBef>
                <a:spcPts val="0"/>
              </a:spcBef>
              <a:buSzTx/>
              <a:buNone/>
              <a:defRPr sz="2063">
                <a:solidFill>
                  <a:srgbClr val="FFFFFF"/>
                </a:solidFill>
              </a:defRPr>
            </a:lvl1pPr>
            <a:lvl2pPr marL="0" indent="171450" algn="ctr" defTabSz="309563">
              <a:spcBef>
                <a:spcPts val="0"/>
              </a:spcBef>
              <a:buSzTx/>
              <a:buNone/>
              <a:defRPr sz="2063">
                <a:solidFill>
                  <a:srgbClr val="FFFFFF"/>
                </a:solidFill>
              </a:defRPr>
            </a:lvl2pPr>
            <a:lvl3pPr marL="0" indent="342900" algn="ctr" defTabSz="309563">
              <a:spcBef>
                <a:spcPts val="0"/>
              </a:spcBef>
              <a:buSzTx/>
              <a:buNone/>
              <a:defRPr sz="2063">
                <a:solidFill>
                  <a:srgbClr val="FFFFFF"/>
                </a:solidFill>
              </a:defRPr>
            </a:lvl3pPr>
            <a:lvl4pPr marL="0" indent="514350" algn="ctr" defTabSz="309563">
              <a:spcBef>
                <a:spcPts val="0"/>
              </a:spcBef>
              <a:buSzTx/>
              <a:buNone/>
              <a:defRPr sz="2063">
                <a:solidFill>
                  <a:srgbClr val="FFFFFF"/>
                </a:solidFill>
              </a:defRPr>
            </a:lvl4pPr>
            <a:lvl5pPr marL="0" indent="685800" algn="ctr" defTabSz="309563">
              <a:spcBef>
                <a:spcPts val="0"/>
              </a:spcBef>
              <a:buSzTx/>
              <a:buNone/>
              <a:defRPr sz="2063">
                <a:solidFill>
                  <a:srgbClr val="FFFFFF"/>
                </a:solidFill>
              </a:defRPr>
            </a:lvl5pPr>
          </a:lstStyle>
          <a:p>
            <a:r>
              <a:t>Presentation Subtitle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pic>
        <p:nvPicPr>
          <p:cNvPr id="28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2542" y="341274"/>
            <a:ext cx="1622467" cy="423772"/>
          </a:xfrm>
          <a:prstGeom prst="rect">
            <a:avLst/>
          </a:prstGeom>
          <a:ln w="12700">
            <a:miter lim="400000"/>
          </a:ln>
        </p:spPr>
      </p:pic>
      <p:pic>
        <p:nvPicPr>
          <p:cNvPr id="29" name="Image" descr="Imag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9150" y="348321"/>
            <a:ext cx="2084043" cy="409678"/>
          </a:xfrm>
          <a:prstGeom prst="rect">
            <a:avLst/>
          </a:prstGeom>
          <a:ln w="12700">
            <a:miter lim="400000"/>
          </a:ln>
        </p:spPr>
      </p:pic>
      <p:sp>
        <p:nvSpPr>
          <p:cNvPr id="3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4465463" y="4839383"/>
            <a:ext cx="208391" cy="206467"/>
          </a:xfrm>
          <a:prstGeom prst="rect">
            <a:avLst/>
          </a:prstGeom>
        </p:spPr>
        <p:txBody>
          <a:bodyPr/>
          <a:lstStyle>
            <a:lvl1pPr algn="ctr">
              <a:defRPr sz="675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Helvetica Neue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6070807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Presentation 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new bgs v2-02.png" descr="new bgs v2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ln w="12700">
            <a:miter lim="400000"/>
          </a:ln>
        </p:spPr>
      </p:pic>
      <p:sp>
        <p:nvSpPr>
          <p:cNvPr id="14" name="Presentation Title"/>
          <p:cNvSpPr txBox="1">
            <a:spLocks noGrp="1"/>
          </p:cNvSpPr>
          <p:nvPr>
            <p:ph type="title" hasCustomPrompt="1"/>
          </p:nvPr>
        </p:nvSpPr>
        <p:spPr>
          <a:xfrm>
            <a:off x="452436" y="965622"/>
            <a:ext cx="8239127" cy="1743076"/>
          </a:xfrm>
          <a:prstGeom prst="rect">
            <a:avLst/>
          </a:prstGeom>
        </p:spPr>
        <p:txBody>
          <a:bodyPr anchor="b"/>
          <a:lstStyle>
            <a:lvl1pPr algn="ctr">
              <a:lnSpc>
                <a:spcPct val="80000"/>
              </a:lnSpc>
              <a:defRPr sz="4350" b="1" spc="-87">
                <a:latin typeface="Lato-Bold"/>
                <a:ea typeface="Lato-Bold"/>
                <a:cs typeface="Lato-Bold"/>
                <a:sym typeface="Lato-Bold"/>
              </a:defRPr>
            </a:lvl1pPr>
          </a:lstStyle>
          <a:p>
            <a:r>
              <a:t>Presentation Title</a:t>
            </a:r>
          </a:p>
        </p:txBody>
      </p:sp>
      <p:sp>
        <p:nvSpPr>
          <p:cNvPr id="15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450504" y="2708697"/>
            <a:ext cx="8239126" cy="714376"/>
          </a:xfrm>
          <a:prstGeom prst="rect">
            <a:avLst/>
          </a:prstGeom>
        </p:spPr>
        <p:txBody>
          <a:bodyPr/>
          <a:lstStyle>
            <a:lvl1pPr marL="0" indent="0" algn="ctr" defTabSz="309563">
              <a:spcBef>
                <a:spcPts val="0"/>
              </a:spcBef>
              <a:buSzTx/>
              <a:buNone/>
              <a:defRPr sz="2063">
                <a:solidFill>
                  <a:srgbClr val="FFFFFF"/>
                </a:solidFill>
              </a:defRPr>
            </a:lvl1pPr>
            <a:lvl2pPr marL="0" indent="171450" algn="ctr" defTabSz="309563">
              <a:spcBef>
                <a:spcPts val="0"/>
              </a:spcBef>
              <a:buSzTx/>
              <a:buNone/>
              <a:defRPr sz="2063">
                <a:solidFill>
                  <a:srgbClr val="FFFFFF"/>
                </a:solidFill>
              </a:defRPr>
            </a:lvl2pPr>
            <a:lvl3pPr marL="0" indent="342900" algn="ctr" defTabSz="309563">
              <a:spcBef>
                <a:spcPts val="0"/>
              </a:spcBef>
              <a:buSzTx/>
              <a:buNone/>
              <a:defRPr sz="2063">
                <a:solidFill>
                  <a:srgbClr val="FFFFFF"/>
                </a:solidFill>
              </a:defRPr>
            </a:lvl3pPr>
            <a:lvl4pPr marL="0" indent="514350" algn="ctr" defTabSz="309563">
              <a:spcBef>
                <a:spcPts val="0"/>
              </a:spcBef>
              <a:buSzTx/>
              <a:buNone/>
              <a:defRPr sz="2063">
                <a:solidFill>
                  <a:srgbClr val="FFFFFF"/>
                </a:solidFill>
              </a:defRPr>
            </a:lvl4pPr>
            <a:lvl5pPr marL="0" indent="685800" algn="ctr" defTabSz="309563">
              <a:spcBef>
                <a:spcPts val="0"/>
              </a:spcBef>
              <a:buSzTx/>
              <a:buNone/>
              <a:defRPr sz="2063">
                <a:solidFill>
                  <a:srgbClr val="FFFFFF"/>
                </a:solidFill>
              </a:defRPr>
            </a:lvl5pPr>
          </a:lstStyle>
          <a:p>
            <a:r>
              <a:t>Presentation Subtitle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pic>
        <p:nvPicPr>
          <p:cNvPr id="16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2542" y="341274"/>
            <a:ext cx="1622467" cy="423772"/>
          </a:xfrm>
          <a:prstGeom prst="rect">
            <a:avLst/>
          </a:prstGeom>
          <a:ln w="12700">
            <a:miter lim="400000"/>
          </a:ln>
        </p:spPr>
      </p:pic>
      <p:pic>
        <p:nvPicPr>
          <p:cNvPr id="17" name="Image" descr="Imag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503" y="348321"/>
            <a:ext cx="2084043" cy="409678"/>
          </a:xfrm>
          <a:prstGeom prst="rect">
            <a:avLst/>
          </a:prstGeom>
          <a:ln w="12700">
            <a:miter lim="400000"/>
          </a:ln>
        </p:spPr>
      </p:pic>
      <p:sp>
        <p:nvSpPr>
          <p:cNvPr id="18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4465463" y="4839383"/>
            <a:ext cx="208391" cy="206467"/>
          </a:xfrm>
          <a:prstGeom prst="rect">
            <a:avLst/>
          </a:prstGeom>
        </p:spPr>
        <p:txBody>
          <a:bodyPr/>
          <a:lstStyle>
            <a:lvl1pPr algn="ctr">
              <a:defRPr sz="675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Helvetica Neue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3272384"/>
      </p:ext>
    </p:extLst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 dirty="0"/>
          </a:p>
        </p:txBody>
      </p:sp>
      <p:sp>
        <p:nvSpPr>
          <p:cNvPr id="8" name="Picture Placeholder 12">
            <a:extLst>
              <a:ext uri="{FF2B5EF4-FFF2-40B4-BE49-F238E27FC236}">
                <a16:creationId xmlns:a16="http://schemas.microsoft.com/office/drawing/2014/main" id="{41500E31-C260-E3DF-5306-4357F628B1E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40681" y="1000331"/>
            <a:ext cx="3931319" cy="3839918"/>
          </a:xfrm>
          <a:prstGeom prst="roundRect">
            <a:avLst>
              <a:gd name="adj" fmla="val 1408"/>
            </a:avLst>
          </a:prstGeom>
        </p:spPr>
        <p:txBody>
          <a:bodyPr/>
          <a:lstStyle>
            <a:lvl1pPr marL="0" indent="0">
              <a:buNone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l" defTabSz="914377" eaLnBrk="1" fontAlgn="auto" latinLnBrk="0" hangingPunct="1">
              <a:lnSpc>
                <a:spcPct val="100000"/>
              </a:lnSpc>
              <a:spcBef>
                <a:spcPts val="1763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en-US" dirty="0"/>
              <a:t>Click icon to add picture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AF7D5D94-8E97-C95E-10A8-BBF25FAF878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12657" y="1863391"/>
            <a:ext cx="3580649" cy="2969594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spcBef>
                <a:spcPts val="113"/>
              </a:spcBef>
              <a:spcAft>
                <a:spcPts val="113"/>
              </a:spcAft>
              <a:defRPr sz="120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90000"/>
              </a:lnSpc>
              <a:spcBef>
                <a:spcPts val="113"/>
              </a:spcBef>
              <a:spcAft>
                <a:spcPts val="113"/>
              </a:spcAft>
              <a:defRPr sz="450"/>
            </a:lvl2pPr>
            <a:lvl3pPr>
              <a:lnSpc>
                <a:spcPct val="90000"/>
              </a:lnSpc>
              <a:spcBef>
                <a:spcPts val="113"/>
              </a:spcBef>
              <a:spcAft>
                <a:spcPts val="113"/>
              </a:spcAft>
              <a:defRPr sz="450"/>
            </a:lvl3pPr>
            <a:lvl4pPr>
              <a:lnSpc>
                <a:spcPct val="90000"/>
              </a:lnSpc>
              <a:spcBef>
                <a:spcPts val="113"/>
              </a:spcBef>
              <a:spcAft>
                <a:spcPts val="113"/>
              </a:spcAft>
              <a:defRPr sz="450"/>
            </a:lvl4pPr>
            <a:lvl5pPr>
              <a:lnSpc>
                <a:spcPct val="90000"/>
              </a:lnSpc>
              <a:spcBef>
                <a:spcPts val="113"/>
              </a:spcBef>
              <a:spcAft>
                <a:spcPts val="113"/>
              </a:spcAft>
              <a:defRPr sz="450"/>
            </a:lvl5pPr>
          </a:lstStyle>
          <a:p>
            <a:pPr lvl="0"/>
            <a:r>
              <a:rPr lang="en-US" dirty="0"/>
              <a:t>Item 1</a:t>
            </a:r>
          </a:p>
          <a:p>
            <a:pPr lvl="0"/>
            <a:r>
              <a:rPr lang="en-US" dirty="0"/>
              <a:t>Item 2</a:t>
            </a:r>
          </a:p>
          <a:p>
            <a:pPr lvl="0"/>
            <a:r>
              <a:rPr lang="en-US" dirty="0"/>
              <a:t>Item 3</a:t>
            </a:r>
          </a:p>
          <a:p>
            <a:pPr lvl="0"/>
            <a:r>
              <a:rPr lang="en-US" dirty="0"/>
              <a:t>Item 4</a:t>
            </a:r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A119DA1B-3193-F74E-FF63-80CFAD1B6C7F}"/>
              </a:ext>
            </a:extLst>
          </p:cNvPr>
          <p:cNvSpPr txBox="1">
            <a:spLocks/>
          </p:cNvSpPr>
          <p:nvPr userDrawn="1"/>
        </p:nvSpPr>
        <p:spPr>
          <a:xfrm>
            <a:off x="8712544" y="4770999"/>
            <a:ext cx="389522" cy="69250"/>
          </a:xfrm>
          <a:prstGeom prst="rect">
            <a:avLst/>
          </a:prstGeom>
          <a:ln w="12700">
            <a:miter lim="400000"/>
          </a:ln>
        </p:spPr>
        <p:txBody>
          <a:bodyPr vert="horz" wrap="square" lIns="0" tIns="0" rIns="0" bIns="0" rtlCol="0" anchor="b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9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FillTx/>
                <a:latin typeface="Arial" panose="020B0604020202020204" pitchFamily="34" charset="0"/>
                <a:ea typeface="Graphik"/>
                <a:cs typeface="Arial" panose="020B0604020202020204" pitchFamily="34" charset="0"/>
                <a:sym typeface="Graphik"/>
              </a:defRPr>
            </a:lvl1pPr>
            <a:lvl2pPr marL="0" marR="0" indent="4572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2pPr>
            <a:lvl3pPr marL="0" marR="0" indent="9144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3pPr>
            <a:lvl4pPr marL="0" marR="0" indent="13716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4pPr>
            <a:lvl5pPr marL="0" marR="0" indent="18288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5pPr>
            <a:lvl6pPr marL="0" marR="0" indent="22860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0" marR="0" indent="27432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0" marR="0" indent="32004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0" marR="0" indent="36576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fld id="{DD01415F-5F32-4771-AE74-55868ADB41CE}" type="slidenum">
              <a:rPr lang="en-US" sz="450" smtClean="0"/>
              <a:pPr/>
              <a:t>‹#›</a:t>
            </a:fld>
            <a:endParaRPr lang="en-US" sz="450" dirty="0"/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CE50F65D-616C-1F86-60A5-9D54F8775A5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009316" y="1000331"/>
            <a:ext cx="3580649" cy="739187"/>
          </a:xfrm>
        </p:spPr>
        <p:txBody>
          <a:bodyPr anchor="ctr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250" b="1" spc="-23" baseline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Agenda</a:t>
            </a:r>
          </a:p>
        </p:txBody>
      </p:sp>
      <p:sp>
        <p:nvSpPr>
          <p:cNvPr id="18" name="Footer Placeholder 2">
            <a:extLst>
              <a:ext uri="{FF2B5EF4-FFF2-40B4-BE49-F238E27FC236}">
                <a16:creationId xmlns:a16="http://schemas.microsoft.com/office/drawing/2014/main" id="{28FC7B61-0488-F709-504D-5AD3311F6B0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 rot="16200000">
            <a:off x="-1716601" y="2802359"/>
            <a:ext cx="3832655" cy="228599"/>
          </a:xfrm>
          <a:prstGeom prst="rect">
            <a:avLst/>
          </a:prstGeom>
        </p:spPr>
        <p:txBody>
          <a:bodyPr anchor="ctr"/>
          <a:lstStyle>
            <a:lvl1pPr algn="ctr">
              <a:defRPr sz="338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3597354"/>
      </p:ext>
    </p:extLst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exts &amp; One Phot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2542" y="341274"/>
            <a:ext cx="1622467" cy="423772"/>
          </a:xfrm>
          <a:prstGeom prst="rect">
            <a:avLst/>
          </a:prstGeom>
          <a:ln w="12700">
            <a:miter lim="400000"/>
          </a:ln>
        </p:spPr>
      </p:pic>
      <p:sp>
        <p:nvSpPr>
          <p:cNvPr id="5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6" name="Picture Placeholder 12">
            <a:extLst>
              <a:ext uri="{FF2B5EF4-FFF2-40B4-BE49-F238E27FC236}">
                <a16:creationId xmlns:a16="http://schemas.microsoft.com/office/drawing/2014/main" id="{3AE5D6E8-5E3D-9156-B348-239AF93A50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739290" y="1000331"/>
            <a:ext cx="3931319" cy="3832655"/>
          </a:xfrm>
          <a:prstGeom prst="roundRect">
            <a:avLst>
              <a:gd name="adj" fmla="val 1408"/>
            </a:avLst>
          </a:prstGeom>
        </p:spPr>
        <p:txBody>
          <a:bodyPr/>
          <a:lstStyle>
            <a:lvl1pPr marL="0" indent="0">
              <a:buNone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l" defTabSz="914377" eaLnBrk="1" fontAlgn="auto" latinLnBrk="0" hangingPunct="1">
              <a:lnSpc>
                <a:spcPct val="100000"/>
              </a:lnSpc>
              <a:spcBef>
                <a:spcPts val="1763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en-US" dirty="0"/>
              <a:t>Click icon to add picture</a:t>
            </a:r>
          </a:p>
          <a:p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48AC448-C85D-872D-D10E-66B20EFA6B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681" y="1000330"/>
            <a:ext cx="3731294" cy="3832655"/>
          </a:xfrm>
        </p:spPr>
        <p:txBody>
          <a:bodyPr anchor="t">
            <a:normAutofit/>
          </a:bodyPr>
          <a:lstStyle>
            <a:lvl1pPr>
              <a:lnSpc>
                <a:spcPct val="90000"/>
              </a:lnSpc>
              <a:defRPr sz="1500" b="1" spc="-23" baseline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2D7D9E8-3656-3A86-4302-DB1D067EB081}"/>
              </a:ext>
            </a:extLst>
          </p:cNvPr>
          <p:cNvSpPr txBox="1">
            <a:spLocks/>
          </p:cNvSpPr>
          <p:nvPr userDrawn="1"/>
        </p:nvSpPr>
        <p:spPr>
          <a:xfrm>
            <a:off x="8712544" y="4770999"/>
            <a:ext cx="389522" cy="69250"/>
          </a:xfrm>
          <a:prstGeom prst="rect">
            <a:avLst/>
          </a:prstGeom>
          <a:ln w="12700">
            <a:miter lim="400000"/>
          </a:ln>
        </p:spPr>
        <p:txBody>
          <a:bodyPr vert="horz" wrap="square" lIns="0" tIns="0" rIns="0" bIns="0" rtlCol="0" anchor="b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9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FillTx/>
                <a:latin typeface="Arial" panose="020B0604020202020204" pitchFamily="34" charset="0"/>
                <a:ea typeface="Graphik"/>
                <a:cs typeface="Arial" panose="020B0604020202020204" pitchFamily="34" charset="0"/>
                <a:sym typeface="Graphik"/>
              </a:defRPr>
            </a:lvl1pPr>
            <a:lvl2pPr marL="0" marR="0" indent="4572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2pPr>
            <a:lvl3pPr marL="0" marR="0" indent="9144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3pPr>
            <a:lvl4pPr marL="0" marR="0" indent="13716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4pPr>
            <a:lvl5pPr marL="0" marR="0" indent="18288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5pPr>
            <a:lvl6pPr marL="0" marR="0" indent="22860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0" marR="0" indent="27432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0" marR="0" indent="32004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0" marR="0" indent="36576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fld id="{DD01415F-5F32-4771-AE74-55868ADB41CE}" type="slidenum">
              <a:rPr lang="en-US" sz="450" smtClean="0"/>
              <a:pPr/>
              <a:t>‹#›</a:t>
            </a:fld>
            <a:endParaRPr lang="en-US" sz="450" dirty="0"/>
          </a:p>
        </p:txBody>
      </p:sp>
      <p:sp>
        <p:nvSpPr>
          <p:cNvPr id="10" name="Footer Placeholder 2">
            <a:extLst>
              <a:ext uri="{FF2B5EF4-FFF2-40B4-BE49-F238E27FC236}">
                <a16:creationId xmlns:a16="http://schemas.microsoft.com/office/drawing/2014/main" id="{6B06EFBF-9830-40FD-9571-3599F3FD498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 rot="16200000">
            <a:off x="-1716601" y="2802359"/>
            <a:ext cx="3832655" cy="228599"/>
          </a:xfrm>
          <a:prstGeom prst="rect">
            <a:avLst/>
          </a:prstGeom>
        </p:spPr>
        <p:txBody>
          <a:bodyPr anchor="ctr"/>
          <a:lstStyle>
            <a:lvl1pPr algn="ctr">
              <a:defRPr sz="338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5A780ED-4DCB-186B-2793-79FC2B63176E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9935" y="320175"/>
            <a:ext cx="2262282" cy="444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4604400"/>
      </p:ext>
    </p:extLst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s &amp; Photo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2542" y="341274"/>
            <a:ext cx="1622467" cy="423772"/>
          </a:xfrm>
          <a:prstGeom prst="rect">
            <a:avLst/>
          </a:prstGeom>
          <a:ln w="12700">
            <a:miter lim="400000"/>
          </a:ln>
        </p:spPr>
      </p:pic>
      <p:sp>
        <p:nvSpPr>
          <p:cNvPr id="5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2D7D9E8-3656-3A86-4302-DB1D067EB081}"/>
              </a:ext>
            </a:extLst>
          </p:cNvPr>
          <p:cNvSpPr txBox="1">
            <a:spLocks/>
          </p:cNvSpPr>
          <p:nvPr userDrawn="1"/>
        </p:nvSpPr>
        <p:spPr>
          <a:xfrm>
            <a:off x="8712544" y="4770999"/>
            <a:ext cx="389522" cy="69250"/>
          </a:xfrm>
          <a:prstGeom prst="rect">
            <a:avLst/>
          </a:prstGeom>
          <a:ln w="12700">
            <a:miter lim="400000"/>
          </a:ln>
        </p:spPr>
        <p:txBody>
          <a:bodyPr vert="horz" wrap="square" lIns="0" tIns="0" rIns="0" bIns="0" rtlCol="0" anchor="b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9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FillTx/>
                <a:latin typeface="Arial" panose="020B0604020202020204" pitchFamily="34" charset="0"/>
                <a:ea typeface="Graphik"/>
                <a:cs typeface="Arial" panose="020B0604020202020204" pitchFamily="34" charset="0"/>
                <a:sym typeface="Graphik"/>
              </a:defRPr>
            </a:lvl1pPr>
            <a:lvl2pPr marL="0" marR="0" indent="4572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2pPr>
            <a:lvl3pPr marL="0" marR="0" indent="9144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3pPr>
            <a:lvl4pPr marL="0" marR="0" indent="13716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4pPr>
            <a:lvl5pPr marL="0" marR="0" indent="18288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5pPr>
            <a:lvl6pPr marL="0" marR="0" indent="22860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0" marR="0" indent="27432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0" marR="0" indent="32004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0" marR="0" indent="36576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fld id="{DD01415F-5F32-4771-AE74-55868ADB41CE}" type="slidenum">
              <a:rPr lang="en-US" sz="450" smtClean="0"/>
              <a:pPr/>
              <a:t>‹#›</a:t>
            </a:fld>
            <a:endParaRPr lang="en-US" sz="450" dirty="0"/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52DCA225-C981-D9D0-7338-93740E327D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29886" y="1000330"/>
            <a:ext cx="4767851" cy="366758"/>
          </a:xfrm>
        </p:spPr>
        <p:txBody>
          <a:bodyPr anchor="ctr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1500" b="1" spc="-23" baseline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5620189A-1E86-2EB4-A975-BEF6116B5AF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9886" y="1475927"/>
            <a:ext cx="2225996" cy="3357059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spcBef>
                <a:spcPts val="113"/>
              </a:spcBef>
              <a:spcAft>
                <a:spcPts val="113"/>
              </a:spcAft>
              <a:defRPr sz="1050" baseline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113"/>
              </a:spcBef>
              <a:spcAft>
                <a:spcPts val="113"/>
              </a:spcAft>
              <a:defRPr sz="1050" baseline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113"/>
              </a:spcBef>
              <a:spcAft>
                <a:spcPts val="113"/>
              </a:spcAft>
              <a:defRPr sz="1050" baseline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spcBef>
                <a:spcPts val="113"/>
              </a:spcBef>
              <a:spcAft>
                <a:spcPts val="113"/>
              </a:spcAft>
              <a:defRPr sz="1050" baseline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spcBef>
                <a:spcPts val="113"/>
              </a:spcBef>
              <a:spcAft>
                <a:spcPts val="113"/>
              </a:spcAft>
              <a:defRPr sz="1050" baseline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Picture Placeholder 12">
            <a:extLst>
              <a:ext uri="{FF2B5EF4-FFF2-40B4-BE49-F238E27FC236}">
                <a16:creationId xmlns:a16="http://schemas.microsoft.com/office/drawing/2014/main" id="{8300A4AA-D459-780A-2727-63E3F1CCE9E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581149" y="1475926"/>
            <a:ext cx="3070447" cy="3357059"/>
          </a:xfrm>
          <a:prstGeom prst="roundRect">
            <a:avLst>
              <a:gd name="adj" fmla="val 1408"/>
            </a:avLst>
          </a:prstGeom>
        </p:spPr>
        <p:txBody>
          <a:bodyPr/>
          <a:lstStyle>
            <a:lvl1pPr marL="0" indent="0">
              <a:buNone/>
              <a:defRPr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D1B83F4B-F2D1-9494-269A-01AE0E7CA09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171741" y="1475927"/>
            <a:ext cx="2225996" cy="3357059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spcBef>
                <a:spcPts val="113"/>
              </a:spcBef>
              <a:spcAft>
                <a:spcPts val="113"/>
              </a:spcAft>
              <a:defRPr sz="1050" baseline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113"/>
              </a:spcBef>
              <a:spcAft>
                <a:spcPts val="113"/>
              </a:spcAft>
              <a:defRPr sz="1050" baseline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113"/>
              </a:spcBef>
              <a:spcAft>
                <a:spcPts val="113"/>
              </a:spcAft>
              <a:defRPr sz="1050" baseline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spcBef>
                <a:spcPts val="113"/>
              </a:spcBef>
              <a:spcAft>
                <a:spcPts val="113"/>
              </a:spcAft>
              <a:defRPr sz="1050" baseline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spcBef>
                <a:spcPts val="113"/>
              </a:spcBef>
              <a:spcAft>
                <a:spcPts val="113"/>
              </a:spcAft>
              <a:defRPr sz="1050" baseline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E7C53C61-2FBC-A401-277E-011354FFDE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 rot="16200000">
            <a:off x="-1716601" y="2802359"/>
            <a:ext cx="3832655" cy="228599"/>
          </a:xfrm>
          <a:prstGeom prst="rect">
            <a:avLst/>
          </a:prstGeom>
        </p:spPr>
        <p:txBody>
          <a:bodyPr anchor="ctr"/>
          <a:lstStyle>
            <a:lvl1pPr algn="ctr">
              <a:defRPr sz="338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614CB54-BECE-292F-5C2C-F58C26D407AB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9935" y="320175"/>
            <a:ext cx="2262282" cy="444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7357195"/>
      </p:ext>
    </p:extLst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&amp; One Phot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2542" y="341274"/>
            <a:ext cx="1622467" cy="423772"/>
          </a:xfrm>
          <a:prstGeom prst="rect">
            <a:avLst/>
          </a:prstGeom>
          <a:ln w="12700">
            <a:miter lim="400000"/>
          </a:ln>
        </p:spPr>
      </p:pic>
      <p:sp>
        <p:nvSpPr>
          <p:cNvPr id="5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2D7D9E8-3656-3A86-4302-DB1D067EB081}"/>
              </a:ext>
            </a:extLst>
          </p:cNvPr>
          <p:cNvSpPr txBox="1">
            <a:spLocks/>
          </p:cNvSpPr>
          <p:nvPr userDrawn="1"/>
        </p:nvSpPr>
        <p:spPr>
          <a:xfrm>
            <a:off x="8712544" y="4770999"/>
            <a:ext cx="389522" cy="69250"/>
          </a:xfrm>
          <a:prstGeom prst="rect">
            <a:avLst/>
          </a:prstGeom>
          <a:ln w="12700">
            <a:miter lim="400000"/>
          </a:ln>
        </p:spPr>
        <p:txBody>
          <a:bodyPr vert="horz" wrap="square" lIns="0" tIns="0" rIns="0" bIns="0" rtlCol="0" anchor="b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9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FillTx/>
                <a:latin typeface="Arial" panose="020B0604020202020204" pitchFamily="34" charset="0"/>
                <a:ea typeface="Graphik"/>
                <a:cs typeface="Arial" panose="020B0604020202020204" pitchFamily="34" charset="0"/>
                <a:sym typeface="Graphik"/>
              </a:defRPr>
            </a:lvl1pPr>
            <a:lvl2pPr marL="0" marR="0" indent="4572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2pPr>
            <a:lvl3pPr marL="0" marR="0" indent="9144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3pPr>
            <a:lvl4pPr marL="0" marR="0" indent="13716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4pPr>
            <a:lvl5pPr marL="0" marR="0" indent="18288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5pPr>
            <a:lvl6pPr marL="0" marR="0" indent="22860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0" marR="0" indent="27432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0" marR="0" indent="32004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0" marR="0" indent="36576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fld id="{DD01415F-5F32-4771-AE74-55868ADB41CE}" type="slidenum">
              <a:rPr lang="en-US" sz="450" smtClean="0"/>
              <a:pPr/>
              <a:t>‹#›</a:t>
            </a:fld>
            <a:endParaRPr lang="en-US" sz="450" dirty="0"/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E7C53C61-2FBC-A401-277E-011354FFDE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 rot="16200000">
            <a:off x="-1716601" y="2802359"/>
            <a:ext cx="3832655" cy="228599"/>
          </a:xfrm>
          <a:prstGeom prst="rect">
            <a:avLst/>
          </a:prstGeom>
        </p:spPr>
        <p:txBody>
          <a:bodyPr anchor="ctr"/>
          <a:lstStyle>
            <a:lvl1pPr algn="ctr">
              <a:defRPr sz="338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EE82E24-B25D-A9D0-8392-3293068082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9935" y="1000331"/>
            <a:ext cx="7886700" cy="414369"/>
          </a:xfrm>
        </p:spPr>
        <p:txBody>
          <a:bodyPr>
            <a:noAutofit/>
          </a:bodyPr>
          <a:lstStyle>
            <a:lvl1pPr>
              <a:defRPr sz="1500" b="1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s-ES" dirty="0"/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D827B166-71B2-1CD4-F949-CCC013CFA85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69935" y="1601917"/>
            <a:ext cx="7886700" cy="323106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picture</a:t>
            </a:r>
          </a:p>
          <a:p>
            <a:endParaRPr lang="es-E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78AC4EA-3D20-BB8E-62ED-6297A205964D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9935" y="320175"/>
            <a:ext cx="2262282" cy="444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3965224"/>
      </p:ext>
    </p:extLst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&amp; Two Photo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2542" y="341274"/>
            <a:ext cx="1622467" cy="423772"/>
          </a:xfrm>
          <a:prstGeom prst="rect">
            <a:avLst/>
          </a:prstGeom>
          <a:ln w="12700">
            <a:miter lim="400000"/>
          </a:ln>
        </p:spPr>
      </p:pic>
      <p:sp>
        <p:nvSpPr>
          <p:cNvPr id="5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2D7D9E8-3656-3A86-4302-DB1D067EB081}"/>
              </a:ext>
            </a:extLst>
          </p:cNvPr>
          <p:cNvSpPr txBox="1">
            <a:spLocks/>
          </p:cNvSpPr>
          <p:nvPr userDrawn="1"/>
        </p:nvSpPr>
        <p:spPr>
          <a:xfrm>
            <a:off x="8712544" y="4770999"/>
            <a:ext cx="389522" cy="69250"/>
          </a:xfrm>
          <a:prstGeom prst="rect">
            <a:avLst/>
          </a:prstGeom>
          <a:ln w="12700">
            <a:miter lim="400000"/>
          </a:ln>
        </p:spPr>
        <p:txBody>
          <a:bodyPr vert="horz" wrap="square" lIns="0" tIns="0" rIns="0" bIns="0" rtlCol="0" anchor="b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9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FillTx/>
                <a:latin typeface="Arial" panose="020B0604020202020204" pitchFamily="34" charset="0"/>
                <a:ea typeface="Graphik"/>
                <a:cs typeface="Arial" panose="020B0604020202020204" pitchFamily="34" charset="0"/>
                <a:sym typeface="Graphik"/>
              </a:defRPr>
            </a:lvl1pPr>
            <a:lvl2pPr marL="0" marR="0" indent="4572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2pPr>
            <a:lvl3pPr marL="0" marR="0" indent="9144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3pPr>
            <a:lvl4pPr marL="0" marR="0" indent="13716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4pPr>
            <a:lvl5pPr marL="0" marR="0" indent="18288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5pPr>
            <a:lvl6pPr marL="0" marR="0" indent="22860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0" marR="0" indent="27432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0" marR="0" indent="32004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0" marR="0" indent="36576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fld id="{DD01415F-5F32-4771-AE74-55868ADB41CE}" type="slidenum">
              <a:rPr lang="en-US" sz="450" smtClean="0"/>
              <a:pPr/>
              <a:t>‹#›</a:t>
            </a:fld>
            <a:endParaRPr lang="en-US" sz="450" dirty="0"/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E7C53C61-2FBC-A401-277E-011354FFDE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 rot="16200000">
            <a:off x="-1716601" y="2802359"/>
            <a:ext cx="3832655" cy="228599"/>
          </a:xfrm>
          <a:prstGeom prst="rect">
            <a:avLst/>
          </a:prstGeom>
        </p:spPr>
        <p:txBody>
          <a:bodyPr anchor="ctr"/>
          <a:lstStyle>
            <a:lvl1pPr algn="ctr">
              <a:defRPr sz="338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EE82E24-B25D-A9D0-8392-3293068082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9935" y="1000331"/>
            <a:ext cx="7886700" cy="414369"/>
          </a:xfrm>
        </p:spPr>
        <p:txBody>
          <a:bodyPr>
            <a:noAutofit/>
          </a:bodyPr>
          <a:lstStyle>
            <a:lvl1pPr>
              <a:defRPr sz="1500" b="1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s-ES" dirty="0"/>
          </a:p>
        </p:txBody>
      </p:sp>
      <p:sp>
        <p:nvSpPr>
          <p:cNvPr id="3" name="Picture Placeholder 6">
            <a:extLst>
              <a:ext uri="{FF2B5EF4-FFF2-40B4-BE49-F238E27FC236}">
                <a16:creationId xmlns:a16="http://schemas.microsoft.com/office/drawing/2014/main" id="{F80008D0-2023-C953-35A3-8485091BC25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69935" y="1518557"/>
            <a:ext cx="3714749" cy="331442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marL="0" marR="0" lvl="0" indent="0" algn="l" defTabSz="914377" eaLnBrk="1" fontAlgn="auto" latinLnBrk="0" hangingPunct="1">
              <a:lnSpc>
                <a:spcPct val="100000"/>
              </a:lnSpc>
              <a:spcBef>
                <a:spcPts val="1763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en-US" dirty="0"/>
              <a:t>Click icon to add picture</a:t>
            </a:r>
          </a:p>
        </p:txBody>
      </p:sp>
      <p:sp>
        <p:nvSpPr>
          <p:cNvPr id="4" name="Picture Placeholder 7">
            <a:extLst>
              <a:ext uri="{FF2B5EF4-FFF2-40B4-BE49-F238E27FC236}">
                <a16:creationId xmlns:a16="http://schemas.microsoft.com/office/drawing/2014/main" id="{DF9302C0-B950-891D-3022-E31E21B2B49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741886" y="1518557"/>
            <a:ext cx="3714749" cy="331442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marL="0" marR="0" lvl="0" indent="0" algn="l" defTabSz="914377" eaLnBrk="1" fontAlgn="auto" latinLnBrk="0" hangingPunct="1">
              <a:lnSpc>
                <a:spcPct val="100000"/>
              </a:lnSpc>
              <a:spcBef>
                <a:spcPts val="1763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en-US" dirty="0"/>
              <a:t>Click icon to add picture</a:t>
            </a:r>
          </a:p>
          <a:p>
            <a:endParaRPr lang="es-E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CB0E5CD-713F-8C1F-2577-B0DE2B6C7BD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9935" y="320175"/>
            <a:ext cx="2262282" cy="444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4073418"/>
      </p:ext>
    </p:extLst>
  </p:cSld>
  <p:clrMapOvr>
    <a:masterClrMapping/>
  </p:clrMapOvr>
  <p:transition spd="med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clusion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2542" y="341274"/>
            <a:ext cx="1622467" cy="423772"/>
          </a:xfrm>
          <a:prstGeom prst="rect">
            <a:avLst/>
          </a:prstGeom>
          <a:ln w="12700">
            <a:miter lim="400000"/>
          </a:ln>
        </p:spPr>
      </p:pic>
      <p:sp>
        <p:nvSpPr>
          <p:cNvPr id="5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9E06E9C-A765-ADA5-627A-CAFA87915E3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681" y="310515"/>
            <a:ext cx="2262276" cy="444870"/>
          </a:xfrm>
          <a:prstGeom prst="rect">
            <a:avLst/>
          </a:prstGeom>
        </p:spPr>
      </p:pic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2D7D9E8-3656-3A86-4302-DB1D067EB081}"/>
              </a:ext>
            </a:extLst>
          </p:cNvPr>
          <p:cNvSpPr txBox="1">
            <a:spLocks/>
          </p:cNvSpPr>
          <p:nvPr userDrawn="1"/>
        </p:nvSpPr>
        <p:spPr>
          <a:xfrm>
            <a:off x="8712544" y="4770999"/>
            <a:ext cx="389522" cy="69250"/>
          </a:xfrm>
          <a:prstGeom prst="rect">
            <a:avLst/>
          </a:prstGeom>
          <a:ln w="12700">
            <a:miter lim="400000"/>
          </a:ln>
        </p:spPr>
        <p:txBody>
          <a:bodyPr vert="horz" wrap="square" lIns="0" tIns="0" rIns="0" bIns="0" rtlCol="0" anchor="b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9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FillTx/>
                <a:latin typeface="Arial" panose="020B0604020202020204" pitchFamily="34" charset="0"/>
                <a:ea typeface="Graphik"/>
                <a:cs typeface="Arial" panose="020B0604020202020204" pitchFamily="34" charset="0"/>
                <a:sym typeface="Graphik"/>
              </a:defRPr>
            </a:lvl1pPr>
            <a:lvl2pPr marL="0" marR="0" indent="4572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2pPr>
            <a:lvl3pPr marL="0" marR="0" indent="9144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3pPr>
            <a:lvl4pPr marL="0" marR="0" indent="13716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4pPr>
            <a:lvl5pPr marL="0" marR="0" indent="18288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5pPr>
            <a:lvl6pPr marL="0" marR="0" indent="22860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0" marR="0" indent="27432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0" marR="0" indent="32004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0" marR="0" indent="36576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fld id="{DD01415F-5F32-4771-AE74-55868ADB41CE}" type="slidenum">
              <a:rPr lang="en-US" sz="450" smtClean="0"/>
              <a:pPr/>
              <a:t>‹#›</a:t>
            </a:fld>
            <a:endParaRPr lang="en-US" sz="450" dirty="0"/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E7C53C61-2FBC-A401-277E-011354FFDE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 rot="16200000">
            <a:off x="-1716601" y="2802359"/>
            <a:ext cx="3832655" cy="228599"/>
          </a:xfrm>
          <a:prstGeom prst="rect">
            <a:avLst/>
          </a:prstGeom>
        </p:spPr>
        <p:txBody>
          <a:bodyPr anchor="ctr"/>
          <a:lstStyle>
            <a:lvl1pPr algn="ctr">
              <a:defRPr sz="338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CAC6EA9C-9234-57AF-ADC6-695E6629695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78801" y="1000331"/>
            <a:ext cx="3479004" cy="3839922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marL="0" marR="0" lvl="0" indent="0" algn="l" defTabSz="914377" eaLnBrk="1" fontAlgn="auto" latinLnBrk="0" hangingPunct="1">
              <a:lnSpc>
                <a:spcPct val="100000"/>
              </a:lnSpc>
              <a:spcBef>
                <a:spcPts val="1763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en-US" dirty="0"/>
              <a:t>Click icon to add picture</a:t>
            </a:r>
          </a:p>
          <a:p>
            <a:endParaRPr lang="es-ES" dirty="0"/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2CC05AEE-E2B3-A73B-E614-4B3B4C7A983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07925" y="1905000"/>
            <a:ext cx="4348841" cy="2935249"/>
          </a:xfrm>
        </p:spPr>
        <p:txBody>
          <a:bodyPr/>
          <a:lstStyle>
            <a:lvl1pPr marL="0" indent="0">
              <a:buNone/>
              <a:defRPr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s-ES" dirty="0"/>
          </a:p>
          <a:p>
            <a:endParaRPr lang="es-ES" dirty="0"/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55AA0356-9895-2407-B27E-F178F738914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401242" y="1000331"/>
            <a:ext cx="4348841" cy="782709"/>
          </a:xfrm>
        </p:spPr>
        <p:txBody>
          <a:bodyPr/>
          <a:lstStyle>
            <a:lvl1pPr marL="0" indent="0">
              <a:buNone/>
              <a:defRPr lang="es-ES" sz="2250" b="1" i="0" u="none" strike="noStrike" cap="none" spc="-23" baseline="0" dirty="0">
                <a:solidFill>
                  <a:schemeClr val="accent3"/>
                </a:solidFill>
                <a:uFillTx/>
                <a:latin typeface="Arial" panose="020B0604020202020204" pitchFamily="34" charset="0"/>
                <a:ea typeface="Avenir Medium"/>
                <a:cs typeface="Arial" panose="020B0604020202020204" pitchFamily="34" charset="0"/>
                <a:sym typeface="Avenir Medium"/>
              </a:defRPr>
            </a:lvl1pPr>
          </a:lstStyle>
          <a:p>
            <a:r>
              <a:rPr lang="en-US" dirty="0"/>
              <a:t>Conclusions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20805028"/>
      </p:ext>
    </p:extLst>
  </p:cSld>
  <p:clrMapOvr>
    <a:masterClrMapping/>
  </p:clrMapOvr>
  <p:transition spd="med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aphic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2542" y="341274"/>
            <a:ext cx="1622467" cy="423772"/>
          </a:xfrm>
          <a:prstGeom prst="rect">
            <a:avLst/>
          </a:prstGeom>
          <a:ln w="12700">
            <a:miter lim="400000"/>
          </a:ln>
        </p:spPr>
      </p:pic>
      <p:sp>
        <p:nvSpPr>
          <p:cNvPr id="5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2D7D9E8-3656-3A86-4302-DB1D067EB081}"/>
              </a:ext>
            </a:extLst>
          </p:cNvPr>
          <p:cNvSpPr txBox="1">
            <a:spLocks/>
          </p:cNvSpPr>
          <p:nvPr userDrawn="1"/>
        </p:nvSpPr>
        <p:spPr>
          <a:xfrm>
            <a:off x="8712544" y="4770999"/>
            <a:ext cx="389522" cy="69250"/>
          </a:xfrm>
          <a:prstGeom prst="rect">
            <a:avLst/>
          </a:prstGeom>
          <a:ln w="12700">
            <a:miter lim="400000"/>
          </a:ln>
        </p:spPr>
        <p:txBody>
          <a:bodyPr vert="horz" wrap="square" lIns="0" tIns="0" rIns="0" bIns="0" rtlCol="0" anchor="b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9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FillTx/>
                <a:latin typeface="Arial" panose="020B0604020202020204" pitchFamily="34" charset="0"/>
                <a:ea typeface="Graphik"/>
                <a:cs typeface="Arial" panose="020B0604020202020204" pitchFamily="34" charset="0"/>
                <a:sym typeface="Graphik"/>
              </a:defRPr>
            </a:lvl1pPr>
            <a:lvl2pPr marL="0" marR="0" indent="4572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2pPr>
            <a:lvl3pPr marL="0" marR="0" indent="9144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3pPr>
            <a:lvl4pPr marL="0" marR="0" indent="13716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4pPr>
            <a:lvl5pPr marL="0" marR="0" indent="18288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5pPr>
            <a:lvl6pPr marL="0" marR="0" indent="22860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0" marR="0" indent="27432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0" marR="0" indent="32004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0" marR="0" indent="36576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fld id="{DD01415F-5F32-4771-AE74-55868ADB41CE}" type="slidenum">
              <a:rPr lang="en-US" sz="450" smtClean="0"/>
              <a:pPr/>
              <a:t>‹#›</a:t>
            </a:fld>
            <a:endParaRPr lang="en-US" sz="450" dirty="0"/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E7C53C61-2FBC-A401-277E-011354FFDE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 rot="16200000">
            <a:off x="-1716601" y="2802359"/>
            <a:ext cx="3832655" cy="228599"/>
          </a:xfrm>
          <a:prstGeom prst="rect">
            <a:avLst/>
          </a:prstGeom>
        </p:spPr>
        <p:txBody>
          <a:bodyPr anchor="ctr"/>
          <a:lstStyle>
            <a:lvl1pPr algn="ctr">
              <a:defRPr sz="338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EE82E24-B25D-A9D0-8392-3293068082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9935" y="1000331"/>
            <a:ext cx="7886700" cy="414369"/>
          </a:xfrm>
        </p:spPr>
        <p:txBody>
          <a:bodyPr>
            <a:noAutofit/>
          </a:bodyPr>
          <a:lstStyle>
            <a:lvl1pPr>
              <a:defRPr sz="1500" b="1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s-ES" dirty="0"/>
          </a:p>
        </p:txBody>
      </p:sp>
      <p:graphicFrame>
        <p:nvGraphicFramePr>
          <p:cNvPr id="7" name="SmartArt Placeholder 24">
            <a:extLst>
              <a:ext uri="{FF2B5EF4-FFF2-40B4-BE49-F238E27FC236}">
                <a16:creationId xmlns:a16="http://schemas.microsoft.com/office/drawing/2014/main" id="{6B0E12AE-56B3-4BB5-4FF4-8A24831E3F53}"/>
              </a:ext>
            </a:extLst>
          </p:cNvPr>
          <p:cNvGraphicFramePr>
            <a:graphicFrameLocks/>
          </p:cNvGraphicFramePr>
          <p:nvPr userDrawn="1">
            <p:extLst>
              <p:ext uri="{D42A27DB-BD31-4B8C-83A1-F6EECF244321}">
                <p14:modId xmlns:p14="http://schemas.microsoft.com/office/powerpoint/2010/main" val="3465204079"/>
              </p:ext>
            </p:extLst>
          </p:nvPr>
        </p:nvGraphicFramePr>
        <p:xfrm>
          <a:off x="569935" y="1556578"/>
          <a:ext cx="7886699" cy="327640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D43369BE-77DD-78D9-4E7F-4BF0D9E97C47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9935" y="320175"/>
            <a:ext cx="2262282" cy="444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7084700"/>
      </p:ext>
    </p:extLst>
  </p:cSld>
  <p:clrMapOvr>
    <a:masterClrMapping/>
  </p:clrMapOvr>
  <p:transition spd="med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aphic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2542" y="341274"/>
            <a:ext cx="1622467" cy="423772"/>
          </a:xfrm>
          <a:prstGeom prst="rect">
            <a:avLst/>
          </a:prstGeom>
          <a:ln w="12700">
            <a:miter lim="400000"/>
          </a:ln>
        </p:spPr>
      </p:pic>
      <p:sp>
        <p:nvSpPr>
          <p:cNvPr id="5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2D7D9E8-3656-3A86-4302-DB1D067EB081}"/>
              </a:ext>
            </a:extLst>
          </p:cNvPr>
          <p:cNvSpPr txBox="1">
            <a:spLocks/>
          </p:cNvSpPr>
          <p:nvPr userDrawn="1"/>
        </p:nvSpPr>
        <p:spPr>
          <a:xfrm>
            <a:off x="8712544" y="4770999"/>
            <a:ext cx="389522" cy="69250"/>
          </a:xfrm>
          <a:prstGeom prst="rect">
            <a:avLst/>
          </a:prstGeom>
          <a:ln w="12700">
            <a:miter lim="400000"/>
          </a:ln>
        </p:spPr>
        <p:txBody>
          <a:bodyPr vert="horz" wrap="square" lIns="0" tIns="0" rIns="0" bIns="0" rtlCol="0" anchor="b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9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FillTx/>
                <a:latin typeface="Arial" panose="020B0604020202020204" pitchFamily="34" charset="0"/>
                <a:ea typeface="Graphik"/>
                <a:cs typeface="Arial" panose="020B0604020202020204" pitchFamily="34" charset="0"/>
                <a:sym typeface="Graphik"/>
              </a:defRPr>
            </a:lvl1pPr>
            <a:lvl2pPr marL="0" marR="0" indent="4572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2pPr>
            <a:lvl3pPr marL="0" marR="0" indent="9144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3pPr>
            <a:lvl4pPr marL="0" marR="0" indent="13716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4pPr>
            <a:lvl5pPr marL="0" marR="0" indent="18288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5pPr>
            <a:lvl6pPr marL="0" marR="0" indent="22860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0" marR="0" indent="27432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0" marR="0" indent="32004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0" marR="0" indent="36576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fld id="{DD01415F-5F32-4771-AE74-55868ADB41CE}" type="slidenum">
              <a:rPr lang="en-US" sz="450" smtClean="0"/>
              <a:pPr/>
              <a:t>‹#›</a:t>
            </a:fld>
            <a:endParaRPr lang="en-US" sz="450" dirty="0"/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E7C53C61-2FBC-A401-277E-011354FFDE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 rot="16200000">
            <a:off x="-1716601" y="2802359"/>
            <a:ext cx="3832655" cy="228599"/>
          </a:xfrm>
          <a:prstGeom prst="rect">
            <a:avLst/>
          </a:prstGeom>
        </p:spPr>
        <p:txBody>
          <a:bodyPr anchor="ctr"/>
          <a:lstStyle>
            <a:lvl1pPr algn="ctr">
              <a:defRPr sz="338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graphicFrame>
        <p:nvGraphicFramePr>
          <p:cNvPr id="3" name="Chart Placeholder 13">
            <a:extLst>
              <a:ext uri="{FF2B5EF4-FFF2-40B4-BE49-F238E27FC236}">
                <a16:creationId xmlns:a16="http://schemas.microsoft.com/office/drawing/2014/main" id="{92CEE904-0159-79D5-57B2-BF12CFCE8370}"/>
              </a:ext>
            </a:extLst>
          </p:cNvPr>
          <p:cNvGraphicFramePr>
            <a:graphicFrameLocks/>
          </p:cNvGraphicFramePr>
          <p:nvPr userDrawn="1">
            <p:extLst>
              <p:ext uri="{D42A27DB-BD31-4B8C-83A1-F6EECF244321}">
                <p14:modId xmlns:p14="http://schemas.microsoft.com/office/powerpoint/2010/main" val="3444159692"/>
              </p:ext>
            </p:extLst>
          </p:nvPr>
        </p:nvGraphicFramePr>
        <p:xfrm>
          <a:off x="739003" y="1750458"/>
          <a:ext cx="7548563" cy="30825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" name="Title 5">
            <a:extLst>
              <a:ext uri="{FF2B5EF4-FFF2-40B4-BE49-F238E27FC236}">
                <a16:creationId xmlns:a16="http://schemas.microsoft.com/office/drawing/2014/main" id="{961D92B3-9B08-F02A-A80A-93AF789974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9935" y="1000331"/>
            <a:ext cx="7886700" cy="414369"/>
          </a:xfrm>
        </p:spPr>
        <p:txBody>
          <a:bodyPr>
            <a:noAutofit/>
          </a:bodyPr>
          <a:lstStyle>
            <a:lvl1pPr>
              <a:defRPr sz="1500" b="1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s-E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5229A41-6417-9001-30C1-FC9AC485B29F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9935" y="320175"/>
            <a:ext cx="2262282" cy="444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6302233"/>
      </p:ext>
    </p:extLst>
  </p:cSld>
  <p:clrMapOvr>
    <a:masterClrMapping/>
  </p:clrMapOvr>
  <p:transition spd="med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aphic 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2542" y="341274"/>
            <a:ext cx="1622467" cy="423772"/>
          </a:xfrm>
          <a:prstGeom prst="rect">
            <a:avLst/>
          </a:prstGeom>
          <a:ln w="12700">
            <a:miter lim="400000"/>
          </a:ln>
        </p:spPr>
      </p:pic>
      <p:sp>
        <p:nvSpPr>
          <p:cNvPr id="5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2D7D9E8-3656-3A86-4302-DB1D067EB081}"/>
              </a:ext>
            </a:extLst>
          </p:cNvPr>
          <p:cNvSpPr txBox="1">
            <a:spLocks/>
          </p:cNvSpPr>
          <p:nvPr userDrawn="1"/>
        </p:nvSpPr>
        <p:spPr>
          <a:xfrm>
            <a:off x="8712544" y="4770999"/>
            <a:ext cx="389522" cy="69250"/>
          </a:xfrm>
          <a:prstGeom prst="rect">
            <a:avLst/>
          </a:prstGeom>
          <a:ln w="12700">
            <a:miter lim="400000"/>
          </a:ln>
        </p:spPr>
        <p:txBody>
          <a:bodyPr vert="horz" wrap="square" lIns="0" tIns="0" rIns="0" bIns="0" rtlCol="0" anchor="b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9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FillTx/>
                <a:latin typeface="Arial" panose="020B0604020202020204" pitchFamily="34" charset="0"/>
                <a:ea typeface="Graphik"/>
                <a:cs typeface="Arial" panose="020B0604020202020204" pitchFamily="34" charset="0"/>
                <a:sym typeface="Graphik"/>
              </a:defRPr>
            </a:lvl1pPr>
            <a:lvl2pPr marL="0" marR="0" indent="4572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2pPr>
            <a:lvl3pPr marL="0" marR="0" indent="9144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3pPr>
            <a:lvl4pPr marL="0" marR="0" indent="13716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4pPr>
            <a:lvl5pPr marL="0" marR="0" indent="18288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5pPr>
            <a:lvl6pPr marL="0" marR="0" indent="22860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0" marR="0" indent="27432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0" marR="0" indent="32004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0" marR="0" indent="36576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fld id="{DD01415F-5F32-4771-AE74-55868ADB41CE}" type="slidenum">
              <a:rPr lang="en-US" sz="450" smtClean="0"/>
              <a:pPr/>
              <a:t>‹#›</a:t>
            </a:fld>
            <a:endParaRPr lang="en-US" sz="450" dirty="0"/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E7C53C61-2FBC-A401-277E-011354FFDE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 rot="16200000">
            <a:off x="-1716601" y="2802359"/>
            <a:ext cx="3832655" cy="228599"/>
          </a:xfrm>
          <a:prstGeom prst="rect">
            <a:avLst/>
          </a:prstGeom>
        </p:spPr>
        <p:txBody>
          <a:bodyPr anchor="ctr"/>
          <a:lstStyle>
            <a:lvl1pPr algn="ctr">
              <a:defRPr sz="338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Title 5">
            <a:extLst>
              <a:ext uri="{FF2B5EF4-FFF2-40B4-BE49-F238E27FC236}">
                <a16:creationId xmlns:a16="http://schemas.microsoft.com/office/drawing/2014/main" id="{961D92B3-9B08-F02A-A80A-93AF789974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9935" y="1000331"/>
            <a:ext cx="7886700" cy="414369"/>
          </a:xfrm>
        </p:spPr>
        <p:txBody>
          <a:bodyPr>
            <a:noAutofit/>
          </a:bodyPr>
          <a:lstStyle>
            <a:lvl1pPr>
              <a:defRPr sz="1500" b="1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s-ES" dirty="0"/>
          </a:p>
        </p:txBody>
      </p:sp>
      <p:graphicFrame>
        <p:nvGraphicFramePr>
          <p:cNvPr id="6" name="Chart Placeholder 29">
            <a:extLst>
              <a:ext uri="{FF2B5EF4-FFF2-40B4-BE49-F238E27FC236}">
                <a16:creationId xmlns:a16="http://schemas.microsoft.com/office/drawing/2014/main" id="{D89A7A49-5A36-30CE-3D72-F5C460FB682A}"/>
              </a:ext>
            </a:extLst>
          </p:cNvPr>
          <p:cNvGraphicFramePr>
            <a:graphicFrameLocks/>
          </p:cNvGraphicFramePr>
          <p:nvPr userDrawn="1">
            <p:extLst>
              <p:ext uri="{D42A27DB-BD31-4B8C-83A1-F6EECF244321}">
                <p14:modId xmlns:p14="http://schemas.microsoft.com/office/powerpoint/2010/main" val="1938304512"/>
              </p:ext>
            </p:extLst>
          </p:nvPr>
        </p:nvGraphicFramePr>
        <p:xfrm>
          <a:off x="4683594" y="1659645"/>
          <a:ext cx="3773041" cy="308252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7" name="Chart Placeholder 9">
            <a:extLst>
              <a:ext uri="{FF2B5EF4-FFF2-40B4-BE49-F238E27FC236}">
                <a16:creationId xmlns:a16="http://schemas.microsoft.com/office/drawing/2014/main" id="{3500A925-364E-3881-D6F8-8E0FA6C7D0CB}"/>
              </a:ext>
            </a:extLst>
          </p:cNvPr>
          <p:cNvGraphicFramePr>
            <a:graphicFrameLocks/>
          </p:cNvGraphicFramePr>
          <p:nvPr userDrawn="1">
            <p:extLst>
              <p:ext uri="{D42A27DB-BD31-4B8C-83A1-F6EECF244321}">
                <p14:modId xmlns:p14="http://schemas.microsoft.com/office/powerpoint/2010/main" val="3308903145"/>
              </p:ext>
            </p:extLst>
          </p:nvPr>
        </p:nvGraphicFramePr>
        <p:xfrm>
          <a:off x="569935" y="1659646"/>
          <a:ext cx="3773042" cy="30825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489779AA-CA1A-4856-1FE2-94F1CB55BD9F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9935" y="320175"/>
            <a:ext cx="2262282" cy="444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7702116"/>
      </p:ext>
    </p:extLst>
  </p:cSld>
  <p:clrMapOvr>
    <a:masterClrMapping/>
  </p:clrMapOvr>
  <p:transition spd="med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s a&amp; Graphic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2542" y="341274"/>
            <a:ext cx="1622467" cy="423772"/>
          </a:xfrm>
          <a:prstGeom prst="rect">
            <a:avLst/>
          </a:prstGeom>
          <a:ln w="12700">
            <a:miter lim="400000"/>
          </a:ln>
        </p:spPr>
      </p:pic>
      <p:sp>
        <p:nvSpPr>
          <p:cNvPr id="5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2D7D9E8-3656-3A86-4302-DB1D067EB081}"/>
              </a:ext>
            </a:extLst>
          </p:cNvPr>
          <p:cNvSpPr txBox="1">
            <a:spLocks/>
          </p:cNvSpPr>
          <p:nvPr userDrawn="1"/>
        </p:nvSpPr>
        <p:spPr>
          <a:xfrm>
            <a:off x="8712544" y="4770999"/>
            <a:ext cx="389522" cy="69250"/>
          </a:xfrm>
          <a:prstGeom prst="rect">
            <a:avLst/>
          </a:prstGeom>
          <a:ln w="12700">
            <a:miter lim="400000"/>
          </a:ln>
        </p:spPr>
        <p:txBody>
          <a:bodyPr vert="horz" wrap="square" lIns="0" tIns="0" rIns="0" bIns="0" rtlCol="0" anchor="b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9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FillTx/>
                <a:latin typeface="Arial" panose="020B0604020202020204" pitchFamily="34" charset="0"/>
                <a:ea typeface="Graphik"/>
                <a:cs typeface="Arial" panose="020B0604020202020204" pitchFamily="34" charset="0"/>
                <a:sym typeface="Graphik"/>
              </a:defRPr>
            </a:lvl1pPr>
            <a:lvl2pPr marL="0" marR="0" indent="4572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2pPr>
            <a:lvl3pPr marL="0" marR="0" indent="9144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3pPr>
            <a:lvl4pPr marL="0" marR="0" indent="13716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4pPr>
            <a:lvl5pPr marL="0" marR="0" indent="18288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5pPr>
            <a:lvl6pPr marL="0" marR="0" indent="22860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0" marR="0" indent="27432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0" marR="0" indent="32004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0" marR="0" indent="36576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fld id="{DD01415F-5F32-4771-AE74-55868ADB41CE}" type="slidenum">
              <a:rPr lang="en-US" sz="450" smtClean="0"/>
              <a:pPr/>
              <a:t>‹#›</a:t>
            </a:fld>
            <a:endParaRPr lang="en-US" sz="450" dirty="0"/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E7C53C61-2FBC-A401-277E-011354FFDE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 rot="16200000">
            <a:off x="-1716601" y="2802359"/>
            <a:ext cx="3832655" cy="228599"/>
          </a:xfrm>
          <a:prstGeom prst="rect">
            <a:avLst/>
          </a:prstGeom>
        </p:spPr>
        <p:txBody>
          <a:bodyPr anchor="ctr"/>
          <a:lstStyle>
            <a:lvl1pPr algn="ctr">
              <a:defRPr sz="338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Title 5">
            <a:extLst>
              <a:ext uri="{FF2B5EF4-FFF2-40B4-BE49-F238E27FC236}">
                <a16:creationId xmlns:a16="http://schemas.microsoft.com/office/drawing/2014/main" id="{961D92B3-9B08-F02A-A80A-93AF789974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9935" y="1000331"/>
            <a:ext cx="3510641" cy="414369"/>
          </a:xfrm>
        </p:spPr>
        <p:txBody>
          <a:bodyPr>
            <a:noAutofit/>
          </a:bodyPr>
          <a:lstStyle>
            <a:lvl1pPr>
              <a:defRPr sz="1500" b="1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s-ES" dirty="0"/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D83787CB-5AF1-CDBD-F740-46A7D4DA718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9935" y="4607560"/>
            <a:ext cx="3510641" cy="225425"/>
          </a:xfrm>
        </p:spPr>
        <p:txBody>
          <a:bodyPr>
            <a:normAutofit/>
          </a:bodyPr>
          <a:lstStyle>
            <a:lvl1pPr marL="0" indent="0">
              <a:buNone/>
              <a:defRPr sz="105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graphicFrame>
        <p:nvGraphicFramePr>
          <p:cNvPr id="11" name="Chart Placeholder 13">
            <a:extLst>
              <a:ext uri="{FF2B5EF4-FFF2-40B4-BE49-F238E27FC236}">
                <a16:creationId xmlns:a16="http://schemas.microsoft.com/office/drawing/2014/main" id="{E4575DC5-A601-4F34-C8D6-DC6AFA21C2A4}"/>
              </a:ext>
            </a:extLst>
          </p:cNvPr>
          <p:cNvGraphicFramePr>
            <a:graphicFrameLocks/>
          </p:cNvGraphicFramePr>
          <p:nvPr userDrawn="1">
            <p:extLst>
              <p:ext uri="{D42A27DB-BD31-4B8C-83A1-F6EECF244321}">
                <p14:modId xmlns:p14="http://schemas.microsoft.com/office/powerpoint/2010/main" val="167607577"/>
              </p:ext>
            </p:extLst>
          </p:nvPr>
        </p:nvGraphicFramePr>
        <p:xfrm>
          <a:off x="4648979" y="1000330"/>
          <a:ext cx="4035489" cy="373537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1C6D1B19-003F-D31A-0427-7113221A69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69935" y="1649984"/>
            <a:ext cx="3510643" cy="2791958"/>
          </a:xfrm>
        </p:spPr>
        <p:txBody>
          <a:bodyPr/>
          <a:lstStyle>
            <a:lvl1pPr marL="0" indent="0">
              <a:buNone/>
              <a:defRPr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171B60C-2218-DD2E-7CAF-B44C1108C310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9935" y="320175"/>
            <a:ext cx="2262282" cy="444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9407621"/>
      </p:ext>
    </p:extLst>
  </p:cSld>
  <p:clrMapOvr>
    <a:masterClrMapping/>
  </p:clrMapOvr>
  <p:transition spd="med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rganization Char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2542" y="341274"/>
            <a:ext cx="1622467" cy="423772"/>
          </a:xfrm>
          <a:prstGeom prst="rect">
            <a:avLst/>
          </a:prstGeom>
          <a:ln w="12700">
            <a:miter lim="400000"/>
          </a:ln>
        </p:spPr>
      </p:pic>
      <p:sp>
        <p:nvSpPr>
          <p:cNvPr id="5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2D7D9E8-3656-3A86-4302-DB1D067EB081}"/>
              </a:ext>
            </a:extLst>
          </p:cNvPr>
          <p:cNvSpPr txBox="1">
            <a:spLocks/>
          </p:cNvSpPr>
          <p:nvPr userDrawn="1"/>
        </p:nvSpPr>
        <p:spPr>
          <a:xfrm>
            <a:off x="8712544" y="4770999"/>
            <a:ext cx="389522" cy="69250"/>
          </a:xfrm>
          <a:prstGeom prst="rect">
            <a:avLst/>
          </a:prstGeom>
          <a:ln w="12700">
            <a:miter lim="400000"/>
          </a:ln>
        </p:spPr>
        <p:txBody>
          <a:bodyPr vert="horz" wrap="square" lIns="0" tIns="0" rIns="0" bIns="0" rtlCol="0" anchor="b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9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FillTx/>
                <a:latin typeface="Arial" panose="020B0604020202020204" pitchFamily="34" charset="0"/>
                <a:ea typeface="Graphik"/>
                <a:cs typeface="Arial" panose="020B0604020202020204" pitchFamily="34" charset="0"/>
                <a:sym typeface="Graphik"/>
              </a:defRPr>
            </a:lvl1pPr>
            <a:lvl2pPr marL="0" marR="0" indent="4572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2pPr>
            <a:lvl3pPr marL="0" marR="0" indent="9144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3pPr>
            <a:lvl4pPr marL="0" marR="0" indent="13716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4pPr>
            <a:lvl5pPr marL="0" marR="0" indent="18288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5pPr>
            <a:lvl6pPr marL="0" marR="0" indent="22860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0" marR="0" indent="27432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0" marR="0" indent="32004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0" marR="0" indent="36576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fld id="{DD01415F-5F32-4771-AE74-55868ADB41CE}" type="slidenum">
              <a:rPr lang="en-US" sz="450" smtClean="0"/>
              <a:pPr/>
              <a:t>‹#›</a:t>
            </a:fld>
            <a:endParaRPr lang="en-US" sz="450" dirty="0"/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E7C53C61-2FBC-A401-277E-011354FFDE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 rot="16200000">
            <a:off x="-1716601" y="2802359"/>
            <a:ext cx="3832655" cy="228599"/>
          </a:xfrm>
          <a:prstGeom prst="rect">
            <a:avLst/>
          </a:prstGeom>
        </p:spPr>
        <p:txBody>
          <a:bodyPr anchor="ctr"/>
          <a:lstStyle>
            <a:lvl1pPr algn="ctr">
              <a:defRPr sz="338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EE82E24-B25D-A9D0-8392-3293068082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9935" y="1000331"/>
            <a:ext cx="7886700" cy="414369"/>
          </a:xfrm>
        </p:spPr>
        <p:txBody>
          <a:bodyPr>
            <a:noAutofit/>
          </a:bodyPr>
          <a:lstStyle>
            <a:lvl1pPr>
              <a:defRPr sz="1500" b="1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ES" dirty="0" err="1"/>
              <a:t>Team</a:t>
            </a:r>
            <a:r>
              <a:rPr lang="es-ES" dirty="0"/>
              <a:t> </a:t>
            </a:r>
            <a:r>
              <a:rPr lang="es-ES" dirty="0" err="1"/>
              <a:t>Organization</a:t>
            </a:r>
            <a:r>
              <a:rPr lang="es-ES" dirty="0"/>
              <a:t> Chart </a:t>
            </a:r>
            <a:r>
              <a:rPr lang="es-ES" dirty="0" err="1"/>
              <a:t>Title</a:t>
            </a:r>
            <a:br>
              <a:rPr lang="es-ES" dirty="0"/>
            </a:br>
            <a:endParaRPr lang="es-E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FDB8115-71D0-0E73-9006-9EB39CFA2D16}"/>
              </a:ext>
            </a:extLst>
          </p:cNvPr>
          <p:cNvCxnSpPr>
            <a:cxnSpLocks/>
            <a:endCxn id="15" idx="0"/>
          </p:cNvCxnSpPr>
          <p:nvPr userDrawn="1"/>
        </p:nvCxnSpPr>
        <p:spPr>
          <a:xfrm>
            <a:off x="1350788" y="3016996"/>
            <a:ext cx="0" cy="21048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CD0624F-7728-8C82-E6BF-8E2DA8F6525A}"/>
              </a:ext>
            </a:extLst>
          </p:cNvPr>
          <p:cNvCxnSpPr>
            <a:cxnSpLocks/>
            <a:endCxn id="19" idx="0"/>
          </p:cNvCxnSpPr>
          <p:nvPr userDrawn="1"/>
        </p:nvCxnSpPr>
        <p:spPr>
          <a:xfrm>
            <a:off x="3926007" y="3016996"/>
            <a:ext cx="3645" cy="21048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4240044-3D8E-7E32-CECD-4E975F9E0BD9}"/>
              </a:ext>
            </a:extLst>
          </p:cNvPr>
          <p:cNvCxnSpPr>
            <a:cxnSpLocks/>
            <a:endCxn id="23" idx="0"/>
          </p:cNvCxnSpPr>
          <p:nvPr userDrawn="1"/>
        </p:nvCxnSpPr>
        <p:spPr>
          <a:xfrm>
            <a:off x="6508515" y="3016999"/>
            <a:ext cx="1" cy="21048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B7AD795-522B-DC82-5AF5-24EFF82E34F6}"/>
              </a:ext>
            </a:extLst>
          </p:cNvPr>
          <p:cNvCxnSpPr>
            <a:cxnSpLocks/>
            <a:endCxn id="26" idx="0"/>
          </p:cNvCxnSpPr>
          <p:nvPr userDrawn="1"/>
        </p:nvCxnSpPr>
        <p:spPr>
          <a:xfrm>
            <a:off x="7797948" y="3016999"/>
            <a:ext cx="0" cy="21048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234ABA7B-1310-467F-21AF-3BF24767576C}"/>
              </a:ext>
            </a:extLst>
          </p:cNvPr>
          <p:cNvSpPr/>
          <p:nvPr userDrawn="1"/>
        </p:nvSpPr>
        <p:spPr>
          <a:xfrm>
            <a:off x="4021312" y="1715562"/>
            <a:ext cx="1101376" cy="394915"/>
          </a:xfrm>
          <a:prstGeom prst="rect">
            <a:avLst/>
          </a:prstGeom>
          <a:solidFill>
            <a:srgbClr val="195072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75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Title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74F88CC-D161-941A-CD9D-67AD8ED21D5C}"/>
              </a:ext>
            </a:extLst>
          </p:cNvPr>
          <p:cNvSpPr/>
          <p:nvPr userDrawn="1"/>
        </p:nvSpPr>
        <p:spPr>
          <a:xfrm>
            <a:off x="4021312" y="2437393"/>
            <a:ext cx="1101376" cy="394915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75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Title</a:t>
            </a: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75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Name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F23617F-CD27-3694-896C-E2738CBCF91B}"/>
              </a:ext>
            </a:extLst>
          </p:cNvPr>
          <p:cNvSpPr/>
          <p:nvPr userDrawn="1"/>
        </p:nvSpPr>
        <p:spPr>
          <a:xfrm>
            <a:off x="800100" y="3227484"/>
            <a:ext cx="1101376" cy="394915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75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Title</a:t>
            </a: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75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Name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565D698-9A80-182F-C38E-777003CB3CEF}"/>
              </a:ext>
            </a:extLst>
          </p:cNvPr>
          <p:cNvSpPr/>
          <p:nvPr userDrawn="1"/>
        </p:nvSpPr>
        <p:spPr>
          <a:xfrm>
            <a:off x="800100" y="3715565"/>
            <a:ext cx="1101376" cy="850707"/>
          </a:xfrm>
          <a:prstGeom prst="rect">
            <a:avLst/>
          </a:prstGeom>
          <a:solidFill>
            <a:schemeClr val="tx2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68580" rIns="0" bIns="68580" rtlCol="0" anchor="t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75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Title</a:t>
            </a: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75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Name</a:t>
            </a: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75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me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99D18C86-F72A-5DD3-0B5C-494FBB7AEA58}"/>
              </a:ext>
            </a:extLst>
          </p:cNvPr>
          <p:cNvCxnSpPr/>
          <p:nvPr userDrawn="1"/>
        </p:nvCxnSpPr>
        <p:spPr>
          <a:xfrm>
            <a:off x="800100" y="3227484"/>
            <a:ext cx="1101376" cy="0"/>
          </a:xfrm>
          <a:prstGeom prst="line">
            <a:avLst/>
          </a:prstGeom>
          <a:ln w="25400">
            <a:solidFill>
              <a:srgbClr val="0C949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2E3458EF-85E6-8EA8-F54C-EA7AA61573F1}"/>
              </a:ext>
            </a:extLst>
          </p:cNvPr>
          <p:cNvSpPr/>
          <p:nvPr userDrawn="1"/>
        </p:nvSpPr>
        <p:spPr>
          <a:xfrm>
            <a:off x="2089532" y="3715565"/>
            <a:ext cx="1101376" cy="850707"/>
          </a:xfrm>
          <a:prstGeom prst="rect">
            <a:avLst/>
          </a:prstGeom>
          <a:solidFill>
            <a:schemeClr val="tx2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68580" rIns="0" bIns="68580" rtlCol="0" anchor="t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75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Title</a:t>
            </a: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75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Name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F40B7E8-6AC4-D4A6-32B9-1D4F2C91413B}"/>
              </a:ext>
            </a:extLst>
          </p:cNvPr>
          <p:cNvSpPr/>
          <p:nvPr userDrawn="1"/>
        </p:nvSpPr>
        <p:spPr>
          <a:xfrm>
            <a:off x="3378964" y="3227484"/>
            <a:ext cx="1101376" cy="394915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75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Title</a:t>
            </a: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75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Name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8290869-43A5-A32B-28D1-E902018C7CA2}"/>
              </a:ext>
            </a:extLst>
          </p:cNvPr>
          <p:cNvSpPr/>
          <p:nvPr userDrawn="1"/>
        </p:nvSpPr>
        <p:spPr>
          <a:xfrm>
            <a:off x="3378963" y="3715565"/>
            <a:ext cx="1101376" cy="850707"/>
          </a:xfrm>
          <a:prstGeom prst="rect">
            <a:avLst/>
          </a:prstGeom>
          <a:solidFill>
            <a:schemeClr val="tx2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68580" rIns="0" bIns="68580" rtlCol="0" anchor="t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75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Title</a:t>
            </a: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75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Name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32FB3649-E735-BBF9-47E6-39EB04F2DBE8}"/>
              </a:ext>
            </a:extLst>
          </p:cNvPr>
          <p:cNvCxnSpPr>
            <a:cxnSpLocks/>
          </p:cNvCxnSpPr>
          <p:nvPr userDrawn="1"/>
        </p:nvCxnSpPr>
        <p:spPr>
          <a:xfrm>
            <a:off x="3378963" y="3227484"/>
            <a:ext cx="1101376" cy="0"/>
          </a:xfrm>
          <a:prstGeom prst="line">
            <a:avLst/>
          </a:prstGeom>
          <a:ln w="25400">
            <a:solidFill>
              <a:srgbClr val="0C949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A7A61201-1ED0-60B6-7AA2-ABA45752EA03}"/>
              </a:ext>
            </a:extLst>
          </p:cNvPr>
          <p:cNvSpPr/>
          <p:nvPr userDrawn="1"/>
        </p:nvSpPr>
        <p:spPr>
          <a:xfrm>
            <a:off x="4668396" y="3715565"/>
            <a:ext cx="1101376" cy="850707"/>
          </a:xfrm>
          <a:prstGeom prst="rect">
            <a:avLst/>
          </a:prstGeom>
          <a:solidFill>
            <a:schemeClr val="tx2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68580" rIns="0" bIns="68580" rtlCol="0" anchor="t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75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Title</a:t>
            </a: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75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Name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4DF55A8-98D1-A185-F62F-93AB98DDEB31}"/>
              </a:ext>
            </a:extLst>
          </p:cNvPr>
          <p:cNvSpPr/>
          <p:nvPr userDrawn="1"/>
        </p:nvSpPr>
        <p:spPr>
          <a:xfrm>
            <a:off x="5957828" y="3227484"/>
            <a:ext cx="1101376" cy="394915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75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Title</a:t>
            </a: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75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Name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A8CD26D-CB1D-3E76-A8AB-2D14FCCB7F96}"/>
              </a:ext>
            </a:extLst>
          </p:cNvPr>
          <p:cNvSpPr/>
          <p:nvPr userDrawn="1"/>
        </p:nvSpPr>
        <p:spPr>
          <a:xfrm>
            <a:off x="5957827" y="3715565"/>
            <a:ext cx="1101376" cy="850707"/>
          </a:xfrm>
          <a:prstGeom prst="rect">
            <a:avLst/>
          </a:prstGeom>
          <a:solidFill>
            <a:schemeClr val="tx2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68580" rIns="0" bIns="68580" rtlCol="0" anchor="t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75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Title</a:t>
            </a: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75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Name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5A671191-B457-835A-A7AF-BA7D7FD86A19}"/>
              </a:ext>
            </a:extLst>
          </p:cNvPr>
          <p:cNvCxnSpPr>
            <a:cxnSpLocks/>
          </p:cNvCxnSpPr>
          <p:nvPr userDrawn="1"/>
        </p:nvCxnSpPr>
        <p:spPr>
          <a:xfrm>
            <a:off x="5957826" y="3227484"/>
            <a:ext cx="1101377" cy="0"/>
          </a:xfrm>
          <a:prstGeom prst="line">
            <a:avLst/>
          </a:prstGeom>
          <a:ln w="25400">
            <a:solidFill>
              <a:srgbClr val="0C949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720A1E7A-AD9A-88CE-9912-7FC60150F2AE}"/>
              </a:ext>
            </a:extLst>
          </p:cNvPr>
          <p:cNvSpPr/>
          <p:nvPr userDrawn="1"/>
        </p:nvSpPr>
        <p:spPr>
          <a:xfrm>
            <a:off x="7247260" y="3227484"/>
            <a:ext cx="1101376" cy="394915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75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Title</a:t>
            </a: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75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Name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B706640-9F57-5BC7-BE27-621E3F8002FB}"/>
              </a:ext>
            </a:extLst>
          </p:cNvPr>
          <p:cNvSpPr/>
          <p:nvPr userDrawn="1"/>
        </p:nvSpPr>
        <p:spPr>
          <a:xfrm>
            <a:off x="7247259" y="3715565"/>
            <a:ext cx="1101376" cy="850707"/>
          </a:xfrm>
          <a:prstGeom prst="rect">
            <a:avLst/>
          </a:prstGeom>
          <a:solidFill>
            <a:schemeClr val="tx2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68580" rIns="0" bIns="68580" rtlCol="0" anchor="t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75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Title</a:t>
            </a: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75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Name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6E082510-E2A9-041C-85B5-BB6B33B763B6}"/>
              </a:ext>
            </a:extLst>
          </p:cNvPr>
          <p:cNvCxnSpPr>
            <a:cxnSpLocks/>
          </p:cNvCxnSpPr>
          <p:nvPr userDrawn="1"/>
        </p:nvCxnSpPr>
        <p:spPr>
          <a:xfrm>
            <a:off x="7247259" y="3227484"/>
            <a:ext cx="1101376" cy="0"/>
          </a:xfrm>
          <a:prstGeom prst="line">
            <a:avLst/>
          </a:prstGeom>
          <a:ln w="25400">
            <a:solidFill>
              <a:srgbClr val="0C949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5EB9F23A-BB0A-E27A-901F-B89B966E9304}"/>
              </a:ext>
            </a:extLst>
          </p:cNvPr>
          <p:cNvSpPr/>
          <p:nvPr userDrawn="1"/>
        </p:nvSpPr>
        <p:spPr>
          <a:xfrm>
            <a:off x="5957826" y="2437392"/>
            <a:ext cx="1101376" cy="394915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75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Title</a:t>
            </a: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75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Name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325BC5E-8407-09A2-FA83-670E06E4C96F}"/>
              </a:ext>
            </a:extLst>
          </p:cNvPr>
          <p:cNvSpPr/>
          <p:nvPr userDrawn="1"/>
        </p:nvSpPr>
        <p:spPr>
          <a:xfrm>
            <a:off x="2089531" y="2437392"/>
            <a:ext cx="1101376" cy="394915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75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Title</a:t>
            </a: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75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Name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95DB9F61-8CE6-70CF-D140-5155807C2EA3}"/>
              </a:ext>
            </a:extLst>
          </p:cNvPr>
          <p:cNvCxnSpPr>
            <a:cxnSpLocks/>
          </p:cNvCxnSpPr>
          <p:nvPr userDrawn="1"/>
        </p:nvCxnSpPr>
        <p:spPr>
          <a:xfrm>
            <a:off x="2089531" y="3715564"/>
            <a:ext cx="3680240" cy="0"/>
          </a:xfrm>
          <a:prstGeom prst="line">
            <a:avLst/>
          </a:prstGeom>
          <a:ln w="254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0457AC59-702F-023C-95BF-743786F5F40B}"/>
              </a:ext>
            </a:extLst>
          </p:cNvPr>
          <p:cNvCxnSpPr/>
          <p:nvPr userDrawn="1"/>
        </p:nvCxnSpPr>
        <p:spPr>
          <a:xfrm>
            <a:off x="800100" y="3715564"/>
            <a:ext cx="1101376" cy="0"/>
          </a:xfrm>
          <a:prstGeom prst="line">
            <a:avLst/>
          </a:prstGeom>
          <a:ln w="254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6CD9EE13-5A97-2AA0-AFFD-1F00A78838E4}"/>
              </a:ext>
            </a:extLst>
          </p:cNvPr>
          <p:cNvCxnSpPr/>
          <p:nvPr userDrawn="1"/>
        </p:nvCxnSpPr>
        <p:spPr>
          <a:xfrm>
            <a:off x="5957828" y="3715564"/>
            <a:ext cx="1101376" cy="0"/>
          </a:xfrm>
          <a:prstGeom prst="line">
            <a:avLst/>
          </a:prstGeom>
          <a:ln w="254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4C7C41F0-150C-D7BE-ADCE-40A739F53E0E}"/>
              </a:ext>
            </a:extLst>
          </p:cNvPr>
          <p:cNvCxnSpPr/>
          <p:nvPr userDrawn="1"/>
        </p:nvCxnSpPr>
        <p:spPr>
          <a:xfrm>
            <a:off x="7247260" y="3715564"/>
            <a:ext cx="1101376" cy="0"/>
          </a:xfrm>
          <a:prstGeom prst="line">
            <a:avLst/>
          </a:prstGeom>
          <a:ln w="254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952CB33D-ED83-F2FE-FE4D-0E6252F14F49}"/>
              </a:ext>
            </a:extLst>
          </p:cNvPr>
          <p:cNvCxnSpPr>
            <a:stCxn id="13" idx="2"/>
            <a:endCxn id="14" idx="0"/>
          </p:cNvCxnSpPr>
          <p:nvPr userDrawn="1"/>
        </p:nvCxnSpPr>
        <p:spPr>
          <a:xfrm>
            <a:off x="4572000" y="2110477"/>
            <a:ext cx="0" cy="32691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202174DA-8E89-9D76-0F4B-0D7A71BE45A5}"/>
              </a:ext>
            </a:extLst>
          </p:cNvPr>
          <p:cNvCxnSpPr>
            <a:cxnSpLocks/>
          </p:cNvCxnSpPr>
          <p:nvPr userDrawn="1"/>
        </p:nvCxnSpPr>
        <p:spPr>
          <a:xfrm>
            <a:off x="4573254" y="2832307"/>
            <a:ext cx="0" cy="18469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DAC613B9-06D2-9F5D-B910-400B72499C29}"/>
              </a:ext>
            </a:extLst>
          </p:cNvPr>
          <p:cNvCxnSpPr>
            <a:cxnSpLocks/>
            <a:stCxn id="29" idx="1"/>
            <a:endCxn id="14" idx="3"/>
          </p:cNvCxnSpPr>
          <p:nvPr userDrawn="1"/>
        </p:nvCxnSpPr>
        <p:spPr>
          <a:xfrm flipH="1">
            <a:off x="5122687" y="2634850"/>
            <a:ext cx="835139" cy="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EBA7FF5A-22ED-B9F0-FD1D-693F004C0066}"/>
              </a:ext>
            </a:extLst>
          </p:cNvPr>
          <p:cNvCxnSpPr>
            <a:cxnSpLocks/>
            <a:stCxn id="14" idx="1"/>
            <a:endCxn id="30" idx="3"/>
          </p:cNvCxnSpPr>
          <p:nvPr userDrawn="1"/>
        </p:nvCxnSpPr>
        <p:spPr>
          <a:xfrm flipH="1" flipV="1">
            <a:off x="3190907" y="2634850"/>
            <a:ext cx="830405" cy="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5657728B-5461-B990-7430-7730A0E862F5}"/>
              </a:ext>
            </a:extLst>
          </p:cNvPr>
          <p:cNvCxnSpPr>
            <a:cxnSpLocks/>
          </p:cNvCxnSpPr>
          <p:nvPr userDrawn="1"/>
        </p:nvCxnSpPr>
        <p:spPr>
          <a:xfrm flipH="1">
            <a:off x="1346050" y="3016997"/>
            <a:ext cx="645189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C6ED73DA-F946-BE88-3716-FA13131841C7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9935" y="320175"/>
            <a:ext cx="2262282" cy="444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4004198"/>
      </p:ext>
    </p:extLst>
  </p:cSld>
  <p:clrMapOvr>
    <a:masterClrMapping/>
  </p:clrMapOvr>
  <p:transition spd="med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Section Cov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452438" y="1132295"/>
            <a:ext cx="8239125" cy="63341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000" b="1">
                <a:latin typeface="Arial" panose="020B0604020202020204" pitchFamily="34" charset="0"/>
                <a:ea typeface="Lato Medium"/>
                <a:cs typeface="Arial" panose="020B0604020202020204" pitchFamily="34" charset="0"/>
                <a:sym typeface="Lato Medium"/>
              </a:defRPr>
            </a:lvl1pPr>
          </a:lstStyle>
          <a:p>
            <a:r>
              <a:rPr dirty="0"/>
              <a:t>Slide Title</a:t>
            </a:r>
          </a:p>
        </p:txBody>
      </p:sp>
      <p:sp>
        <p:nvSpPr>
          <p:cNvPr id="59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452438" y="1932534"/>
            <a:ext cx="8239125" cy="365538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venir Book"/>
              </a:defRPr>
            </a:lvl1pPr>
            <a:lvl2pPr>
              <a:defRPr>
                <a:solidFill>
                  <a:srgbClr val="FFFFFF"/>
                </a:solidFill>
                <a:latin typeface="Avenir Book"/>
                <a:ea typeface="Avenir Book"/>
                <a:cs typeface="Avenir Book"/>
                <a:sym typeface="Avenir Book"/>
              </a:defRPr>
            </a:lvl2pPr>
            <a:lvl3pPr>
              <a:defRPr>
                <a:solidFill>
                  <a:srgbClr val="FFFFFF"/>
                </a:solidFill>
                <a:latin typeface="Avenir Book"/>
                <a:ea typeface="Avenir Book"/>
                <a:cs typeface="Avenir Book"/>
                <a:sym typeface="Avenir Book"/>
              </a:defRPr>
            </a:lvl3pPr>
            <a:lvl4pPr>
              <a:defRPr>
                <a:solidFill>
                  <a:srgbClr val="FFFFFF"/>
                </a:solidFill>
                <a:latin typeface="Avenir Book"/>
                <a:ea typeface="Avenir Book"/>
                <a:cs typeface="Avenir Book"/>
                <a:sym typeface="Avenir Book"/>
              </a:defRPr>
            </a:lvl4pPr>
            <a:lvl5pPr>
              <a:defRPr>
                <a:solidFill>
                  <a:srgbClr val="FFFFFF"/>
                </a:solidFill>
                <a:latin typeface="Avenir Book"/>
                <a:ea typeface="Avenir Book"/>
                <a:cs typeface="Avenir Book"/>
                <a:sym typeface="Avenir Book"/>
              </a:defRPr>
            </a:lvl5pPr>
          </a:lstStyle>
          <a:p>
            <a:r>
              <a:rPr dirty="0"/>
              <a:t>Slide bullet text</a:t>
            </a:r>
          </a:p>
          <a:p>
            <a:pPr lvl="1"/>
            <a:endParaRPr dirty="0"/>
          </a:p>
          <a:p>
            <a:pPr lvl="2"/>
            <a:endParaRPr dirty="0"/>
          </a:p>
          <a:p>
            <a:pPr lvl="3"/>
            <a:endParaRPr dirty="0"/>
          </a:p>
          <a:p>
            <a:pPr lvl="4"/>
            <a:endParaRPr dirty="0"/>
          </a:p>
        </p:txBody>
      </p:sp>
      <p:pic>
        <p:nvPicPr>
          <p:cNvPr id="60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2542" y="341274"/>
            <a:ext cx="1622467" cy="423772"/>
          </a:xfrm>
          <a:prstGeom prst="rect">
            <a:avLst/>
          </a:prstGeom>
          <a:ln w="12700">
            <a:miter lim="400000"/>
          </a:ln>
        </p:spPr>
      </p:pic>
      <p:pic>
        <p:nvPicPr>
          <p:cNvPr id="61" name="Image" descr="Imag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9150" y="348321"/>
            <a:ext cx="2084043" cy="409678"/>
          </a:xfrm>
          <a:prstGeom prst="rect">
            <a:avLst/>
          </a:prstGeom>
          <a:ln w="12700">
            <a:miter lim="400000"/>
          </a:ln>
        </p:spPr>
      </p:pic>
      <p:sp>
        <p:nvSpPr>
          <p:cNvPr id="6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98572587"/>
      </p:ext>
    </p:extLst>
  </p:cSld>
  <p:clrMapOvr>
    <a:masterClrMapping/>
  </p:clrMapOvr>
  <p:transition spd="med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, Bullets &amp; Photo copy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452438" y="1548134"/>
            <a:ext cx="3667125" cy="376238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309563">
              <a:spcBef>
                <a:spcPts val="0"/>
              </a:spcBef>
              <a:buSzTx/>
              <a:buNone/>
              <a:defRPr sz="2063">
                <a:solidFill>
                  <a:srgbClr val="FFFFFF"/>
                </a:solidFill>
                <a:latin typeface="Arial" panose="020B0604020202020204" pitchFamily="34" charset="0"/>
                <a:ea typeface="Lato Medium"/>
                <a:cs typeface="Arial" panose="020B0604020202020204" pitchFamily="34" charset="0"/>
                <a:sym typeface="Lato Medium"/>
              </a:defRPr>
            </a:lvl1pPr>
          </a:lstStyle>
          <a:p>
            <a:r>
              <a:rPr dirty="0"/>
              <a:t>Slide Subtitle</a:t>
            </a:r>
          </a:p>
        </p:txBody>
      </p:sp>
      <p:sp>
        <p:nvSpPr>
          <p:cNvPr id="81" name="Angular stone architecture in light and shadow"/>
          <p:cNvSpPr>
            <a:spLocks noGrp="1"/>
          </p:cNvSpPr>
          <p:nvPr>
            <p:ph type="pic" idx="22"/>
          </p:nvPr>
        </p:nvSpPr>
        <p:spPr>
          <a:xfrm>
            <a:off x="4643438" y="914721"/>
            <a:ext cx="4248150" cy="422878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>
            <a:lvl1pPr>
              <a:defRPr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dirty="0"/>
          </a:p>
        </p:txBody>
      </p:sp>
      <p:sp>
        <p:nvSpPr>
          <p:cNvPr id="82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452438" y="914722"/>
            <a:ext cx="3667125" cy="63341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000" b="1">
                <a:solidFill>
                  <a:schemeClr val="bg2"/>
                </a:solidFill>
                <a:latin typeface="Arial" panose="020B0604020202020204" pitchFamily="34" charset="0"/>
                <a:ea typeface="Lato Medium"/>
                <a:cs typeface="Arial" panose="020B0604020202020204" pitchFamily="34" charset="0"/>
                <a:sym typeface="Lato Medium"/>
              </a:defRPr>
            </a:lvl1pPr>
          </a:lstStyle>
          <a:p>
            <a:r>
              <a:rPr dirty="0"/>
              <a:t>Slide Title</a:t>
            </a:r>
          </a:p>
        </p:txBody>
      </p:sp>
      <p:sp>
        <p:nvSpPr>
          <p:cNvPr id="83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452438" y="2269786"/>
            <a:ext cx="3667125" cy="309623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venir Book"/>
              </a:defRPr>
            </a:lvl1pPr>
            <a:lvl2pPr>
              <a:defRPr>
                <a:solidFill>
                  <a:srgbClr val="FFFFFF"/>
                </a:solidFill>
                <a:latin typeface="Avenir Book"/>
                <a:ea typeface="Avenir Book"/>
                <a:cs typeface="Avenir Book"/>
                <a:sym typeface="Avenir Book"/>
              </a:defRPr>
            </a:lvl2pPr>
            <a:lvl3pPr>
              <a:defRPr>
                <a:solidFill>
                  <a:srgbClr val="FFFFFF"/>
                </a:solidFill>
                <a:latin typeface="Avenir Book"/>
                <a:ea typeface="Avenir Book"/>
                <a:cs typeface="Avenir Book"/>
                <a:sym typeface="Avenir Book"/>
              </a:defRPr>
            </a:lvl3pPr>
            <a:lvl4pPr>
              <a:defRPr>
                <a:solidFill>
                  <a:srgbClr val="FFFFFF"/>
                </a:solidFill>
                <a:latin typeface="Avenir Book"/>
                <a:ea typeface="Avenir Book"/>
                <a:cs typeface="Avenir Book"/>
                <a:sym typeface="Avenir Book"/>
              </a:defRPr>
            </a:lvl4pPr>
            <a:lvl5pPr>
              <a:defRPr>
                <a:solidFill>
                  <a:srgbClr val="FFFFFF"/>
                </a:solidFill>
                <a:latin typeface="Avenir Book"/>
                <a:ea typeface="Avenir Book"/>
                <a:cs typeface="Avenir Book"/>
                <a:sym typeface="Avenir Book"/>
              </a:defRPr>
            </a:lvl5pPr>
          </a:lstStyle>
          <a:p>
            <a:r>
              <a:rPr dirty="0"/>
              <a:t>Slide bullet text</a:t>
            </a:r>
          </a:p>
          <a:p>
            <a:pPr lvl="1"/>
            <a:endParaRPr dirty="0"/>
          </a:p>
          <a:p>
            <a:pPr lvl="2"/>
            <a:endParaRPr dirty="0"/>
          </a:p>
          <a:p>
            <a:pPr lvl="3"/>
            <a:endParaRPr dirty="0"/>
          </a:p>
          <a:p>
            <a:pPr lvl="4"/>
            <a:endParaRPr dirty="0"/>
          </a:p>
        </p:txBody>
      </p:sp>
      <p:pic>
        <p:nvPicPr>
          <p:cNvPr id="84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150" y="348321"/>
            <a:ext cx="2084043" cy="409678"/>
          </a:xfrm>
          <a:prstGeom prst="rect">
            <a:avLst/>
          </a:prstGeom>
          <a:ln w="12700">
            <a:miter lim="400000"/>
          </a:ln>
        </p:spPr>
      </p:pic>
      <p:sp>
        <p:nvSpPr>
          <p:cNvPr id="8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834438" y="4626519"/>
            <a:ext cx="203582" cy="206467"/>
          </a:xfrm>
          <a:prstGeom prst="rect">
            <a:avLst/>
          </a:prstGeom>
        </p:spPr>
        <p:txBody>
          <a:bodyPr/>
          <a:lstStyle>
            <a:lvl1pPr>
              <a:defRPr sz="675">
                <a:solidFill>
                  <a:srgbClr val="9BAABB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pic>
        <p:nvPicPr>
          <p:cNvPr id="2" name="Image" descr="Image">
            <a:extLst>
              <a:ext uri="{FF2B5EF4-FFF2-40B4-BE49-F238E27FC236}">
                <a16:creationId xmlns:a16="http://schemas.microsoft.com/office/drawing/2014/main" id="{E0110CDE-BA8C-6471-111A-C9BA55D2292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962542" y="341274"/>
            <a:ext cx="1622467" cy="423772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4162706996"/>
      </p:ext>
    </p:extLst>
  </p:cSld>
  <p:clrMapOvr>
    <a:masterClrMapping/>
  </p:clrMapOvr>
  <p:transition spd="med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Statem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2542" y="341274"/>
            <a:ext cx="1622467" cy="423772"/>
          </a:xfrm>
          <a:prstGeom prst="rect">
            <a:avLst/>
          </a:prstGeom>
          <a:ln w="12700">
            <a:miter lim="400000"/>
          </a:ln>
        </p:spPr>
      </p:pic>
      <p:pic>
        <p:nvPicPr>
          <p:cNvPr id="106" name="Image" descr="Imag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9150" y="348321"/>
            <a:ext cx="2084043" cy="409678"/>
          </a:xfrm>
          <a:prstGeom prst="rect">
            <a:avLst/>
          </a:prstGeom>
          <a:ln w="12700">
            <a:miter lim="400000"/>
          </a:ln>
        </p:spPr>
      </p:pic>
      <p:sp>
        <p:nvSpPr>
          <p:cNvPr id="107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452438" y="1571625"/>
            <a:ext cx="8239125" cy="15335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90000"/>
              </a:lnSpc>
              <a:spcBef>
                <a:spcPts val="0"/>
              </a:spcBef>
              <a:buSzTx/>
              <a:buNone/>
              <a:defRPr sz="4950" b="1" spc="-45">
                <a:solidFill>
                  <a:srgbClr val="FFFFFF"/>
                </a:solidFill>
                <a:latin typeface="Arial" panose="020B0604020202020204" pitchFamily="34" charset="0"/>
                <a:ea typeface="Lato Medium"/>
                <a:cs typeface="Arial" panose="020B0604020202020204" pitchFamily="34" charset="0"/>
                <a:sym typeface="Lato Medium"/>
              </a:defRPr>
            </a:lvl1pPr>
            <a:lvl2pPr marL="0" indent="171450" algn="ctr">
              <a:lnSpc>
                <a:spcPct val="90000"/>
              </a:lnSpc>
              <a:spcBef>
                <a:spcPts val="0"/>
              </a:spcBef>
              <a:buSzTx/>
              <a:buNone/>
              <a:defRPr sz="4500" spc="-45">
                <a:solidFill>
                  <a:srgbClr val="FFFFFF"/>
                </a:solidFill>
                <a:latin typeface="Lato Medium"/>
                <a:ea typeface="Lato Medium"/>
                <a:cs typeface="Lato Medium"/>
                <a:sym typeface="Lato Medium"/>
              </a:defRPr>
            </a:lvl2pPr>
            <a:lvl3pPr marL="0" indent="342900" algn="ctr">
              <a:lnSpc>
                <a:spcPct val="90000"/>
              </a:lnSpc>
              <a:spcBef>
                <a:spcPts val="0"/>
              </a:spcBef>
              <a:buSzTx/>
              <a:buNone/>
              <a:defRPr sz="2700" spc="-45">
                <a:solidFill>
                  <a:srgbClr val="FFFFFF"/>
                </a:solidFill>
                <a:latin typeface="Arial" panose="020B0604020202020204" pitchFamily="34" charset="0"/>
                <a:ea typeface="Lato Medium"/>
                <a:cs typeface="Arial" panose="020B0604020202020204" pitchFamily="34" charset="0"/>
                <a:sym typeface="Lato Medium"/>
              </a:defRPr>
            </a:lvl3pPr>
            <a:lvl4pPr marL="0" indent="514350" algn="ctr">
              <a:lnSpc>
                <a:spcPct val="90000"/>
              </a:lnSpc>
              <a:spcBef>
                <a:spcPts val="0"/>
              </a:spcBef>
              <a:buSzTx/>
              <a:buNone/>
              <a:defRPr sz="4500" spc="-45">
                <a:solidFill>
                  <a:srgbClr val="FFFFFF"/>
                </a:solidFill>
                <a:latin typeface="Lato Medium"/>
                <a:ea typeface="Lato Medium"/>
                <a:cs typeface="Lato Medium"/>
                <a:sym typeface="Lato Medium"/>
              </a:defRPr>
            </a:lvl4pPr>
            <a:lvl5pPr marL="0" indent="685800" algn="ctr">
              <a:lnSpc>
                <a:spcPct val="90000"/>
              </a:lnSpc>
              <a:spcBef>
                <a:spcPts val="0"/>
              </a:spcBef>
              <a:buSzTx/>
              <a:buNone/>
              <a:defRPr sz="4500" spc="-45">
                <a:solidFill>
                  <a:srgbClr val="FFFFFF"/>
                </a:solidFill>
                <a:latin typeface="Lato Medium"/>
                <a:ea typeface="Lato Medium"/>
                <a:cs typeface="Lato Medium"/>
                <a:sym typeface="Lato Medium"/>
              </a:defRPr>
            </a:lvl5pPr>
          </a:lstStyle>
          <a:p>
            <a:r>
              <a:rPr dirty="0"/>
              <a:t>Statement</a:t>
            </a:r>
          </a:p>
          <a:p>
            <a:pPr lvl="1"/>
            <a:endParaRPr dirty="0"/>
          </a:p>
          <a:p>
            <a:pPr lvl="2"/>
            <a:endParaRPr dirty="0"/>
          </a:p>
          <a:p>
            <a:pPr lvl="3"/>
            <a:endParaRPr dirty="0"/>
          </a:p>
          <a:p>
            <a:pPr lvl="4"/>
            <a:endParaRPr dirty="0"/>
          </a:p>
        </p:txBody>
      </p:sp>
      <p:sp>
        <p:nvSpPr>
          <p:cNvPr id="10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55580907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image" Target="../media/image3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7" name="Google Shape;7;p2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8" name="Google Shape;8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8BFB947-1426-7590-3885-9584C4B53F12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468" y="195359"/>
            <a:ext cx="1989842" cy="391297"/>
          </a:xfrm>
          <a:prstGeom prst="rect">
            <a:avLst/>
          </a:prstGeom>
        </p:spPr>
      </p:pic>
      <p:pic>
        <p:nvPicPr>
          <p:cNvPr id="3" name="Image" descr="Image">
            <a:extLst>
              <a:ext uri="{FF2B5EF4-FFF2-40B4-BE49-F238E27FC236}">
                <a16:creationId xmlns:a16="http://schemas.microsoft.com/office/drawing/2014/main" id="{0569BAA1-D9FD-F2C5-512A-329C6879DA9D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7159514" y="104879"/>
            <a:ext cx="1498132" cy="391297"/>
          </a:xfrm>
          <a:prstGeom prst="rect">
            <a:avLst/>
          </a:prstGeom>
          <a:ln w="12700">
            <a:miter lim="400000"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8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2B4718BE-1131-F93E-1FC7-8B3627086AF8}"/>
              </a:ext>
            </a:extLst>
          </p:cNvPr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676" y="310515"/>
            <a:ext cx="2262282" cy="444871"/>
          </a:xfrm>
          <a:prstGeom prst="rect">
            <a:avLst/>
          </a:prstGeom>
        </p:spPr>
      </p:pic>
      <p:sp>
        <p:nvSpPr>
          <p:cNvPr id="3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640682" y="1597741"/>
            <a:ext cx="8050881" cy="30960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pic>
        <p:nvPicPr>
          <p:cNvPr id="4" name="Image" descr="Image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962542" y="341274"/>
            <a:ext cx="1622467" cy="423772"/>
          </a:xfrm>
          <a:prstGeom prst="rect">
            <a:avLst/>
          </a:prstGeom>
          <a:ln w="12700">
            <a:miter lim="400000"/>
          </a:ln>
        </p:spPr>
      </p:pic>
      <p:sp>
        <p:nvSpPr>
          <p:cNvPr id="5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640682" y="864687"/>
            <a:ext cx="8050881" cy="6334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rPr dirty="0"/>
              <a:t>Slide Title</a:t>
            </a:r>
          </a:p>
        </p:txBody>
      </p:sp>
      <p:sp>
        <p:nvSpPr>
          <p:cNvPr id="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834437" y="4614978"/>
            <a:ext cx="214802" cy="218008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l" defTabSz="219075">
              <a:defRPr sz="75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lvl1pPr>
          </a:lstStyle>
          <a:p>
            <a:fld id="{86CB4B4D-7CA3-9044-876B-883B54F8677D}" type="slidenum">
              <a:t>‹#›</a:t>
            </a:fld>
            <a:endParaRPr dirty="0"/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A41D43C5-867A-4AF3-DB54-51AD522E5D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-1784423" y="2734537"/>
            <a:ext cx="3968299" cy="228599"/>
          </a:xfrm>
          <a:prstGeom prst="rect">
            <a:avLst/>
          </a:prstGeom>
        </p:spPr>
        <p:txBody>
          <a:bodyPr anchor="ctr"/>
          <a:lstStyle>
            <a:lvl1pPr algn="ctr">
              <a:defRPr sz="338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53745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  <p:sldLayoutId id="2147483676" r:id="rId15"/>
    <p:sldLayoutId id="2147483677" r:id="rId16"/>
  </p:sldLayoutIdLst>
  <p:transition spd="med"/>
  <p:hf sldNum="0" hdr="0" dt="0"/>
  <p:txStyles>
    <p:titleStyle>
      <a:lvl1pPr marL="0" marR="0" indent="0" algn="l" defTabSz="914377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000" b="1" i="0" u="none" strike="noStrike" cap="none" spc="-38" baseline="0">
          <a:solidFill>
            <a:schemeClr val="accent3"/>
          </a:solidFill>
          <a:uFillTx/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  <a:sym typeface="Produkt Extralight"/>
        </a:defRPr>
      </a:lvl1pPr>
      <a:lvl2pPr marL="0" marR="0" indent="171450" algn="l" defTabSz="914377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750" b="0" i="0" u="none" strike="noStrike" cap="none" spc="-38" baseline="0">
          <a:solidFill>
            <a:srgbClr val="FFFFFF"/>
          </a:solidFill>
          <a:uFillTx/>
          <a:latin typeface="Produkt Extralight"/>
          <a:ea typeface="Produkt Extralight"/>
          <a:cs typeface="Produkt Extralight"/>
          <a:sym typeface="Produkt Extralight"/>
        </a:defRPr>
      </a:lvl2pPr>
      <a:lvl3pPr marL="0" marR="0" indent="342900" algn="l" defTabSz="914377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750" b="0" i="0" u="none" strike="noStrike" cap="none" spc="-38" baseline="0">
          <a:solidFill>
            <a:srgbClr val="FFFFFF"/>
          </a:solidFill>
          <a:uFillTx/>
          <a:latin typeface="Produkt Extralight"/>
          <a:ea typeface="Produkt Extralight"/>
          <a:cs typeface="Produkt Extralight"/>
          <a:sym typeface="Produkt Extralight"/>
        </a:defRPr>
      </a:lvl3pPr>
      <a:lvl4pPr marL="0" marR="0" indent="514350" algn="l" defTabSz="914377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750" b="0" i="0" u="none" strike="noStrike" cap="none" spc="-38" baseline="0">
          <a:solidFill>
            <a:srgbClr val="FFFFFF"/>
          </a:solidFill>
          <a:uFillTx/>
          <a:latin typeface="Produkt Extralight"/>
          <a:ea typeface="Produkt Extralight"/>
          <a:cs typeface="Produkt Extralight"/>
          <a:sym typeface="Produkt Extralight"/>
        </a:defRPr>
      </a:lvl4pPr>
      <a:lvl5pPr marL="0" marR="0" indent="685800" algn="l" defTabSz="914377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750" b="0" i="0" u="none" strike="noStrike" cap="none" spc="-38" baseline="0">
          <a:solidFill>
            <a:srgbClr val="FFFFFF"/>
          </a:solidFill>
          <a:uFillTx/>
          <a:latin typeface="Produkt Extralight"/>
          <a:ea typeface="Produkt Extralight"/>
          <a:cs typeface="Produkt Extralight"/>
          <a:sym typeface="Produkt Extralight"/>
        </a:defRPr>
      </a:lvl5pPr>
      <a:lvl6pPr marL="0" marR="0" indent="857250" algn="l" defTabSz="914377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750" b="0" i="0" u="none" strike="noStrike" cap="none" spc="-38" baseline="0">
          <a:solidFill>
            <a:srgbClr val="FFFFFF"/>
          </a:solidFill>
          <a:uFillTx/>
          <a:latin typeface="Produkt Extralight"/>
          <a:ea typeface="Produkt Extralight"/>
          <a:cs typeface="Produkt Extralight"/>
          <a:sym typeface="Produkt Extralight"/>
        </a:defRPr>
      </a:lvl6pPr>
      <a:lvl7pPr marL="0" marR="0" indent="1028700" algn="l" defTabSz="914377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750" b="0" i="0" u="none" strike="noStrike" cap="none" spc="-38" baseline="0">
          <a:solidFill>
            <a:srgbClr val="FFFFFF"/>
          </a:solidFill>
          <a:uFillTx/>
          <a:latin typeface="Produkt Extralight"/>
          <a:ea typeface="Produkt Extralight"/>
          <a:cs typeface="Produkt Extralight"/>
          <a:sym typeface="Produkt Extralight"/>
        </a:defRPr>
      </a:lvl7pPr>
      <a:lvl8pPr marL="0" marR="0" indent="1200150" algn="l" defTabSz="914377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750" b="0" i="0" u="none" strike="noStrike" cap="none" spc="-38" baseline="0">
          <a:solidFill>
            <a:srgbClr val="FFFFFF"/>
          </a:solidFill>
          <a:uFillTx/>
          <a:latin typeface="Produkt Extralight"/>
          <a:ea typeface="Produkt Extralight"/>
          <a:cs typeface="Produkt Extralight"/>
          <a:sym typeface="Produkt Extralight"/>
        </a:defRPr>
      </a:lvl8pPr>
      <a:lvl9pPr marL="0" marR="0" indent="1371600" algn="l" defTabSz="914377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750" b="0" i="0" u="none" strike="noStrike" cap="none" spc="-38" baseline="0">
          <a:solidFill>
            <a:srgbClr val="FFFFFF"/>
          </a:solidFill>
          <a:uFillTx/>
          <a:latin typeface="Produkt Extralight"/>
          <a:ea typeface="Produkt Extralight"/>
          <a:cs typeface="Produkt Extralight"/>
          <a:sym typeface="Produkt Extralight"/>
        </a:defRPr>
      </a:lvl9pPr>
    </p:titleStyle>
    <p:bodyStyle>
      <a:lvl1pPr marL="171450" marR="0" indent="-171450" algn="l" defTabSz="914377" latinLnBrk="0">
        <a:lnSpc>
          <a:spcPct val="100000"/>
        </a:lnSpc>
        <a:spcBef>
          <a:spcPts val="1763"/>
        </a:spcBef>
        <a:spcAft>
          <a:spcPts val="0"/>
        </a:spcAft>
        <a:buClrTx/>
        <a:buSzPct val="100000"/>
        <a:buFontTx/>
        <a:buChar char="•"/>
        <a:tabLst/>
        <a:defRPr sz="1500" b="0" i="0" u="none" strike="noStrike" cap="none" spc="0" baseline="0">
          <a:solidFill>
            <a:srgbClr val="525F75"/>
          </a:solidFill>
          <a:uFillTx/>
          <a:latin typeface="Avenir Medium"/>
          <a:ea typeface="Avenir Medium"/>
          <a:cs typeface="Avenir Medium"/>
          <a:sym typeface="Avenir Medium"/>
        </a:defRPr>
      </a:lvl1pPr>
      <a:lvl2pPr marL="342900" marR="0" indent="-171450" algn="l" defTabSz="914377" latinLnBrk="0">
        <a:lnSpc>
          <a:spcPct val="100000"/>
        </a:lnSpc>
        <a:spcBef>
          <a:spcPts val="1763"/>
        </a:spcBef>
        <a:spcAft>
          <a:spcPts val="0"/>
        </a:spcAft>
        <a:buClrTx/>
        <a:buSzPct val="100000"/>
        <a:buFontTx/>
        <a:buChar char="•"/>
        <a:tabLst/>
        <a:defRPr sz="1500" b="0" i="0" u="none" strike="noStrike" cap="none" spc="0" baseline="0">
          <a:solidFill>
            <a:srgbClr val="525F75"/>
          </a:solidFill>
          <a:uFillTx/>
          <a:latin typeface="Avenir Medium"/>
          <a:ea typeface="Avenir Medium"/>
          <a:cs typeface="Avenir Medium"/>
          <a:sym typeface="Avenir Medium"/>
        </a:defRPr>
      </a:lvl2pPr>
      <a:lvl3pPr marL="514350" marR="0" indent="-171450" algn="l" defTabSz="914377" latinLnBrk="0">
        <a:lnSpc>
          <a:spcPct val="100000"/>
        </a:lnSpc>
        <a:spcBef>
          <a:spcPts val="1763"/>
        </a:spcBef>
        <a:spcAft>
          <a:spcPts val="0"/>
        </a:spcAft>
        <a:buClrTx/>
        <a:buSzPct val="100000"/>
        <a:buFontTx/>
        <a:buChar char="•"/>
        <a:tabLst/>
        <a:defRPr sz="1500" b="0" i="0" u="none" strike="noStrike" cap="none" spc="0" baseline="0">
          <a:solidFill>
            <a:srgbClr val="525F75"/>
          </a:solidFill>
          <a:uFillTx/>
          <a:latin typeface="Avenir Medium"/>
          <a:ea typeface="Avenir Medium"/>
          <a:cs typeface="Avenir Medium"/>
          <a:sym typeface="Avenir Medium"/>
        </a:defRPr>
      </a:lvl3pPr>
      <a:lvl4pPr marL="685800" marR="0" indent="-171450" algn="l" defTabSz="914377" latinLnBrk="0">
        <a:lnSpc>
          <a:spcPct val="100000"/>
        </a:lnSpc>
        <a:spcBef>
          <a:spcPts val="1763"/>
        </a:spcBef>
        <a:spcAft>
          <a:spcPts val="0"/>
        </a:spcAft>
        <a:buClrTx/>
        <a:buSzPct val="100000"/>
        <a:buFontTx/>
        <a:buChar char="•"/>
        <a:tabLst/>
        <a:defRPr sz="1500" b="0" i="0" u="none" strike="noStrike" cap="none" spc="0" baseline="0">
          <a:solidFill>
            <a:srgbClr val="525F75"/>
          </a:solidFill>
          <a:uFillTx/>
          <a:latin typeface="Avenir Medium"/>
          <a:ea typeface="Avenir Medium"/>
          <a:cs typeface="Avenir Medium"/>
          <a:sym typeface="Avenir Medium"/>
        </a:defRPr>
      </a:lvl4pPr>
      <a:lvl5pPr marL="857250" marR="0" indent="-171450" algn="l" defTabSz="914377" latinLnBrk="0">
        <a:lnSpc>
          <a:spcPct val="100000"/>
        </a:lnSpc>
        <a:spcBef>
          <a:spcPts val="1763"/>
        </a:spcBef>
        <a:spcAft>
          <a:spcPts val="0"/>
        </a:spcAft>
        <a:buClrTx/>
        <a:buSzPct val="100000"/>
        <a:buFontTx/>
        <a:buChar char="•"/>
        <a:tabLst/>
        <a:defRPr sz="1500" b="0" i="0" u="none" strike="noStrike" cap="none" spc="0" baseline="0">
          <a:solidFill>
            <a:srgbClr val="525F75"/>
          </a:solidFill>
          <a:uFillTx/>
          <a:latin typeface="Avenir Medium"/>
          <a:ea typeface="Avenir Medium"/>
          <a:cs typeface="Avenir Medium"/>
          <a:sym typeface="Avenir Medium"/>
        </a:defRPr>
      </a:lvl5pPr>
      <a:lvl6pPr marL="1028700" marR="0" indent="-171450" algn="l" defTabSz="914377" latinLnBrk="0">
        <a:lnSpc>
          <a:spcPct val="100000"/>
        </a:lnSpc>
        <a:spcBef>
          <a:spcPts val="1763"/>
        </a:spcBef>
        <a:spcAft>
          <a:spcPts val="0"/>
        </a:spcAft>
        <a:buClrTx/>
        <a:buSzPct val="100000"/>
        <a:buFontTx/>
        <a:buChar char="•"/>
        <a:tabLst/>
        <a:defRPr sz="1500" b="0" i="0" u="none" strike="noStrike" cap="none" spc="0" baseline="0">
          <a:solidFill>
            <a:srgbClr val="525F75"/>
          </a:solidFill>
          <a:uFillTx/>
          <a:latin typeface="Avenir Medium"/>
          <a:ea typeface="Avenir Medium"/>
          <a:cs typeface="Avenir Medium"/>
          <a:sym typeface="Avenir Medium"/>
        </a:defRPr>
      </a:lvl6pPr>
      <a:lvl7pPr marL="1200150" marR="0" indent="-171450" algn="l" defTabSz="914377" latinLnBrk="0">
        <a:lnSpc>
          <a:spcPct val="100000"/>
        </a:lnSpc>
        <a:spcBef>
          <a:spcPts val="1763"/>
        </a:spcBef>
        <a:spcAft>
          <a:spcPts val="0"/>
        </a:spcAft>
        <a:buClrTx/>
        <a:buSzPct val="100000"/>
        <a:buFontTx/>
        <a:buChar char="•"/>
        <a:tabLst/>
        <a:defRPr sz="1500" b="0" i="0" u="none" strike="noStrike" cap="none" spc="0" baseline="0">
          <a:solidFill>
            <a:srgbClr val="525F75"/>
          </a:solidFill>
          <a:uFillTx/>
          <a:latin typeface="Avenir Medium"/>
          <a:ea typeface="Avenir Medium"/>
          <a:cs typeface="Avenir Medium"/>
          <a:sym typeface="Avenir Medium"/>
        </a:defRPr>
      </a:lvl7pPr>
      <a:lvl8pPr marL="1371600" marR="0" indent="-171450" algn="l" defTabSz="914377" latinLnBrk="0">
        <a:lnSpc>
          <a:spcPct val="100000"/>
        </a:lnSpc>
        <a:spcBef>
          <a:spcPts val="1763"/>
        </a:spcBef>
        <a:spcAft>
          <a:spcPts val="0"/>
        </a:spcAft>
        <a:buClrTx/>
        <a:buSzPct val="100000"/>
        <a:buFontTx/>
        <a:buChar char="•"/>
        <a:tabLst/>
        <a:defRPr sz="1500" b="0" i="0" u="none" strike="noStrike" cap="none" spc="0" baseline="0">
          <a:solidFill>
            <a:srgbClr val="525F75"/>
          </a:solidFill>
          <a:uFillTx/>
          <a:latin typeface="Avenir Medium"/>
          <a:ea typeface="Avenir Medium"/>
          <a:cs typeface="Avenir Medium"/>
          <a:sym typeface="Avenir Medium"/>
        </a:defRPr>
      </a:lvl8pPr>
      <a:lvl9pPr marL="1543050" marR="0" indent="-171450" algn="l" defTabSz="914377" latinLnBrk="0">
        <a:lnSpc>
          <a:spcPct val="100000"/>
        </a:lnSpc>
        <a:spcBef>
          <a:spcPts val="1763"/>
        </a:spcBef>
        <a:spcAft>
          <a:spcPts val="0"/>
        </a:spcAft>
        <a:buClrTx/>
        <a:buSzPct val="100000"/>
        <a:buFontTx/>
        <a:buChar char="•"/>
        <a:tabLst/>
        <a:defRPr sz="1500" b="0" i="0" u="none" strike="noStrike" cap="none" spc="0" baseline="0">
          <a:solidFill>
            <a:srgbClr val="525F75"/>
          </a:solidFill>
          <a:uFillTx/>
          <a:latin typeface="Avenir Medium"/>
          <a:ea typeface="Avenir Medium"/>
          <a:cs typeface="Avenir Medium"/>
          <a:sym typeface="Avenir Medium"/>
        </a:defRPr>
      </a:lvl9pPr>
    </p:bodyStyle>
    <p:otherStyle>
      <a:lvl1pPr marL="0" marR="0" indent="0" algn="l" defTabSz="219075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5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1pPr>
      <a:lvl2pPr marL="0" marR="0" indent="171450" algn="l" defTabSz="219075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5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2pPr>
      <a:lvl3pPr marL="0" marR="0" indent="342900" algn="l" defTabSz="219075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5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3pPr>
      <a:lvl4pPr marL="0" marR="0" indent="514350" algn="l" defTabSz="219075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5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4pPr>
      <a:lvl5pPr marL="0" marR="0" indent="685800" algn="l" defTabSz="219075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5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5pPr>
      <a:lvl6pPr marL="0" marR="0" indent="857250" algn="l" defTabSz="219075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5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6pPr>
      <a:lvl7pPr marL="0" marR="0" indent="1028700" algn="l" defTabSz="219075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5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7pPr>
      <a:lvl8pPr marL="0" marR="0" indent="1200150" algn="l" defTabSz="219075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5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8pPr>
      <a:lvl9pPr marL="0" marR="0" indent="1371600" algn="l" defTabSz="219075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5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7" Type="http://schemas.microsoft.com/office/2007/relationships/hdphoto" Target="../media/hdphoto2.wdp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14.png"/><Relationship Id="rId4" Type="http://schemas.openxmlformats.org/officeDocument/2006/relationships/image" Target="../media/image13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emf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21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em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7.emf"/><Relationship Id="rId4" Type="http://schemas.openxmlformats.org/officeDocument/2006/relationships/image" Target="../media/image26.e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em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emf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2.emf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emf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4.emf"/><Relationship Id="rId4" Type="http://schemas.openxmlformats.org/officeDocument/2006/relationships/image" Target="../media/image34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TOP LINE PRESENTATION"/>
          <p:cNvSpPr txBox="1">
            <a:spLocks noGrp="1"/>
          </p:cNvSpPr>
          <p:nvPr>
            <p:ph type="title"/>
          </p:nvPr>
        </p:nvSpPr>
        <p:spPr>
          <a:xfrm>
            <a:off x="452436" y="1696751"/>
            <a:ext cx="8239127" cy="1743076"/>
          </a:xfrm>
          <a:prstGeom prst="rect">
            <a:avLst/>
          </a:prstGeo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Decarbonizing Water Desalination with Renewable Energy and Battery Storage Using Optimization Algorithms</a:t>
            </a:r>
            <a:endParaRPr sz="3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8" name="Presented by Miriam Coats…"/>
          <p:cNvSpPr txBox="1">
            <a:spLocks noGrp="1"/>
          </p:cNvSpPr>
          <p:nvPr>
            <p:ph type="body" sz="quarter" idx="1"/>
          </p:nvPr>
        </p:nvSpPr>
        <p:spPr>
          <a:xfrm>
            <a:off x="452436" y="3478708"/>
            <a:ext cx="8239126" cy="714376"/>
          </a:xfrm>
          <a:prstGeom prst="rect">
            <a:avLst/>
          </a:prstGeom>
        </p:spPr>
        <p:txBody>
          <a:bodyPr>
            <a:noAutofit/>
          </a:bodyPr>
          <a:lstStyle/>
          <a:p>
            <a:pPr defTabSz="294085">
              <a:lnSpc>
                <a:spcPct val="170000"/>
              </a:lnSpc>
              <a:defRPr sz="5225"/>
            </a:pPr>
            <a:r>
              <a:rPr lang="en-US" sz="2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Om Sanan</a:t>
            </a:r>
            <a:endParaRPr lang="en-GB" sz="2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defTabSz="294085">
              <a:lnSpc>
                <a:spcPct val="170000"/>
              </a:lnSpc>
              <a:defRPr sz="5225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December 2024</a:t>
            </a: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2cb7789cb2f_0_47"/>
          <p:cNvSpPr txBox="1">
            <a:spLocks noGrp="1"/>
          </p:cNvSpPr>
          <p:nvPr>
            <p:ph type="title"/>
          </p:nvPr>
        </p:nvSpPr>
        <p:spPr>
          <a:xfrm>
            <a:off x="311700" y="494466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000" dirty="0"/>
              <a:t>Vision </a:t>
            </a:r>
            <a:endParaRPr sz="3000" dirty="0"/>
          </a:p>
        </p:txBody>
      </p:sp>
      <p:sp>
        <p:nvSpPr>
          <p:cNvPr id="60" name="Google Shape;60;g2cb7789cb2f_0_4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  <p:sp>
        <p:nvSpPr>
          <p:cNvPr id="61" name="Google Shape;61;g2cb7789cb2f_0_47"/>
          <p:cNvSpPr txBox="1">
            <a:spLocks noGrp="1"/>
          </p:cNvSpPr>
          <p:nvPr>
            <p:ph type="body" idx="1"/>
          </p:nvPr>
        </p:nvSpPr>
        <p:spPr>
          <a:xfrm>
            <a:off x="282697" y="685653"/>
            <a:ext cx="8299402" cy="455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525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71"/>
              <a:buNone/>
            </a:pPr>
            <a:endParaRPr sz="1600" b="1" dirty="0">
              <a:solidFill>
                <a:srgbClr val="000000"/>
              </a:solidFill>
            </a:endParaRPr>
          </a:p>
          <a:p>
            <a:pPr marL="438150" indent="-299421">
              <a:buClr>
                <a:srgbClr val="000000"/>
              </a:buClr>
              <a:buSzPts val="1600"/>
            </a:pPr>
            <a:r>
              <a:rPr lang="en-US" b="1" dirty="0">
                <a:solidFill>
                  <a:schemeClr val="accent1"/>
                </a:solidFill>
              </a:rPr>
              <a:t>Vision</a:t>
            </a:r>
          </a:p>
          <a:p>
            <a:pPr marL="895350" lvl="1" indent="-301661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</a:pPr>
            <a:r>
              <a:rPr lang="en" sz="1600" dirty="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Resilient Water Supply Infrastructure</a:t>
            </a:r>
          </a:p>
          <a:p>
            <a:pPr marL="1352550" lvl="2" indent="-301661">
              <a:buClr>
                <a:srgbClr val="000000"/>
              </a:buClr>
              <a:buSzPts val="1600"/>
              <a:buChar char="○"/>
            </a:pPr>
            <a:r>
              <a:rPr lang="en" dirty="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Water Security and Energy Independence</a:t>
            </a:r>
            <a:endParaRPr dirty="0"/>
          </a:p>
          <a:p>
            <a:pPr marL="895350" lvl="1" indent="-301661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</a:pPr>
            <a:r>
              <a:rPr lang="en" sz="1600" dirty="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Decarbonization Desalination</a:t>
            </a:r>
          </a:p>
          <a:p>
            <a:pPr marL="1352550" lvl="2" indent="-301661">
              <a:buClr>
                <a:srgbClr val="000000"/>
              </a:buClr>
              <a:buSzPts val="1600"/>
              <a:buChar char="○"/>
            </a:pPr>
            <a:r>
              <a:rPr lang="en" dirty="0">
                <a:solidFill>
                  <a:srgbClr val="222222"/>
                </a:solidFill>
                <a:highlight>
                  <a:srgbClr val="FFFFFF"/>
                </a:highlight>
              </a:rPr>
              <a:t>Hybrid Renewable Energy and Battery Storage</a:t>
            </a:r>
            <a:endParaRPr dirty="0">
              <a:solidFill>
                <a:srgbClr val="000000"/>
              </a:solidFill>
            </a:endParaRPr>
          </a:p>
          <a:p>
            <a:pPr marL="895350" lvl="1" indent="-301661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</a:pPr>
            <a:r>
              <a:rPr lang="en" sz="1600" dirty="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AI-driven Solutions</a:t>
            </a:r>
            <a:endParaRPr sz="1600" dirty="0"/>
          </a:p>
          <a:p>
            <a:pPr marL="438150" lvl="0" indent="-19782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</a:pPr>
            <a:endParaRPr lang="en-US" sz="6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38150" indent="-299421">
              <a:buClr>
                <a:srgbClr val="000000"/>
              </a:buClr>
              <a:buSzPts val="1600"/>
            </a:pPr>
            <a:r>
              <a:rPr lang="en-US" b="1" dirty="0">
                <a:solidFill>
                  <a:schemeClr val="accent1"/>
                </a:solidFill>
              </a:rPr>
              <a:t>Uniqueness</a:t>
            </a:r>
          </a:p>
          <a:p>
            <a:pPr marL="895350" lvl="1" indent="-301661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</a:pPr>
            <a:r>
              <a:rPr lang="en"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Decarbonization solution for new and existing water desal. plants</a:t>
            </a:r>
          </a:p>
          <a:p>
            <a:pPr marL="1352550" lvl="2" indent="-301661">
              <a:buClr>
                <a:srgbClr val="000000"/>
              </a:buClr>
              <a:buSzPts val="1600"/>
              <a:buChar char="○"/>
            </a:pPr>
            <a:r>
              <a:rPr lang="en" dirty="0">
                <a:solidFill>
                  <a:srgbClr val="000000"/>
                </a:solidFill>
              </a:rPr>
              <a:t>4 Real-life desal plants case studies</a:t>
            </a:r>
            <a:endParaRPr lang="en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593689" lvl="1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</a:pPr>
            <a:endParaRPr lang="en" sz="4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895350" lvl="1" indent="-301661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</a:pPr>
            <a:r>
              <a:rPr lang="en"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Creation of an Automated Energy Management System (EMS) </a:t>
            </a:r>
            <a:r>
              <a:rPr lang="en" sz="1600" dirty="0">
                <a:solidFill>
                  <a:srgbClr val="000000"/>
                </a:solidFill>
              </a:rPr>
              <a:t>that can:</a:t>
            </a:r>
            <a:endParaRPr sz="1600" dirty="0"/>
          </a:p>
          <a:p>
            <a:pPr marL="1352550" lvl="2" indent="-301661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</a:pPr>
            <a:r>
              <a:rPr lang="en-US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Process data from multiple sources in real time</a:t>
            </a:r>
            <a:r>
              <a:rPr lang="en-US" dirty="0">
                <a:solidFill>
                  <a:srgbClr val="000000"/>
                </a:solidFill>
              </a:rPr>
              <a:t> </a:t>
            </a:r>
            <a:endParaRPr lang="en-US" dirty="0"/>
          </a:p>
          <a:p>
            <a:pPr marL="1352550" lvl="2" indent="-301661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</a:pPr>
            <a:r>
              <a:rPr lang="en-US" dirty="0">
                <a:solidFill>
                  <a:srgbClr val="000000"/>
                </a:solidFill>
              </a:rPr>
              <a:t>Automatically obtain data via APIs</a:t>
            </a:r>
            <a:endParaRPr lang="en-US" dirty="0"/>
          </a:p>
          <a:p>
            <a:pPr marL="1352550" lvl="2" indent="-301661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</a:pPr>
            <a:r>
              <a:rPr lang="en-US" dirty="0">
                <a:solidFill>
                  <a:schemeClr val="dk1"/>
                </a:solidFill>
              </a:rPr>
              <a:t>Use </a:t>
            </a:r>
            <a:r>
              <a:rPr lang="en-US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ML forecasting models &amp; optimization algorithms to align RE generation with energy demand on an hourly basis</a:t>
            </a:r>
            <a:endParaRPr lang="en-US" dirty="0"/>
          </a:p>
          <a:p>
            <a:pPr marL="9525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71"/>
              <a:buNone/>
            </a:pPr>
            <a:endParaRPr sz="1600" b="1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6"/>
          <p:cNvSpPr txBox="1">
            <a:spLocks noGrp="1"/>
          </p:cNvSpPr>
          <p:nvPr>
            <p:ph type="title"/>
          </p:nvPr>
        </p:nvSpPr>
        <p:spPr>
          <a:xfrm>
            <a:off x="311700" y="534934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000" dirty="0"/>
              <a:t>Background</a:t>
            </a:r>
            <a:endParaRPr sz="3000" dirty="0"/>
          </a:p>
        </p:txBody>
      </p:sp>
      <p:sp>
        <p:nvSpPr>
          <p:cNvPr id="67" name="Google Shape;67;p36"/>
          <p:cNvSpPr txBox="1">
            <a:spLocks noGrp="1"/>
          </p:cNvSpPr>
          <p:nvPr>
            <p:ph type="body" idx="1"/>
          </p:nvPr>
        </p:nvSpPr>
        <p:spPr>
          <a:xfrm>
            <a:off x="282696" y="747714"/>
            <a:ext cx="8738400" cy="43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525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71"/>
              <a:buNone/>
            </a:pPr>
            <a:endParaRPr sz="1600" b="1">
              <a:solidFill>
                <a:srgbClr val="000000"/>
              </a:solidFill>
            </a:endParaRPr>
          </a:p>
          <a:p>
            <a:pPr marL="9525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71"/>
              <a:buNone/>
            </a:pPr>
            <a:endParaRPr sz="1600" b="1">
              <a:solidFill>
                <a:srgbClr val="000000"/>
              </a:solidFill>
            </a:endParaRPr>
          </a:p>
        </p:txBody>
      </p:sp>
      <p:sp>
        <p:nvSpPr>
          <p:cNvPr id="68" name="Google Shape;68;p3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  <p:graphicFrame>
        <p:nvGraphicFramePr>
          <p:cNvPr id="69" name="Google Shape;69;p36"/>
          <p:cNvGraphicFramePr/>
          <p:nvPr>
            <p:extLst>
              <p:ext uri="{D42A27DB-BD31-4B8C-83A1-F6EECF244321}">
                <p14:modId xmlns:p14="http://schemas.microsoft.com/office/powerpoint/2010/main" val="3152426966"/>
              </p:ext>
            </p:extLst>
          </p:nvPr>
        </p:nvGraphicFramePr>
        <p:xfrm>
          <a:off x="282695" y="1176012"/>
          <a:ext cx="8829900" cy="3720695"/>
        </p:xfrm>
        <a:graphic>
          <a:graphicData uri="http://schemas.openxmlformats.org/drawingml/2006/table">
            <a:tbl>
              <a:tblPr firstRow="1" bandRow="1">
                <a:noFill/>
                <a:tableStyleId>{03C8E665-70A1-4E61-A9FF-45C530C6B50D}</a:tableStyleId>
              </a:tblPr>
              <a:tblGrid>
                <a:gridCol w="4414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14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7547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1800" b="1" u="none" strike="noStrike" cap="none" dirty="0">
                          <a:solidFill>
                            <a:schemeClr val="dk1"/>
                          </a:solidFill>
                        </a:rPr>
                        <a:t>Global Water Scarcity </a:t>
                      </a:r>
                      <a:endParaRPr sz="1800" u="none" strike="noStrike" cap="none" dirty="0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endParaRPr sz="700" b="1" u="none" strike="noStrike" cap="none" dirty="0">
                        <a:solidFill>
                          <a:schemeClr val="dk1"/>
                        </a:solidFill>
                      </a:endParaRPr>
                    </a:p>
                    <a:p>
                      <a:pPr marL="285750" marR="0" lvl="0" indent="-2857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Char char="•"/>
                      </a:pPr>
                      <a:r>
                        <a:rPr lang="en" sz="1600" b="0" u="none" strike="noStrike" cap="none" dirty="0">
                          <a:solidFill>
                            <a:schemeClr val="dk1"/>
                          </a:solidFill>
                        </a:rPr>
                        <a:t>2 billion (26%) people lack access to clean water</a:t>
                      </a: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r>
                        <a:rPr lang="en" sz="1600" b="0" u="none" strike="noStrike" cap="none" dirty="0">
                          <a:solidFill>
                            <a:schemeClr val="dk1"/>
                          </a:solidFill>
                        </a:rPr>
                        <a:t> expected to double by 2050 (U.N.)</a:t>
                      </a:r>
                      <a:endParaRPr sz="1600" u="none" strike="noStrike" cap="none" dirty="0"/>
                    </a:p>
                    <a:p>
                      <a:pPr marL="285750" marR="0" lvl="0" indent="-2857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Char char="•"/>
                      </a:pPr>
                      <a:r>
                        <a:rPr lang="en" sz="1600" b="0" i="0" u="none" strike="noStrike" cap="none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Global Warming and Population growth are exacerbating the issue</a:t>
                      </a:r>
                      <a:endParaRPr sz="1600" u="none" strike="noStrike" cap="none"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u="none" strike="noStrike" cap="none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1800" b="1" u="none" strike="noStrike" cap="none" dirty="0"/>
                        <a:t>Problem Statement</a:t>
                      </a:r>
                      <a:endParaRPr sz="1800" u="none" strike="noStrike" cap="none"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endParaRPr sz="700" b="0" u="none" strike="noStrike" cap="none" dirty="0"/>
                    </a:p>
                    <a:p>
                      <a:pPr marL="285750" marR="0" lvl="0" indent="-2857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Char char="•"/>
                      </a:pPr>
                      <a:r>
                        <a:rPr lang="en" sz="1600" b="0" u="none" strike="noStrike" cap="none" dirty="0"/>
                        <a:t>Desalination can provide an abundant source of water, however, it is:</a:t>
                      </a:r>
                      <a:endParaRPr sz="1600" u="none" strike="noStrike" cap="none"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lang="en" sz="600" b="0" u="none" strike="noStrike" cap="none" dirty="0"/>
                        <a:t>      </a:t>
                      </a:r>
                      <a:endParaRPr sz="1400" u="none" strike="noStrike" cap="none" dirty="0"/>
                    </a:p>
                    <a:p>
                      <a:pPr marL="457200" marR="0" lvl="2" indent="-173036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Char char="•"/>
                      </a:pPr>
                      <a:r>
                        <a:rPr lang="en" sz="1400" b="0" u="none" strike="noStrike" cap="none" dirty="0"/>
                        <a:t>Expensive: Energy is 40% of total desal. cost</a:t>
                      </a:r>
                      <a:endParaRPr sz="1400" u="none" strike="noStrike" cap="none" dirty="0"/>
                    </a:p>
                    <a:p>
                      <a:pPr marL="457200" marR="0" lvl="2" indent="-173036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Char char="•"/>
                      </a:pPr>
                      <a:r>
                        <a:rPr lang="en" sz="1400" b="0" u="none" strike="noStrike" cap="none" dirty="0"/>
                        <a:t>Results in significant carbon emission</a:t>
                      </a:r>
                      <a:endParaRPr sz="1400" u="none" strike="noStrike" cap="none"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971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1800" b="1" u="none" strike="noStrike" cap="none" dirty="0"/>
                        <a:t>Renewable Energy &amp; Battery Storage</a:t>
                      </a:r>
                      <a:endParaRPr sz="1800" u="none" strike="noStrike" cap="none"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endParaRPr sz="700" u="none" strike="noStrike" cap="none" dirty="0"/>
                    </a:p>
                    <a:p>
                      <a:pPr marL="285750" marR="0" lvl="0" indent="-2857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Char char="•"/>
                      </a:pPr>
                      <a:r>
                        <a:rPr lang="en" sz="1400" u="none" strike="noStrike" cap="none" dirty="0"/>
                        <a:t>Abundant RE source; can replace 100% electricity</a:t>
                      </a:r>
                      <a:endParaRPr sz="1400" u="none" strike="noStrike" cap="none" dirty="0"/>
                    </a:p>
                    <a:p>
                      <a:pPr marL="285750" marR="0" lvl="0" indent="-2857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Char char="•"/>
                      </a:pPr>
                      <a:r>
                        <a:rPr lang="en" sz="1400" u="none" strike="noStrike" cap="none" dirty="0"/>
                        <a:t>RE cost has reduced ~80% over the last decade</a:t>
                      </a:r>
                      <a:endParaRPr sz="1400" u="none" strike="noStrike" cap="none" dirty="0"/>
                    </a:p>
                    <a:p>
                      <a:pPr marL="285750" marR="0" lvl="0" indent="-2857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Char char="•"/>
                      </a:pPr>
                      <a:r>
                        <a:rPr lang="en" sz="1400" u="none" strike="noStrike" cap="none" dirty="0"/>
                        <a:t>Currently powers only 1% of Desalination</a:t>
                      </a:r>
                      <a:endParaRPr sz="1400" u="none" strike="noStrike" cap="none" dirty="0"/>
                    </a:p>
                    <a:p>
                      <a:pPr marL="285750" marR="0" lvl="0" indent="-2857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Char char="•"/>
                      </a:pPr>
                      <a:r>
                        <a:rPr lang="en" sz="1400" u="none" strike="noStrike" cap="none" dirty="0"/>
                        <a:t>High initial CAPEX &amp; Intermittent nature of RE</a:t>
                      </a:r>
                      <a:endParaRPr sz="1400" u="none" strike="noStrike" cap="none" dirty="0"/>
                    </a:p>
                    <a:p>
                      <a:pPr marL="285750" marR="0" lvl="0" indent="-2857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Char char="•"/>
                      </a:pPr>
                      <a:r>
                        <a:rPr lang="en" sz="1400" u="sng" strike="noStrike" cap="none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r>
                        <a:rPr lang="en" sz="1400" u="sng" strike="noStrike" cap="none" dirty="0">
                          <a:solidFill>
                            <a:srgbClr val="0D0D0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attery storage</a:t>
                      </a:r>
                      <a:r>
                        <a:rPr lang="en" sz="1400" u="none" strike="noStrike" cap="none" dirty="0">
                          <a:solidFill>
                            <a:srgbClr val="0D0D0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: Facilitates the efficient utilization of RE, enabling grid stabilization, peak shaving, and load shifting but expensive</a:t>
                      </a:r>
                      <a:endParaRPr sz="1400" b="1" u="none" strike="noStrike" cap="non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1800" b="1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Gap in Research / Problem Statement</a:t>
                      </a:r>
                      <a:endParaRPr sz="1800" u="none" strike="noStrike" cap="none"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endParaRPr sz="1000" u="none" strike="noStrike" cap="non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285750" marR="0" lvl="0" indent="-2857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Char char="•"/>
                      </a:pPr>
                      <a:r>
                        <a:rPr lang="en" sz="160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Current studies use data that is either simulated or collected on a small scale</a:t>
                      </a:r>
                      <a:endParaRPr sz="1600" u="none" strike="noStrike" cap="none" dirty="0"/>
                    </a:p>
                    <a:p>
                      <a:pPr marL="285750" marR="0" lvl="0" indent="-2857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Char char="•"/>
                      </a:pPr>
                      <a:r>
                        <a:rPr lang="en" sz="160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Lack comprehensive assessment of multiple RE sources and optimization</a:t>
                      </a:r>
                      <a:endParaRPr sz="1600" u="none" strike="noStrike" cap="none" dirty="0"/>
                    </a:p>
                    <a:p>
                      <a:pPr marL="285750" marR="0" lvl="0" indent="-2413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endParaRPr sz="700" u="none" strike="noStrike" cap="none"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39"/>
          <p:cNvSpPr txBox="1">
            <a:spLocks noGrp="1"/>
          </p:cNvSpPr>
          <p:nvPr>
            <p:ph type="title"/>
          </p:nvPr>
        </p:nvSpPr>
        <p:spPr>
          <a:xfrm>
            <a:off x="311700" y="5835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000" dirty="0"/>
              <a:t>Research Overview</a:t>
            </a:r>
            <a:endParaRPr sz="3000" dirty="0"/>
          </a:p>
        </p:txBody>
      </p:sp>
      <p:sp>
        <p:nvSpPr>
          <p:cNvPr id="75" name="Google Shape;75;p39"/>
          <p:cNvSpPr txBox="1">
            <a:spLocks noGrp="1"/>
          </p:cNvSpPr>
          <p:nvPr>
            <p:ph type="body" idx="1"/>
          </p:nvPr>
        </p:nvSpPr>
        <p:spPr>
          <a:xfrm>
            <a:off x="269718" y="1118714"/>
            <a:ext cx="8738462" cy="42146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4394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765"/>
              <a:buChar char="●"/>
            </a:pPr>
            <a:r>
              <a:rPr lang="en" b="1" dirty="0">
                <a:solidFill>
                  <a:schemeClr val="dk1"/>
                </a:solidFill>
              </a:rPr>
              <a:t>Objective:</a:t>
            </a:r>
            <a:r>
              <a:rPr lang="en" dirty="0">
                <a:solidFill>
                  <a:schemeClr val="dk1"/>
                </a:solidFill>
              </a:rPr>
              <a:t> Obtain the optimal system sizing of hybrid RE sources and battery storage to decarbonize desalination</a:t>
            </a:r>
            <a:endParaRPr dirty="0"/>
          </a:p>
          <a:p>
            <a:pPr marL="914400" lvl="1" indent="-344394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765"/>
              <a:buChar char="●"/>
            </a:pPr>
            <a:r>
              <a:rPr lang="en" sz="1600" dirty="0">
                <a:solidFill>
                  <a:schemeClr val="dk1"/>
                </a:solidFill>
              </a:rPr>
              <a:t>Minimizing cost and carbon footprint </a:t>
            </a:r>
            <a:endParaRPr sz="1600" dirty="0"/>
          </a:p>
          <a:p>
            <a:pPr marL="914400" lvl="1" indent="-344394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765"/>
              <a:buChar char="●"/>
            </a:pPr>
            <a:r>
              <a:rPr lang="en" sz="1600" dirty="0">
                <a:solidFill>
                  <a:schemeClr val="dk1"/>
                </a:solidFill>
              </a:rPr>
              <a:t>Protects against energy price volatility </a:t>
            </a:r>
          </a:p>
          <a:p>
            <a:pPr marL="914400" lvl="1" indent="-344394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765"/>
              <a:buChar char="●"/>
            </a:pPr>
            <a:r>
              <a:rPr lang="en" sz="1600" dirty="0">
                <a:solidFill>
                  <a:schemeClr val="dk1"/>
                </a:solidFill>
              </a:rPr>
              <a:t>Obtain energy independence</a:t>
            </a:r>
            <a:endParaRPr sz="1600" dirty="0">
              <a:solidFill>
                <a:schemeClr val="dk1"/>
              </a:solidFill>
            </a:endParaRPr>
          </a:p>
          <a:p>
            <a:pPr marL="457200" lvl="0" indent="-344392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765"/>
              <a:buChar char="●"/>
            </a:pPr>
            <a:r>
              <a:rPr lang="en" b="1" dirty="0">
                <a:solidFill>
                  <a:schemeClr val="dk1"/>
                </a:solidFill>
              </a:rPr>
              <a:t>Real-life, mid-large size desalination plants</a:t>
            </a:r>
            <a:endParaRPr dirty="0"/>
          </a:p>
          <a:p>
            <a:pPr marL="457200" lvl="0" indent="-344394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765"/>
              <a:buChar char="●"/>
            </a:pPr>
            <a:r>
              <a:rPr lang="en" b="1" dirty="0">
                <a:solidFill>
                  <a:schemeClr val="dk1"/>
                </a:solidFill>
              </a:rPr>
              <a:t>Systems Evaluated:</a:t>
            </a:r>
            <a:r>
              <a:rPr lang="en" dirty="0">
                <a:solidFill>
                  <a:schemeClr val="dk1"/>
                </a:solidFill>
              </a:rPr>
              <a:t> PV, CSP, Wind Energy, Hydro Energy</a:t>
            </a:r>
            <a:r>
              <a:rPr lang="en" dirty="0"/>
              <a:t>, </a:t>
            </a:r>
            <a:r>
              <a:rPr lang="en" dirty="0">
                <a:solidFill>
                  <a:schemeClr val="dk1"/>
                </a:solidFill>
              </a:rPr>
              <a:t>Battery Storage</a:t>
            </a:r>
            <a:endParaRPr dirty="0"/>
          </a:p>
          <a:p>
            <a:pPr marL="457200" lvl="0" indent="-344394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765"/>
              <a:buChar char="●"/>
            </a:pPr>
            <a:r>
              <a:rPr lang="en" dirty="0">
                <a:solidFill>
                  <a:schemeClr val="dk1"/>
                </a:solidFill>
              </a:rPr>
              <a:t>Methods: (i) Sophisticated ML models to forecast water demand, energy consumption, and weather/environmental data; and (ii) Optimization algorithms to design an optimal RE and battery mix</a:t>
            </a:r>
            <a:endParaRPr dirty="0"/>
          </a:p>
          <a:p>
            <a:pPr marL="9525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18"/>
              <a:buNone/>
            </a:pPr>
            <a:endParaRPr b="1" dirty="0">
              <a:solidFill>
                <a:srgbClr val="000000"/>
              </a:solidFill>
            </a:endParaRPr>
          </a:p>
          <a:p>
            <a:pPr marL="4572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18"/>
              <a:buNone/>
            </a:pPr>
            <a:endParaRPr dirty="0">
              <a:solidFill>
                <a:srgbClr val="000000"/>
              </a:solidFill>
            </a:endParaRPr>
          </a:p>
        </p:txBody>
      </p:sp>
      <p:sp>
        <p:nvSpPr>
          <p:cNvPr id="76" name="Google Shape;76;p3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16FFCB-810A-1B29-6C14-4D9E8DEDA4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636278"/>
            <a:ext cx="8520600" cy="572700"/>
          </a:xfrm>
        </p:spPr>
        <p:txBody>
          <a:bodyPr>
            <a:noAutofit/>
          </a:bodyPr>
          <a:lstStyle/>
          <a:p>
            <a:pPr algn="ctr"/>
            <a:r>
              <a:rPr lang="en-US" sz="3000" dirty="0"/>
              <a:t>Summary of Four Desalination Facilities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405E96-C8F3-4447-7FA6-40E7A984E31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5</a:t>
            </a:fld>
            <a:endParaRPr lang="e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16AF660-AC14-B95B-100F-F036A11B288A}"/>
              </a:ext>
            </a:extLst>
          </p:cNvPr>
          <p:cNvSpPr txBox="1"/>
          <p:nvPr/>
        </p:nvSpPr>
        <p:spPr>
          <a:xfrm>
            <a:off x="158508" y="1160752"/>
            <a:ext cx="2605379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rgbClr val="000000"/>
                </a:solidFill>
              </a:rPr>
              <a:t>Desalination facilities:</a:t>
            </a:r>
          </a:p>
          <a:p>
            <a:pPr marL="457200" indent="-285750">
              <a:buFontTx/>
              <a:buChar char="-"/>
            </a:pPr>
            <a:r>
              <a:rPr lang="en-US" sz="1600" dirty="0"/>
              <a:t>Alameda, CA</a:t>
            </a:r>
          </a:p>
          <a:p>
            <a:pPr marL="457200" indent="-285750">
              <a:buFontTx/>
              <a:buChar char="-"/>
            </a:pPr>
            <a:r>
              <a:rPr lang="en-US" sz="1600" dirty="0">
                <a:solidFill>
                  <a:srgbClr val="000000"/>
                </a:solidFill>
              </a:rPr>
              <a:t>Hutchinson, TX</a:t>
            </a:r>
          </a:p>
          <a:p>
            <a:pPr marL="457200" indent="-285750">
              <a:buFontTx/>
              <a:buChar char="-"/>
            </a:pPr>
            <a:r>
              <a:rPr lang="en-US" sz="1600" dirty="0"/>
              <a:t>SAWS, TX</a:t>
            </a:r>
          </a:p>
          <a:p>
            <a:pPr marL="457200" indent="-285750">
              <a:buFontTx/>
              <a:buChar char="-"/>
            </a:pPr>
            <a:r>
              <a:rPr lang="en-US" sz="1600" dirty="0">
                <a:solidFill>
                  <a:srgbClr val="000000"/>
                </a:solidFill>
              </a:rPr>
              <a:t>Tampa Bay, FL</a:t>
            </a:r>
            <a:endParaRPr lang="en-US" sz="1600" dirty="0"/>
          </a:p>
          <a:p>
            <a:pPr marL="171450"/>
            <a:endParaRPr lang="en-US" sz="1000" dirty="0"/>
          </a:p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800" dirty="0"/>
              <a:t>Combined electricity usage = </a:t>
            </a:r>
            <a:r>
              <a:rPr lang="en-US" sz="180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75 million kWh</a:t>
            </a:r>
          </a:p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en-US" sz="10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80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Conversion to 100% RE = ↓ 32,000 metric tons </a:t>
            </a:r>
            <a:r>
              <a:rPr lang="en-US" sz="1800" dirty="0"/>
              <a:t>of </a:t>
            </a:r>
            <a:r>
              <a:rPr lang="en-US" sz="180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annual carbon emissions = planting 1.2 million trees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6E58F53-D970-EB61-EE57-8396887D9789}"/>
              </a:ext>
            </a:extLst>
          </p:cNvPr>
          <p:cNvSpPr txBox="1"/>
          <p:nvPr/>
        </p:nvSpPr>
        <p:spPr>
          <a:xfrm>
            <a:off x="3149863" y="4815856"/>
            <a:ext cx="553709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https://</a:t>
            </a:r>
            <a:r>
              <a:rPr lang="en-US" sz="1200" dirty="0" err="1"/>
              <a:t>www.nrel.gov</a:t>
            </a:r>
            <a:r>
              <a:rPr lang="en-US" sz="1200" dirty="0"/>
              <a:t>/</a:t>
            </a:r>
            <a:r>
              <a:rPr lang="en-US" sz="1200" dirty="0" err="1"/>
              <a:t>gis</a:t>
            </a:r>
            <a:r>
              <a:rPr lang="en-US" sz="1200" dirty="0"/>
              <a:t>/assets/images/solar-annual-ghi-2018-usa-scale-01.jpg</a:t>
            </a:r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BB70094C-6322-FB29-5FBA-099BB8752D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2707" y="4873083"/>
            <a:ext cx="720587" cy="2059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5F735B9A-CDC6-7AA3-790C-C3DE332BC1BB}"/>
              </a:ext>
            </a:extLst>
          </p:cNvPr>
          <p:cNvGrpSpPr/>
          <p:nvPr/>
        </p:nvGrpSpPr>
        <p:grpSpPr>
          <a:xfrm>
            <a:off x="3129896" y="1160751"/>
            <a:ext cx="5598786" cy="3575283"/>
            <a:chOff x="2829722" y="960289"/>
            <a:chExt cx="6201480" cy="3930483"/>
          </a:xfrm>
        </p:grpSpPr>
        <p:pic>
          <p:nvPicPr>
            <p:cNvPr id="2050" name="Picture 2">
              <a:extLst>
                <a:ext uri="{FF2B5EF4-FFF2-40B4-BE49-F238E27FC236}">
                  <a16:creationId xmlns:a16="http://schemas.microsoft.com/office/drawing/2014/main" id="{E5ED718B-7772-20BA-3037-F6E335B939F3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187" t="2379" r="1813" b="3594"/>
            <a:stretch/>
          </p:blipFill>
          <p:spPr bwMode="auto">
            <a:xfrm>
              <a:off x="2829722" y="960289"/>
              <a:ext cx="6201480" cy="393048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5ACEB7A0-09A6-DE2E-AD2C-273CE58AEA4D}"/>
                </a:ext>
              </a:extLst>
            </p:cNvPr>
            <p:cNvGrpSpPr/>
            <p:nvPr/>
          </p:nvGrpSpPr>
          <p:grpSpPr>
            <a:xfrm>
              <a:off x="2953669" y="1979522"/>
              <a:ext cx="5887065" cy="2733058"/>
              <a:chOff x="2953669" y="1979522"/>
              <a:chExt cx="5887065" cy="2733058"/>
            </a:xfrm>
          </p:grpSpPr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4319D0A-D081-316D-1F45-70D16994993C}"/>
                  </a:ext>
                </a:extLst>
              </p:cNvPr>
              <p:cNvSpPr txBox="1"/>
              <p:nvPr/>
            </p:nvSpPr>
            <p:spPr>
              <a:xfrm>
                <a:off x="6573422" y="4179134"/>
                <a:ext cx="109998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chemeClr val="accent1"/>
                    </a:solidFill>
                  </a:rPr>
                  <a:t>Tampa Bay</a:t>
                </a:r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296CC58-6E10-D403-7460-27518B9A02FC}"/>
                  </a:ext>
                </a:extLst>
              </p:cNvPr>
              <p:cNvSpPr txBox="1"/>
              <p:nvPr/>
            </p:nvSpPr>
            <p:spPr>
              <a:xfrm>
                <a:off x="5822062" y="4263244"/>
                <a:ext cx="71526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chemeClr val="accent1"/>
                    </a:solidFill>
                  </a:rPr>
                  <a:t>SAWS</a:t>
                </a: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E3AA832-3562-D46F-C250-EDECBD6F8C40}"/>
                  </a:ext>
                </a:extLst>
              </p:cNvPr>
              <p:cNvSpPr txBox="1"/>
              <p:nvPr/>
            </p:nvSpPr>
            <p:spPr>
              <a:xfrm>
                <a:off x="6179692" y="3389669"/>
                <a:ext cx="1080745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chemeClr val="accent1"/>
                    </a:solidFill>
                  </a:rPr>
                  <a:t>Hutchinson</a:t>
                </a:r>
              </a:p>
            </p:txBody>
          </p:sp>
          <p:pic>
            <p:nvPicPr>
              <p:cNvPr id="14" name="Picture 6" descr="Red Pin PNG Transparent Images Free Download | Vector Files | Pngtree">
                <a:extLst>
                  <a:ext uri="{FF2B5EF4-FFF2-40B4-BE49-F238E27FC236}">
                    <a16:creationId xmlns:a16="http://schemas.microsoft.com/office/drawing/2014/main" id="{55EB6E37-106B-4D96-D9E0-EFBF0EDEE7E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backgroundRemoval t="10000" b="90000" l="10000" r="9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374692" y="3607085"/>
                <a:ext cx="876677" cy="87667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5" name="Picture 6" descr="Red Pin PNG Transparent Images Free Download | Vector Files | Pngtree">
                <a:extLst>
                  <a:ext uri="{FF2B5EF4-FFF2-40B4-BE49-F238E27FC236}">
                    <a16:creationId xmlns:a16="http://schemas.microsoft.com/office/drawing/2014/main" id="{40D52D18-BB9C-89C0-783B-ADA4E490574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backgroundRemoval t="10000" b="90000" l="10000" r="9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660645" y="3078586"/>
                <a:ext cx="876677" cy="87667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6" name="Picture 6" descr="Red Pin PNG Transparent Images Free Download | Vector Files | Pngtree">
                <a:extLst>
                  <a:ext uri="{FF2B5EF4-FFF2-40B4-BE49-F238E27FC236}">
                    <a16:creationId xmlns:a16="http://schemas.microsoft.com/office/drawing/2014/main" id="{F098E462-495F-25AF-0454-B29C8C495C7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7">
                        <a14:imgEffect>
                          <a14:backgroundRemoval t="10000" b="90000" l="10000" r="9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953669" y="1979522"/>
                <a:ext cx="876677" cy="87667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F3AAFA8-FE7A-E7A5-226F-A0197A6D783A}"/>
                  </a:ext>
                </a:extLst>
              </p:cNvPr>
              <p:cNvSpPr txBox="1"/>
              <p:nvPr/>
            </p:nvSpPr>
            <p:spPr>
              <a:xfrm>
                <a:off x="3377093" y="1989688"/>
                <a:ext cx="89159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chemeClr val="accent1"/>
                    </a:solidFill>
                  </a:rPr>
                  <a:t>Alameda</a:t>
                </a:r>
              </a:p>
            </p:txBody>
          </p:sp>
          <p:pic>
            <p:nvPicPr>
              <p:cNvPr id="18" name="Picture 2">
                <a:extLst>
                  <a:ext uri="{FF2B5EF4-FFF2-40B4-BE49-F238E27FC236}">
                    <a16:creationId xmlns:a16="http://schemas.microsoft.com/office/drawing/2014/main" id="{F4184919-CD79-A9B5-D2E7-DA213524DBF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8432" t="64344" r="4735" b="21065"/>
              <a:stretch/>
            </p:blipFill>
            <p:spPr bwMode="auto">
              <a:xfrm>
                <a:off x="7883367" y="3389669"/>
                <a:ext cx="957367" cy="132291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30" name="Picture 6" descr="Red Pin PNG Transparent Images Free Download | Vector Files | Pngtree">
                <a:extLst>
                  <a:ext uri="{FF2B5EF4-FFF2-40B4-BE49-F238E27FC236}">
                    <a16:creationId xmlns:a16="http://schemas.microsoft.com/office/drawing/2014/main" id="{8BBE946F-B70C-7C7E-C84C-504C01519B1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backgroundRemoval t="10000" b="90000" l="10000" r="9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261522" y="3618293"/>
                <a:ext cx="876677" cy="87667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</p:spTree>
    <p:extLst>
      <p:ext uri="{BB962C8B-B14F-4D97-AF65-F5344CB8AC3E}">
        <p14:creationId xmlns:p14="http://schemas.microsoft.com/office/powerpoint/2010/main" val="17123587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16FFCB-810A-1B29-6C14-4D9E8DEDA4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709787"/>
            <a:ext cx="8520600" cy="572700"/>
          </a:xfrm>
        </p:spPr>
        <p:txBody>
          <a:bodyPr>
            <a:noAutofit/>
          </a:bodyPr>
          <a:lstStyle/>
          <a:p>
            <a:pPr algn="ctr"/>
            <a:r>
              <a:rPr lang="en-US" sz="3000" dirty="0"/>
              <a:t>Desalination Plant Data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405E96-C8F3-4447-7FA6-40E7A984E31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6</a:t>
            </a:fld>
            <a:endParaRPr lang="en"/>
          </a:p>
        </p:txBody>
      </p:sp>
      <p:pic>
        <p:nvPicPr>
          <p:cNvPr id="6" name="Google Shape;83;p7">
            <a:extLst>
              <a:ext uri="{FF2B5EF4-FFF2-40B4-BE49-F238E27FC236}">
                <a16:creationId xmlns:a16="http://schemas.microsoft.com/office/drawing/2014/main" id="{E05F824D-9724-C932-AF07-5CB72D5BA906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79259" y="1510623"/>
            <a:ext cx="8093060" cy="306156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992596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695FB4A9-EFB8-DCD6-4845-1E1C058D154E}"/>
              </a:ext>
            </a:extLst>
          </p:cNvPr>
          <p:cNvSpPr txBox="1">
            <a:spLocks/>
          </p:cNvSpPr>
          <p:nvPr/>
        </p:nvSpPr>
        <p:spPr>
          <a:xfrm>
            <a:off x="311700" y="673564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1C367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3000" dirty="0"/>
              <a:t>Methodology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853FCE07-12F4-0686-C6AF-09F8409C2DB0}"/>
              </a:ext>
            </a:extLst>
          </p:cNvPr>
          <p:cNvGrpSpPr/>
          <p:nvPr/>
        </p:nvGrpSpPr>
        <p:grpSpPr>
          <a:xfrm>
            <a:off x="118737" y="1598241"/>
            <a:ext cx="8891040" cy="2497019"/>
            <a:chOff x="149089" y="1246264"/>
            <a:chExt cx="8891040" cy="2497019"/>
          </a:xfrm>
        </p:grpSpPr>
        <p:sp>
          <p:nvSpPr>
            <p:cNvPr id="2" name="Rounded Rectangle 1">
              <a:extLst>
                <a:ext uri="{FF2B5EF4-FFF2-40B4-BE49-F238E27FC236}">
                  <a16:creationId xmlns:a16="http://schemas.microsoft.com/office/drawing/2014/main" id="{03AF5E48-151B-3C4A-FD92-27E2975325AE}"/>
                </a:ext>
              </a:extLst>
            </p:cNvPr>
            <p:cNvSpPr/>
            <p:nvPr/>
          </p:nvSpPr>
          <p:spPr>
            <a:xfrm>
              <a:off x="149089" y="1675944"/>
              <a:ext cx="2300232" cy="2067339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600" dirty="0"/>
                <a:t>Forecasting Inputs (2023-2027)</a:t>
              </a:r>
            </a:p>
            <a:p>
              <a:pPr marL="285750" indent="-285750">
                <a:buClr>
                  <a:schemeClr val="bg1"/>
                </a:buClr>
                <a:buFont typeface="Arial" panose="020B0604020202020204" pitchFamily="34" charset="0"/>
                <a:buChar char="•"/>
              </a:pPr>
              <a:r>
                <a:rPr lang="en-US" dirty="0"/>
                <a:t>Energy Consumption &amp; Treated Water </a:t>
              </a:r>
            </a:p>
            <a:p>
              <a:pPr marL="285750" indent="-285750">
                <a:buClr>
                  <a:schemeClr val="bg1"/>
                </a:buClr>
                <a:buFont typeface="Arial" panose="020B0604020202020204" pitchFamily="34" charset="0"/>
                <a:buChar char="•"/>
              </a:pPr>
              <a:r>
                <a:rPr lang="en-US" dirty="0"/>
                <a:t>Wind, Temperature, and Solar Irradiance</a:t>
              </a:r>
            </a:p>
          </p:txBody>
        </p:sp>
        <p:sp>
          <p:nvSpPr>
            <p:cNvPr id="4" name="Right Arrow 3">
              <a:extLst>
                <a:ext uri="{FF2B5EF4-FFF2-40B4-BE49-F238E27FC236}">
                  <a16:creationId xmlns:a16="http://schemas.microsoft.com/office/drawing/2014/main" id="{33830E46-0454-258C-1660-C25AAA7587FC}"/>
                </a:ext>
              </a:extLst>
            </p:cNvPr>
            <p:cNvSpPr/>
            <p:nvPr/>
          </p:nvSpPr>
          <p:spPr>
            <a:xfrm>
              <a:off x="2487209" y="2356774"/>
              <a:ext cx="453629" cy="864704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" name="Rounded Rectangle 4">
              <a:extLst>
                <a:ext uri="{FF2B5EF4-FFF2-40B4-BE49-F238E27FC236}">
                  <a16:creationId xmlns:a16="http://schemas.microsoft.com/office/drawing/2014/main" id="{EC7BD660-188D-A09D-EFC5-E2ECD2EA4B39}"/>
                </a:ext>
              </a:extLst>
            </p:cNvPr>
            <p:cNvSpPr/>
            <p:nvPr/>
          </p:nvSpPr>
          <p:spPr>
            <a:xfrm>
              <a:off x="2969409" y="1675943"/>
              <a:ext cx="1626625" cy="2067339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600" dirty="0"/>
                <a:t>Estimate RE Generation for Wind, PV, and CSP</a:t>
              </a:r>
            </a:p>
          </p:txBody>
        </p:sp>
        <p:sp>
          <p:nvSpPr>
            <p:cNvPr id="7" name="Rounded Rectangle 6">
              <a:extLst>
                <a:ext uri="{FF2B5EF4-FFF2-40B4-BE49-F238E27FC236}">
                  <a16:creationId xmlns:a16="http://schemas.microsoft.com/office/drawing/2014/main" id="{4C001CDC-A0AE-7A5D-9710-205239EF8F5C}"/>
                </a:ext>
              </a:extLst>
            </p:cNvPr>
            <p:cNvSpPr/>
            <p:nvPr/>
          </p:nvSpPr>
          <p:spPr>
            <a:xfrm>
              <a:off x="7335091" y="1675942"/>
              <a:ext cx="1705038" cy="2067339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600" dirty="0"/>
                <a:t>Multi-objective Optimization</a:t>
              </a:r>
            </a:p>
            <a:p>
              <a:pPr marL="285750" indent="-285750">
                <a:buClr>
                  <a:schemeClr val="bg1"/>
                </a:buClr>
                <a:buFont typeface="Arial" panose="020B0604020202020204" pitchFamily="34" charset="0"/>
                <a:buChar char="•"/>
              </a:pPr>
              <a:r>
                <a:rPr lang="en-US" dirty="0"/>
                <a:t>Minimize CO2</a:t>
              </a:r>
            </a:p>
            <a:p>
              <a:pPr marL="285750" indent="-285750">
                <a:buClr>
                  <a:schemeClr val="bg1"/>
                </a:buClr>
                <a:buFont typeface="Arial" panose="020B0604020202020204" pitchFamily="34" charset="0"/>
                <a:buChar char="•"/>
              </a:pPr>
              <a:r>
                <a:rPr lang="en-US" dirty="0"/>
                <a:t>Minimize Cost</a:t>
              </a:r>
            </a:p>
          </p:txBody>
        </p:sp>
        <p:sp>
          <p:nvSpPr>
            <p:cNvPr id="8" name="Right Arrow 7">
              <a:extLst>
                <a:ext uri="{FF2B5EF4-FFF2-40B4-BE49-F238E27FC236}">
                  <a16:creationId xmlns:a16="http://schemas.microsoft.com/office/drawing/2014/main" id="{D2D2F339-48E1-2832-DBB0-048A41AB53DB}"/>
                </a:ext>
              </a:extLst>
            </p:cNvPr>
            <p:cNvSpPr/>
            <p:nvPr/>
          </p:nvSpPr>
          <p:spPr>
            <a:xfrm>
              <a:off x="6857312" y="2356774"/>
              <a:ext cx="453629" cy="864704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D7C3D9A3-4E53-4572-5344-4C8AB0A65D76}"/>
                </a:ext>
              </a:extLst>
            </p:cNvPr>
            <p:cNvSpPr txBox="1"/>
            <p:nvPr/>
          </p:nvSpPr>
          <p:spPr>
            <a:xfrm>
              <a:off x="1083365" y="1246264"/>
              <a:ext cx="8515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/>
                <a:t>Step 1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EBC6E8AE-4997-A05A-9518-F00FD6F01653}"/>
                </a:ext>
              </a:extLst>
            </p:cNvPr>
            <p:cNvSpPr txBox="1"/>
            <p:nvPr/>
          </p:nvSpPr>
          <p:spPr>
            <a:xfrm>
              <a:off x="3209992" y="1246264"/>
              <a:ext cx="8515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/>
                <a:t>Step 2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09AA285-90F2-F6C3-6C02-CE30810D5FAE}"/>
                </a:ext>
              </a:extLst>
            </p:cNvPr>
            <p:cNvSpPr txBox="1"/>
            <p:nvPr/>
          </p:nvSpPr>
          <p:spPr>
            <a:xfrm>
              <a:off x="5544492" y="1246264"/>
              <a:ext cx="8515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/>
                <a:t>Step 3</a:t>
              </a:r>
            </a:p>
          </p:txBody>
        </p:sp>
      </p:grpSp>
      <p:sp>
        <p:nvSpPr>
          <p:cNvPr id="12" name="Rounded Rectangle 4">
            <a:extLst>
              <a:ext uri="{FF2B5EF4-FFF2-40B4-BE49-F238E27FC236}">
                <a16:creationId xmlns:a16="http://schemas.microsoft.com/office/drawing/2014/main" id="{AF1693E5-61BD-B38B-D289-F5FB7E8C3D44}"/>
              </a:ext>
            </a:extLst>
          </p:cNvPr>
          <p:cNvSpPr/>
          <p:nvPr/>
        </p:nvSpPr>
        <p:spPr>
          <a:xfrm>
            <a:off x="5087202" y="2047525"/>
            <a:ext cx="1705038" cy="206733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/>
              <a:t>Total Cost &amp; CO2 Emissions for RE &amp; BS</a:t>
            </a:r>
          </a:p>
        </p:txBody>
      </p:sp>
      <p:sp>
        <p:nvSpPr>
          <p:cNvPr id="13" name="Right Arrow 7">
            <a:extLst>
              <a:ext uri="{FF2B5EF4-FFF2-40B4-BE49-F238E27FC236}">
                <a16:creationId xmlns:a16="http://schemas.microsoft.com/office/drawing/2014/main" id="{8B7C42EC-8BA6-5658-EB33-DA9CBC1CE134}"/>
              </a:ext>
            </a:extLst>
          </p:cNvPr>
          <p:cNvSpPr/>
          <p:nvPr/>
        </p:nvSpPr>
        <p:spPr>
          <a:xfrm>
            <a:off x="4604196" y="2735942"/>
            <a:ext cx="453629" cy="86470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FE337A8-4298-945C-9AF6-29347AEC2AF1}"/>
              </a:ext>
            </a:extLst>
          </p:cNvPr>
          <p:cNvSpPr txBox="1"/>
          <p:nvPr/>
        </p:nvSpPr>
        <p:spPr>
          <a:xfrm>
            <a:off x="7643316" y="1595083"/>
            <a:ext cx="8515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Step 4</a:t>
            </a:r>
          </a:p>
        </p:txBody>
      </p:sp>
    </p:spTree>
    <p:extLst>
      <p:ext uri="{BB962C8B-B14F-4D97-AF65-F5344CB8AC3E}">
        <p14:creationId xmlns:p14="http://schemas.microsoft.com/office/powerpoint/2010/main" val="8952201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695FB4A9-EFB8-DCD6-4845-1E1C058D154E}"/>
              </a:ext>
            </a:extLst>
          </p:cNvPr>
          <p:cNvSpPr txBox="1">
            <a:spLocks/>
          </p:cNvSpPr>
          <p:nvPr/>
        </p:nvSpPr>
        <p:spPr>
          <a:xfrm>
            <a:off x="311700" y="673564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1C367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3000" dirty="0"/>
              <a:t>Methodology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853FCE07-12F4-0686-C6AF-09F8409C2DB0}"/>
              </a:ext>
            </a:extLst>
          </p:cNvPr>
          <p:cNvGrpSpPr/>
          <p:nvPr/>
        </p:nvGrpSpPr>
        <p:grpSpPr>
          <a:xfrm>
            <a:off x="118737" y="1598241"/>
            <a:ext cx="8891040" cy="2497019"/>
            <a:chOff x="149089" y="1246264"/>
            <a:chExt cx="8891040" cy="2497019"/>
          </a:xfrm>
        </p:grpSpPr>
        <p:sp>
          <p:nvSpPr>
            <p:cNvPr id="2" name="Rounded Rectangle 1">
              <a:extLst>
                <a:ext uri="{FF2B5EF4-FFF2-40B4-BE49-F238E27FC236}">
                  <a16:creationId xmlns:a16="http://schemas.microsoft.com/office/drawing/2014/main" id="{03AF5E48-151B-3C4A-FD92-27E2975325AE}"/>
                </a:ext>
              </a:extLst>
            </p:cNvPr>
            <p:cNvSpPr/>
            <p:nvPr/>
          </p:nvSpPr>
          <p:spPr>
            <a:xfrm>
              <a:off x="149089" y="1675944"/>
              <a:ext cx="2300232" cy="2067339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600" dirty="0"/>
                <a:t>Forecasting Inputs (2023-2027)</a:t>
              </a:r>
            </a:p>
            <a:p>
              <a:pPr marL="285750" indent="-285750">
                <a:buClr>
                  <a:schemeClr val="bg1"/>
                </a:buClr>
                <a:buFont typeface="Arial" panose="020B0604020202020204" pitchFamily="34" charset="0"/>
                <a:buChar char="•"/>
              </a:pPr>
              <a:r>
                <a:rPr lang="en-US" dirty="0"/>
                <a:t>Energy Consumption &amp; Treated Water </a:t>
              </a:r>
            </a:p>
            <a:p>
              <a:pPr marL="285750" indent="-285750">
                <a:buClr>
                  <a:schemeClr val="bg1"/>
                </a:buClr>
                <a:buFont typeface="Arial" panose="020B0604020202020204" pitchFamily="34" charset="0"/>
                <a:buChar char="•"/>
              </a:pPr>
              <a:r>
                <a:rPr lang="en-US" dirty="0"/>
                <a:t>Wind, Temperature, and Solar Irradiance</a:t>
              </a:r>
            </a:p>
          </p:txBody>
        </p:sp>
        <p:sp>
          <p:nvSpPr>
            <p:cNvPr id="4" name="Right Arrow 3">
              <a:extLst>
                <a:ext uri="{FF2B5EF4-FFF2-40B4-BE49-F238E27FC236}">
                  <a16:creationId xmlns:a16="http://schemas.microsoft.com/office/drawing/2014/main" id="{33830E46-0454-258C-1660-C25AAA7587FC}"/>
                </a:ext>
              </a:extLst>
            </p:cNvPr>
            <p:cNvSpPr/>
            <p:nvPr/>
          </p:nvSpPr>
          <p:spPr>
            <a:xfrm>
              <a:off x="2487209" y="2356774"/>
              <a:ext cx="453629" cy="864704"/>
            </a:xfrm>
            <a:prstGeom prst="rightArrow">
              <a:avLst/>
            </a:prstGeom>
            <a:solidFill>
              <a:schemeClr val="accent1">
                <a:alpha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" name="Rounded Rectangle 4">
              <a:extLst>
                <a:ext uri="{FF2B5EF4-FFF2-40B4-BE49-F238E27FC236}">
                  <a16:creationId xmlns:a16="http://schemas.microsoft.com/office/drawing/2014/main" id="{EC7BD660-188D-A09D-EFC5-E2ECD2EA4B39}"/>
                </a:ext>
              </a:extLst>
            </p:cNvPr>
            <p:cNvSpPr/>
            <p:nvPr/>
          </p:nvSpPr>
          <p:spPr>
            <a:xfrm>
              <a:off x="2969409" y="1675943"/>
              <a:ext cx="1626625" cy="2067339"/>
            </a:xfrm>
            <a:prstGeom prst="roundRect">
              <a:avLst/>
            </a:prstGeom>
            <a:solidFill>
              <a:schemeClr val="accent1">
                <a:alpha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600" dirty="0"/>
                <a:t>Estimate RE Generation for Wind, PV, and CSP</a:t>
              </a:r>
            </a:p>
          </p:txBody>
        </p:sp>
        <p:sp>
          <p:nvSpPr>
            <p:cNvPr id="7" name="Rounded Rectangle 6">
              <a:extLst>
                <a:ext uri="{FF2B5EF4-FFF2-40B4-BE49-F238E27FC236}">
                  <a16:creationId xmlns:a16="http://schemas.microsoft.com/office/drawing/2014/main" id="{4C001CDC-A0AE-7A5D-9710-205239EF8F5C}"/>
                </a:ext>
              </a:extLst>
            </p:cNvPr>
            <p:cNvSpPr/>
            <p:nvPr/>
          </p:nvSpPr>
          <p:spPr>
            <a:xfrm>
              <a:off x="7335091" y="1675942"/>
              <a:ext cx="1705038" cy="2067339"/>
            </a:xfrm>
            <a:prstGeom prst="roundRect">
              <a:avLst/>
            </a:prstGeom>
            <a:solidFill>
              <a:schemeClr val="accent1">
                <a:alpha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600" dirty="0"/>
                <a:t>Multi-objective Optimization</a:t>
              </a:r>
            </a:p>
            <a:p>
              <a:pPr marL="285750" indent="-285750">
                <a:buClr>
                  <a:schemeClr val="bg1"/>
                </a:buClr>
                <a:buFont typeface="Arial" panose="020B0604020202020204" pitchFamily="34" charset="0"/>
                <a:buChar char="•"/>
              </a:pPr>
              <a:r>
                <a:rPr lang="en-US" dirty="0"/>
                <a:t>Minimize CO2</a:t>
              </a:r>
            </a:p>
            <a:p>
              <a:pPr marL="285750" indent="-285750">
                <a:buClr>
                  <a:schemeClr val="bg1"/>
                </a:buClr>
                <a:buFont typeface="Arial" panose="020B0604020202020204" pitchFamily="34" charset="0"/>
                <a:buChar char="•"/>
              </a:pPr>
              <a:r>
                <a:rPr lang="en-US" dirty="0"/>
                <a:t>Minimize Cost</a:t>
              </a:r>
            </a:p>
          </p:txBody>
        </p:sp>
        <p:sp>
          <p:nvSpPr>
            <p:cNvPr id="8" name="Right Arrow 7">
              <a:extLst>
                <a:ext uri="{FF2B5EF4-FFF2-40B4-BE49-F238E27FC236}">
                  <a16:creationId xmlns:a16="http://schemas.microsoft.com/office/drawing/2014/main" id="{D2D2F339-48E1-2832-DBB0-048A41AB53DB}"/>
                </a:ext>
              </a:extLst>
            </p:cNvPr>
            <p:cNvSpPr/>
            <p:nvPr/>
          </p:nvSpPr>
          <p:spPr>
            <a:xfrm>
              <a:off x="6857312" y="2356774"/>
              <a:ext cx="453629" cy="864704"/>
            </a:xfrm>
            <a:prstGeom prst="rightArrow">
              <a:avLst/>
            </a:prstGeom>
            <a:solidFill>
              <a:schemeClr val="accent1">
                <a:alpha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D7C3D9A3-4E53-4572-5344-4C8AB0A65D76}"/>
                </a:ext>
              </a:extLst>
            </p:cNvPr>
            <p:cNvSpPr txBox="1"/>
            <p:nvPr/>
          </p:nvSpPr>
          <p:spPr>
            <a:xfrm>
              <a:off x="1083365" y="1246264"/>
              <a:ext cx="8515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solidFill>
                    <a:srgbClr val="FF0000"/>
                  </a:solidFill>
                </a:rPr>
                <a:t>Step 1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EBC6E8AE-4997-A05A-9518-F00FD6F01653}"/>
                </a:ext>
              </a:extLst>
            </p:cNvPr>
            <p:cNvSpPr txBox="1"/>
            <p:nvPr/>
          </p:nvSpPr>
          <p:spPr>
            <a:xfrm>
              <a:off x="3209992" y="1246264"/>
              <a:ext cx="8515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/>
                <a:t>Step 2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09AA285-90F2-F6C3-6C02-CE30810D5FAE}"/>
                </a:ext>
              </a:extLst>
            </p:cNvPr>
            <p:cNvSpPr txBox="1"/>
            <p:nvPr/>
          </p:nvSpPr>
          <p:spPr>
            <a:xfrm>
              <a:off x="5544492" y="1246264"/>
              <a:ext cx="8515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/>
                <a:t>Step 3</a:t>
              </a:r>
            </a:p>
          </p:txBody>
        </p:sp>
      </p:grpSp>
      <p:sp>
        <p:nvSpPr>
          <p:cNvPr id="12" name="Rounded Rectangle 4">
            <a:extLst>
              <a:ext uri="{FF2B5EF4-FFF2-40B4-BE49-F238E27FC236}">
                <a16:creationId xmlns:a16="http://schemas.microsoft.com/office/drawing/2014/main" id="{AF1693E5-61BD-B38B-D289-F5FB7E8C3D44}"/>
              </a:ext>
            </a:extLst>
          </p:cNvPr>
          <p:cNvSpPr/>
          <p:nvPr/>
        </p:nvSpPr>
        <p:spPr>
          <a:xfrm>
            <a:off x="5087202" y="2047525"/>
            <a:ext cx="1705038" cy="2067339"/>
          </a:xfrm>
          <a:prstGeom prst="roundRect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/>
              <a:t>Total Cost &amp; CO2 Emissions for RE &amp; BS</a:t>
            </a:r>
          </a:p>
        </p:txBody>
      </p:sp>
      <p:sp>
        <p:nvSpPr>
          <p:cNvPr id="13" name="Right Arrow 7">
            <a:extLst>
              <a:ext uri="{FF2B5EF4-FFF2-40B4-BE49-F238E27FC236}">
                <a16:creationId xmlns:a16="http://schemas.microsoft.com/office/drawing/2014/main" id="{8B7C42EC-8BA6-5658-EB33-DA9CBC1CE134}"/>
              </a:ext>
            </a:extLst>
          </p:cNvPr>
          <p:cNvSpPr/>
          <p:nvPr/>
        </p:nvSpPr>
        <p:spPr>
          <a:xfrm>
            <a:off x="4604196" y="2735942"/>
            <a:ext cx="453629" cy="864704"/>
          </a:xfrm>
          <a:prstGeom prst="rightArrow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FE337A8-4298-945C-9AF6-29347AEC2AF1}"/>
              </a:ext>
            </a:extLst>
          </p:cNvPr>
          <p:cNvSpPr txBox="1"/>
          <p:nvPr/>
        </p:nvSpPr>
        <p:spPr>
          <a:xfrm>
            <a:off x="7643316" y="1595083"/>
            <a:ext cx="8515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Step 4</a:t>
            </a:r>
          </a:p>
        </p:txBody>
      </p:sp>
    </p:spTree>
    <p:extLst>
      <p:ext uri="{BB962C8B-B14F-4D97-AF65-F5344CB8AC3E}">
        <p14:creationId xmlns:p14="http://schemas.microsoft.com/office/powerpoint/2010/main" val="20495796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2bd79b9a629_1_0"/>
          <p:cNvSpPr txBox="1">
            <a:spLocks noGrp="1"/>
          </p:cNvSpPr>
          <p:nvPr>
            <p:ph type="title"/>
          </p:nvPr>
        </p:nvSpPr>
        <p:spPr>
          <a:xfrm>
            <a:off x="234950" y="582671"/>
            <a:ext cx="8699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87"/>
              <a:buNone/>
            </a:pPr>
            <a:r>
              <a:rPr lang="en" sz="3000" dirty="0"/>
              <a:t>Forecast Treated Water, Energy Usage, Weather</a:t>
            </a:r>
            <a:endParaRPr sz="3000" dirty="0"/>
          </a:p>
        </p:txBody>
      </p:sp>
      <p:sp>
        <p:nvSpPr>
          <p:cNvPr id="134" name="Google Shape;134;g2bd79b9a629_1_0"/>
          <p:cNvSpPr txBox="1">
            <a:spLocks noGrp="1"/>
          </p:cNvSpPr>
          <p:nvPr>
            <p:ph type="body" idx="1"/>
          </p:nvPr>
        </p:nvSpPr>
        <p:spPr>
          <a:xfrm>
            <a:off x="311700" y="1232992"/>
            <a:ext cx="8795062" cy="3597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46"/>
              <a:buChar char="●"/>
            </a:pPr>
            <a:r>
              <a:rPr lang="en-US" b="1" dirty="0">
                <a:solidFill>
                  <a:schemeClr val="accent1"/>
                </a:solidFill>
              </a:rPr>
              <a:t>Forecast of Daily Treated Water Flows and Energy Consumption</a:t>
            </a:r>
          </a:p>
          <a:p>
            <a:pPr marL="914400" lvl="1" indent="-317498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13"/>
              <a:buChar char="○"/>
            </a:pPr>
            <a:r>
              <a:rPr lang="en-US" sz="1600" dirty="0">
                <a:solidFill>
                  <a:srgbClr val="000000"/>
                </a:solidFill>
              </a:rPr>
              <a:t>Data Used: Rainfall, Hours in Operation, Raw Water Flows, Backwash Water Usage, Peak Demand, Avg Turbidity, Max Turbidity</a:t>
            </a:r>
            <a:endParaRPr lang="en-US" sz="1600" dirty="0"/>
          </a:p>
          <a:p>
            <a:pPr marL="914400" lvl="1" indent="-317498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13"/>
              <a:buChar char="○"/>
            </a:pPr>
            <a:r>
              <a:rPr lang="en-US" sz="1600" b="1" dirty="0">
                <a:solidFill>
                  <a:srgbClr val="000000"/>
                </a:solidFill>
              </a:rPr>
              <a:t>Data Forecast: Water Flows, Energy Consumption</a:t>
            </a:r>
          </a:p>
          <a:p>
            <a:pPr marL="914400" lvl="1" indent="-317498" algn="l" rtl="0">
              <a:lnSpc>
                <a:spcPct val="100000"/>
              </a:lnSpc>
              <a:spcAft>
                <a:spcPts val="0"/>
              </a:spcAft>
              <a:buClr>
                <a:srgbClr val="000000"/>
              </a:buClr>
              <a:buSzPts val="1513"/>
              <a:buChar char="○"/>
            </a:pPr>
            <a:r>
              <a:rPr lang="en-US" sz="1600" b="1" dirty="0">
                <a:solidFill>
                  <a:srgbClr val="000000"/>
                </a:solidFill>
              </a:rPr>
              <a:t>Models Used: SARIMA, Random Forest, </a:t>
            </a:r>
            <a:r>
              <a:rPr lang="en-US" sz="1600" b="1" dirty="0" err="1">
                <a:solidFill>
                  <a:srgbClr val="000000"/>
                </a:solidFill>
              </a:rPr>
              <a:t>XGBoost</a:t>
            </a:r>
            <a:r>
              <a:rPr lang="en-US" sz="1600" b="1" dirty="0">
                <a:solidFill>
                  <a:srgbClr val="000000"/>
                </a:solidFill>
              </a:rPr>
              <a:t>, Gradient Boosting, Ensemble</a:t>
            </a:r>
          </a:p>
          <a:p>
            <a:pPr marL="596902" lvl="1" indent="0" algn="l" rtl="0">
              <a:lnSpc>
                <a:spcPct val="100000"/>
              </a:lnSpc>
              <a:spcAft>
                <a:spcPts val="0"/>
              </a:spcAft>
              <a:buClr>
                <a:srgbClr val="000000"/>
              </a:buClr>
              <a:buSzPts val="1513"/>
              <a:buNone/>
            </a:pPr>
            <a:endParaRPr lang="en-US" sz="1600" b="1" dirty="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00000"/>
              </a:lnSpc>
              <a:spcAft>
                <a:spcPts val="0"/>
              </a:spcAft>
              <a:buSzPts val="1800"/>
              <a:buNone/>
            </a:pPr>
            <a:endParaRPr lang="en-US" sz="100" dirty="0">
              <a:solidFill>
                <a:srgbClr val="000000"/>
              </a:solidFill>
            </a:endParaRPr>
          </a:p>
          <a:p>
            <a:pPr marL="457200" lvl="0" indent="-342900" algn="l" rtl="0">
              <a:lnSpc>
                <a:spcPct val="100000"/>
              </a:lnSpc>
              <a:spcAft>
                <a:spcPts val="0"/>
              </a:spcAft>
              <a:buClr>
                <a:srgbClr val="000000"/>
              </a:buClr>
              <a:buSzPts val="1946"/>
              <a:buChar char="●"/>
            </a:pPr>
            <a:r>
              <a:rPr lang="en-US" b="1" dirty="0">
                <a:solidFill>
                  <a:schemeClr val="accent1"/>
                </a:solidFill>
              </a:rPr>
              <a:t>Forecast of Weather Data (Climate &amp; Hydro)</a:t>
            </a:r>
          </a:p>
          <a:p>
            <a:pPr marL="914400" lvl="1" indent="-317498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13"/>
              <a:buChar char="○"/>
            </a:pPr>
            <a:r>
              <a:rPr lang="en-US" sz="1600" dirty="0">
                <a:solidFill>
                  <a:srgbClr val="000000"/>
                </a:solidFill>
              </a:rPr>
              <a:t>Why: To determine RE generation potential</a:t>
            </a:r>
            <a:endParaRPr lang="en-US" sz="1600" dirty="0"/>
          </a:p>
          <a:p>
            <a:pPr marL="914400" lvl="1" indent="-317498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13"/>
              <a:buChar char="○"/>
            </a:pPr>
            <a:r>
              <a:rPr lang="en-US" sz="1600" dirty="0">
                <a:solidFill>
                  <a:srgbClr val="000000"/>
                </a:solidFill>
              </a:rPr>
              <a:t>Data Used: Temperature, Solar Irradiance, Humidity, Wind Speed</a:t>
            </a:r>
          </a:p>
          <a:p>
            <a:pPr marL="914400" lvl="1" indent="-317498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13"/>
              <a:buChar char="○"/>
            </a:pPr>
            <a:r>
              <a:rPr lang="en-US" sz="1600" b="1" dirty="0">
                <a:solidFill>
                  <a:srgbClr val="000000"/>
                </a:solidFill>
              </a:rPr>
              <a:t>Data Forecast: Solar Irradiance, Wind Speed, Temperature</a:t>
            </a:r>
          </a:p>
          <a:p>
            <a:pPr marL="914400" lvl="1" indent="-317498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13"/>
              <a:buChar char="○"/>
            </a:pPr>
            <a:r>
              <a:rPr lang="en-US" sz="1600" b="1" dirty="0">
                <a:solidFill>
                  <a:srgbClr val="000000"/>
                </a:solidFill>
              </a:rPr>
              <a:t>Models Used: </a:t>
            </a:r>
            <a:r>
              <a:rPr lang="en-US" sz="1600" b="1" dirty="0" err="1">
                <a:solidFill>
                  <a:srgbClr val="000000"/>
                </a:solidFill>
              </a:rPr>
              <a:t>XGBoost</a:t>
            </a:r>
            <a:r>
              <a:rPr lang="en-US" sz="1600" b="1" dirty="0">
                <a:solidFill>
                  <a:srgbClr val="000000"/>
                </a:solidFill>
              </a:rPr>
              <a:t>, LSTM, Linear/</a:t>
            </a:r>
            <a:r>
              <a:rPr lang="en-US" sz="1600" b="1" dirty="0" err="1">
                <a:solidFill>
                  <a:srgbClr val="000000"/>
                </a:solidFill>
              </a:rPr>
              <a:t>Polynomeal</a:t>
            </a:r>
            <a:r>
              <a:rPr lang="en-US" sz="1600" b="1" dirty="0">
                <a:solidFill>
                  <a:srgbClr val="000000"/>
                </a:solidFill>
              </a:rPr>
              <a:t> Regression</a:t>
            </a:r>
            <a:endParaRPr sz="1600" dirty="0">
              <a:solidFill>
                <a:srgbClr val="000000"/>
              </a:solidFill>
              <a:highlight>
                <a:srgbClr val="FFFFFF"/>
              </a:highlight>
              <a:latin typeface="+mj-lt"/>
            </a:endParaRPr>
          </a:p>
        </p:txBody>
      </p:sp>
      <p:sp>
        <p:nvSpPr>
          <p:cNvPr id="135" name="Google Shape;135;g2bd79b9a629_1_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989195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>
          <a:extLst>
            <a:ext uri="{FF2B5EF4-FFF2-40B4-BE49-F238E27FC236}">
              <a16:creationId xmlns:a16="http://schemas.microsoft.com/office/drawing/2014/main" id="{560A1433-6404-4021-7EFB-7DD11A4FDF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2bd79b9a629_1_0">
            <a:extLst>
              <a:ext uri="{FF2B5EF4-FFF2-40B4-BE49-F238E27FC236}">
                <a16:creationId xmlns:a16="http://schemas.microsoft.com/office/drawing/2014/main" id="{4DDFF30B-47D4-29CD-DEA1-AF1DCAED9D9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34950" y="582671"/>
            <a:ext cx="8699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87"/>
              <a:buNone/>
            </a:pPr>
            <a:r>
              <a:rPr lang="en" sz="3000" dirty="0"/>
              <a:t>Forecast Treated Water/Energy Consumption</a:t>
            </a:r>
            <a:endParaRPr sz="3000" dirty="0"/>
          </a:p>
        </p:txBody>
      </p:sp>
      <p:sp>
        <p:nvSpPr>
          <p:cNvPr id="134" name="Google Shape;134;g2bd79b9a629_1_0">
            <a:extLst>
              <a:ext uri="{FF2B5EF4-FFF2-40B4-BE49-F238E27FC236}">
                <a16:creationId xmlns:a16="http://schemas.microsoft.com/office/drawing/2014/main" id="{EAC569E6-E2E9-1B30-421B-AE0CBAC1816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46530"/>
            <a:ext cx="8795062" cy="3683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lnSpc>
                <a:spcPct val="100000"/>
              </a:lnSpc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" dirty="0">
                <a:solidFill>
                  <a:srgbClr val="000000"/>
                </a:solidFill>
                <a:highlight>
                  <a:srgbClr val="FFFFFF"/>
                </a:highlight>
                <a:latin typeface="+mj-lt"/>
              </a:rPr>
              <a:t>Daily/monthly 5-year data from desal plants: energy use, water flow, TDS, turbidity, temperature, pH</a:t>
            </a:r>
          </a:p>
          <a:p>
            <a:pPr marL="457200" lvl="0" indent="-317500" algn="l" rtl="0">
              <a:lnSpc>
                <a:spcPct val="100000"/>
              </a:lnSpc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endParaRPr sz="1000" dirty="0">
              <a:solidFill>
                <a:srgbClr val="000000"/>
              </a:solidFill>
              <a:highlight>
                <a:srgbClr val="FFFFFF"/>
              </a:highlight>
              <a:latin typeface="+mj-lt"/>
            </a:endParaRPr>
          </a:p>
          <a:p>
            <a:pPr marL="457200" lvl="0" indent="-317500" algn="l" rtl="0">
              <a:lnSpc>
                <a:spcPct val="100000"/>
              </a:lnSpc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" b="1" dirty="0">
                <a:solidFill>
                  <a:srgbClr val="000000"/>
                </a:solidFill>
                <a:highlight>
                  <a:srgbClr val="FFFFFF"/>
                </a:highlight>
                <a:latin typeface="+mj-lt"/>
              </a:rPr>
              <a:t>Preprocessing/Feature Engineering: </a:t>
            </a:r>
            <a:r>
              <a:rPr lang="en" dirty="0">
                <a:solidFill>
                  <a:srgbClr val="000000"/>
                </a:solidFill>
                <a:highlight>
                  <a:srgbClr val="FFFFFF"/>
                </a:highlight>
                <a:latin typeface="+mj-lt"/>
              </a:rPr>
              <a:t>Log transformations, lag creation, train/test split</a:t>
            </a:r>
            <a:endParaRPr dirty="0">
              <a:latin typeface="+mj-lt"/>
            </a:endParaRPr>
          </a:p>
          <a:p>
            <a:pPr marL="457200" lvl="0" indent="-317500" algn="l" rtl="0">
              <a:lnSpc>
                <a:spcPct val="100000"/>
              </a:lnSpc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endParaRPr lang="en" sz="1000" b="1" dirty="0">
              <a:solidFill>
                <a:srgbClr val="000000"/>
              </a:solidFill>
              <a:highlight>
                <a:srgbClr val="FFFFFF"/>
              </a:highlight>
              <a:latin typeface="+mj-lt"/>
            </a:endParaRPr>
          </a:p>
          <a:p>
            <a:pPr marL="457200" lvl="0" indent="-317500" algn="l" rtl="0">
              <a:lnSpc>
                <a:spcPct val="100000"/>
              </a:lnSpc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" b="1" dirty="0">
                <a:solidFill>
                  <a:srgbClr val="000000"/>
                </a:solidFill>
                <a:highlight>
                  <a:srgbClr val="FFFFFF"/>
                </a:highlight>
                <a:latin typeface="+mj-lt"/>
              </a:rPr>
              <a:t>Model Training</a:t>
            </a:r>
            <a:endParaRPr b="1" dirty="0">
              <a:solidFill>
                <a:srgbClr val="000000"/>
              </a:solidFill>
              <a:highlight>
                <a:srgbClr val="FFFFFF"/>
              </a:highlight>
              <a:latin typeface="+mj-lt"/>
            </a:endParaRPr>
          </a:p>
          <a:p>
            <a:pPr marL="914400" lvl="1" indent="-317500" algn="l" rtl="0">
              <a:lnSpc>
                <a:spcPct val="100000"/>
              </a:lnSpc>
              <a:spcAft>
                <a:spcPts val="0"/>
              </a:spcAft>
              <a:buClr>
                <a:srgbClr val="000000"/>
              </a:buClr>
              <a:buSzPts val="1400"/>
              <a:buFont typeface="Roboto"/>
              <a:buChar char="●"/>
            </a:pPr>
            <a:r>
              <a:rPr lang="en" sz="1800" dirty="0">
                <a:solidFill>
                  <a:schemeClr val="dk1"/>
                </a:solidFill>
                <a:highlight>
                  <a:srgbClr val="FFFFFF"/>
                </a:highlight>
                <a:latin typeface="+mj-lt"/>
              </a:rPr>
              <a:t>Regression based models</a:t>
            </a:r>
            <a:r>
              <a:rPr lang="en" sz="1800" dirty="0">
                <a:solidFill>
                  <a:srgbClr val="000000"/>
                </a:solidFill>
                <a:highlight>
                  <a:srgbClr val="FFFFFF"/>
                </a:highlight>
                <a:latin typeface="+mj-lt"/>
              </a:rPr>
              <a:t>: Random Forest, </a:t>
            </a:r>
            <a:r>
              <a:rPr lang="en" sz="1800" b="1" dirty="0">
                <a:solidFill>
                  <a:srgbClr val="000000"/>
                </a:solidFill>
                <a:highlight>
                  <a:srgbClr val="FFFFFF"/>
                </a:highlight>
                <a:latin typeface="+mj-lt"/>
              </a:rPr>
              <a:t>Gradient Boosting</a:t>
            </a:r>
            <a:r>
              <a:rPr lang="en" sz="1800" dirty="0">
                <a:solidFill>
                  <a:srgbClr val="000000"/>
                </a:solidFill>
                <a:highlight>
                  <a:srgbClr val="FFFFFF"/>
                </a:highlight>
                <a:latin typeface="+mj-lt"/>
              </a:rPr>
              <a:t>, SARIMA </a:t>
            </a:r>
            <a:endParaRPr sz="1800" dirty="0">
              <a:solidFill>
                <a:srgbClr val="000000"/>
              </a:solidFill>
              <a:highlight>
                <a:srgbClr val="FFFFFF"/>
              </a:highlight>
              <a:latin typeface="+mj-lt"/>
            </a:endParaRPr>
          </a:p>
          <a:p>
            <a:pPr marL="914400" lvl="1" indent="-317500" algn="l" rtl="0">
              <a:lnSpc>
                <a:spcPct val="100000"/>
              </a:lnSpc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" sz="1800" dirty="0">
                <a:solidFill>
                  <a:srgbClr val="000000"/>
                </a:solidFill>
                <a:highlight>
                  <a:srgbClr val="FFFFFF"/>
                </a:highlight>
                <a:latin typeface="+mj-lt"/>
              </a:rPr>
              <a:t>Hyperparameter tuning through GridSearchCV (</a:t>
            </a:r>
            <a:r>
              <a:rPr lang="en-US" sz="1800" dirty="0">
                <a:solidFill>
                  <a:srgbClr val="0D0D0D"/>
                </a:solidFill>
                <a:highlight>
                  <a:srgbClr val="FFFFFF"/>
                </a:highlight>
                <a:latin typeface="+mj-lt"/>
                <a:ea typeface="Roboto"/>
                <a:cs typeface="Roboto"/>
                <a:sym typeface="Roboto"/>
              </a:rPr>
              <a:t>cross-validation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+mj-lt"/>
              </a:rPr>
              <a:t>) </a:t>
            </a:r>
            <a:endParaRPr lang="en-US" sz="1800" i="1" dirty="0">
              <a:solidFill>
                <a:srgbClr val="000000"/>
              </a:solidFill>
              <a:highlight>
                <a:srgbClr val="FFFFFF"/>
              </a:highlight>
              <a:latin typeface="+mj-lt"/>
            </a:endParaRPr>
          </a:p>
          <a:p>
            <a:pPr marL="139700" lvl="0" indent="0" algn="l" rtl="0">
              <a:lnSpc>
                <a:spcPct val="100000"/>
              </a:lnSpc>
              <a:spcAft>
                <a:spcPts val="0"/>
              </a:spcAft>
              <a:buClr>
                <a:srgbClr val="000000"/>
              </a:buClr>
              <a:buSzPts val="1400"/>
              <a:buNone/>
            </a:pPr>
            <a:endParaRPr lang="en-US" sz="1000" b="1" dirty="0">
              <a:solidFill>
                <a:srgbClr val="000000"/>
              </a:solidFill>
              <a:highlight>
                <a:srgbClr val="FFFFFF"/>
              </a:highlight>
              <a:latin typeface="+mj-lt"/>
            </a:endParaRPr>
          </a:p>
          <a:p>
            <a:pPr marL="457200" lvl="0" indent="-317500" algn="l" rtl="0">
              <a:lnSpc>
                <a:spcPct val="100000"/>
              </a:lnSpc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-US" b="1" dirty="0">
                <a:solidFill>
                  <a:srgbClr val="000000"/>
                </a:solidFill>
                <a:highlight>
                  <a:srgbClr val="FFFFFF"/>
                </a:highlight>
                <a:latin typeface="+mj-lt"/>
              </a:rPr>
              <a:t>Model Forecast </a:t>
            </a:r>
          </a:p>
          <a:p>
            <a:pPr marL="914400" lvl="1" indent="-317500" algn="l" rtl="0">
              <a:lnSpc>
                <a:spcPct val="100000"/>
              </a:lnSpc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" sz="1800" dirty="0">
                <a:solidFill>
                  <a:srgbClr val="000000"/>
                </a:solidFill>
                <a:highlight>
                  <a:srgbClr val="FFFFFF"/>
                </a:highlight>
                <a:latin typeface="+mj-lt"/>
              </a:rPr>
              <a:t>Used each model to obtain test set predictions</a:t>
            </a:r>
            <a:endParaRPr sz="1800" dirty="0">
              <a:solidFill>
                <a:srgbClr val="000000"/>
              </a:solidFill>
              <a:highlight>
                <a:srgbClr val="FFFFFF"/>
              </a:highlight>
              <a:latin typeface="+mj-lt"/>
            </a:endParaRPr>
          </a:p>
          <a:p>
            <a:pPr marL="914400" lvl="1" indent="-317500" algn="l" rtl="0">
              <a:lnSpc>
                <a:spcPct val="100000"/>
              </a:lnSpc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" sz="1800" dirty="0">
                <a:solidFill>
                  <a:srgbClr val="000000"/>
                </a:solidFill>
                <a:highlight>
                  <a:srgbClr val="FFFFFF"/>
                </a:highlight>
                <a:latin typeface="+mj-lt"/>
              </a:rPr>
              <a:t>Ensemble approach - averages model predictions to mitigate individual model biases</a:t>
            </a:r>
            <a:endParaRPr sz="1800" dirty="0">
              <a:solidFill>
                <a:srgbClr val="000000"/>
              </a:solidFill>
              <a:highlight>
                <a:srgbClr val="FFFFFF"/>
              </a:highlight>
              <a:latin typeface="+mj-lt"/>
            </a:endParaRPr>
          </a:p>
        </p:txBody>
      </p:sp>
      <p:sp>
        <p:nvSpPr>
          <p:cNvPr id="135" name="Google Shape;135;g2bd79b9a629_1_0">
            <a:extLst>
              <a:ext uri="{FF2B5EF4-FFF2-40B4-BE49-F238E27FC236}">
                <a16:creationId xmlns:a16="http://schemas.microsoft.com/office/drawing/2014/main" id="{6185A5FF-DA2F-8630-23DD-8684244963F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16658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11</a:t>
            </a:fld>
            <a:endParaRPr/>
          </a:p>
        </p:txBody>
      </p:sp>
      <p:sp>
        <p:nvSpPr>
          <p:cNvPr id="141" name="Google Shape;141;p13"/>
          <p:cNvSpPr txBox="1"/>
          <p:nvPr/>
        </p:nvSpPr>
        <p:spPr>
          <a:xfrm>
            <a:off x="140677" y="651204"/>
            <a:ext cx="9003323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3000" b="0" i="0" u="none" strike="noStrike" cap="none" dirty="0">
                <a:solidFill>
                  <a:srgbClr val="1C3678"/>
                </a:solidFill>
                <a:latin typeface="Arial"/>
                <a:ea typeface="Arial"/>
                <a:cs typeface="Arial"/>
                <a:sym typeface="Arial"/>
              </a:rPr>
              <a:t>Treated Water &amp; Energy Consumption (Tampa Bay)</a:t>
            </a:r>
            <a:endParaRPr sz="3000" b="0" i="0" u="none" strike="noStrike" cap="none" dirty="0">
              <a:solidFill>
                <a:srgbClr val="1C367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6CB22CC9-6603-466C-D903-A6AFF9DEDAA6}"/>
              </a:ext>
            </a:extLst>
          </p:cNvPr>
          <p:cNvGrpSpPr/>
          <p:nvPr/>
        </p:nvGrpSpPr>
        <p:grpSpPr>
          <a:xfrm>
            <a:off x="205796" y="1328867"/>
            <a:ext cx="8732405" cy="3365531"/>
            <a:chOff x="196511" y="1184739"/>
            <a:chExt cx="8732405" cy="3365531"/>
          </a:xfrm>
        </p:grpSpPr>
        <p:sp>
          <p:nvSpPr>
            <p:cNvPr id="145" name="Google Shape;145;p13"/>
            <p:cNvSpPr txBox="1"/>
            <p:nvPr/>
          </p:nvSpPr>
          <p:spPr>
            <a:xfrm>
              <a:off x="4767944" y="1184739"/>
              <a:ext cx="3842654" cy="40007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"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Daily Energy Consumption (kWh)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F8D11EC5-F115-1624-7AD3-828C9FD6DEAF}"/>
                </a:ext>
              </a:extLst>
            </p:cNvPr>
            <p:cNvGrpSpPr/>
            <p:nvPr/>
          </p:nvGrpSpPr>
          <p:grpSpPr>
            <a:xfrm>
              <a:off x="196511" y="1223904"/>
              <a:ext cx="8732405" cy="3326366"/>
              <a:chOff x="196511" y="1223904"/>
              <a:chExt cx="8732405" cy="3326366"/>
            </a:xfrm>
          </p:grpSpPr>
          <p:pic>
            <p:nvPicPr>
              <p:cNvPr id="142" name="Google Shape;142;p13" descr="A graph showing a graph&#10;&#10;Description automatically generated with medium confidence"/>
              <p:cNvPicPr preferRelativeResize="0"/>
              <p:nvPr/>
            </p:nvPicPr>
            <p:blipFill rotWithShape="1">
              <a:blip r:embed="rId3">
                <a:alphaModFix/>
              </a:blip>
              <a:srcRect l="1197"/>
              <a:stretch/>
            </p:blipFill>
            <p:spPr>
              <a:xfrm>
                <a:off x="196511" y="1758836"/>
                <a:ext cx="4122396" cy="2104136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43" name="Google Shape;143;p13" descr="A graph with lines and numbers&#10;&#10;Description automatically generated"/>
              <p:cNvPicPr preferRelativeResize="0"/>
              <p:nvPr/>
            </p:nvPicPr>
            <p:blipFill rotWithShape="1">
              <a:blip r:embed="rId4">
                <a:alphaModFix/>
              </a:blip>
              <a:srcRect l="1192"/>
              <a:stretch/>
            </p:blipFill>
            <p:spPr>
              <a:xfrm>
                <a:off x="4658089" y="1748897"/>
                <a:ext cx="4270827" cy="2114074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44" name="Google Shape;144;p13"/>
              <p:cNvSpPr txBox="1"/>
              <p:nvPr/>
            </p:nvSpPr>
            <p:spPr>
              <a:xfrm>
                <a:off x="961435" y="1223904"/>
                <a:ext cx="3357472" cy="40007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lang="en" sz="1400" b="0" i="0" u="none" strike="noStrike" cap="none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Total Treated Water (MGD)</a:t>
                </a:r>
                <a:endParaRPr sz="1400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43113344-B13B-CE81-701B-A99606647347}"/>
                  </a:ext>
                </a:extLst>
              </p:cNvPr>
              <p:cNvSpPr txBox="1"/>
              <p:nvPr/>
            </p:nvSpPr>
            <p:spPr>
              <a:xfrm>
                <a:off x="3465767" y="4027050"/>
                <a:ext cx="2212465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Training Data: 2017-2021</a:t>
                </a:r>
              </a:p>
              <a:p>
                <a:r>
                  <a:rPr lang="en-US" dirty="0"/>
                  <a:t>Test Data: 2022-2023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5921683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12</a:t>
            </a:fld>
            <a:endParaRPr/>
          </a:p>
        </p:txBody>
      </p:sp>
      <p:sp>
        <p:nvSpPr>
          <p:cNvPr id="141" name="Google Shape;141;p13"/>
          <p:cNvSpPr txBox="1"/>
          <p:nvPr/>
        </p:nvSpPr>
        <p:spPr>
          <a:xfrm>
            <a:off x="297904" y="785382"/>
            <a:ext cx="8534396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3000" b="0" i="0" u="none" strike="noStrike" cap="none" dirty="0">
                <a:solidFill>
                  <a:srgbClr val="1C3678"/>
                </a:solidFill>
                <a:latin typeface="Arial"/>
                <a:ea typeface="Arial"/>
                <a:cs typeface="Arial"/>
                <a:sym typeface="Arial"/>
              </a:rPr>
              <a:t>Forecast Treated Water</a:t>
            </a:r>
            <a:r>
              <a:rPr lang="en" sz="3000" dirty="0">
                <a:solidFill>
                  <a:srgbClr val="1C3678"/>
                </a:solidFill>
              </a:rPr>
              <a:t> &amp;</a:t>
            </a:r>
            <a:r>
              <a:rPr lang="en" sz="3000" b="0" i="0" u="none" strike="noStrike" cap="none" dirty="0">
                <a:solidFill>
                  <a:srgbClr val="1C3678"/>
                </a:solidFill>
                <a:latin typeface="Arial"/>
                <a:ea typeface="Arial"/>
                <a:cs typeface="Arial"/>
                <a:sym typeface="Arial"/>
              </a:rPr>
              <a:t> Energy (Tampa Bay)</a:t>
            </a:r>
            <a:endParaRPr sz="3000" b="0" i="0" u="none" strike="noStrike" cap="none" dirty="0">
              <a:solidFill>
                <a:srgbClr val="1C367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CB39F5F8-A7DA-8202-F6C1-679961E7A60F}"/>
              </a:ext>
            </a:extLst>
          </p:cNvPr>
          <p:cNvGrpSpPr/>
          <p:nvPr/>
        </p:nvGrpSpPr>
        <p:grpSpPr>
          <a:xfrm>
            <a:off x="168444" y="1490266"/>
            <a:ext cx="8807111" cy="2867852"/>
            <a:chOff x="108809" y="1206407"/>
            <a:chExt cx="8807111" cy="2867852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ED2FA544-6F48-AD61-39EB-73FC0E53A58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754997" y="1306923"/>
              <a:ext cx="4160923" cy="2767336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7E364BD5-8C7C-33DD-1F01-C1B0AC6CBCE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8809" y="1206407"/>
              <a:ext cx="4312057" cy="2867852"/>
            </a:xfrm>
            <a:prstGeom prst="rect">
              <a:avLst/>
            </a:prstGeom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AEE21A3F-0C31-7827-2751-837981AF9205}"/>
              </a:ext>
            </a:extLst>
          </p:cNvPr>
          <p:cNvSpPr txBox="1"/>
          <p:nvPr/>
        </p:nvSpPr>
        <p:spPr>
          <a:xfrm>
            <a:off x="3386419" y="4552240"/>
            <a:ext cx="237116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Model Forecast: 2023-2027</a:t>
            </a:r>
          </a:p>
        </p:txBody>
      </p:sp>
    </p:spTree>
    <p:extLst>
      <p:ext uri="{BB962C8B-B14F-4D97-AF65-F5344CB8AC3E}">
        <p14:creationId xmlns:p14="http://schemas.microsoft.com/office/powerpoint/2010/main" val="33230846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2bd79b9a629_1_39"/>
          <p:cNvSpPr txBox="1">
            <a:spLocks noGrp="1"/>
          </p:cNvSpPr>
          <p:nvPr>
            <p:ph type="body" idx="1"/>
          </p:nvPr>
        </p:nvSpPr>
        <p:spPr>
          <a:xfrm>
            <a:off x="380569" y="1175959"/>
            <a:ext cx="8717918" cy="402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1150" algn="l" rtl="0">
              <a:lnSpc>
                <a:spcPct val="95000"/>
              </a:lnSpc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en" dirty="0">
                <a:solidFill>
                  <a:srgbClr val="000000"/>
                </a:solidFill>
                <a:highlight>
                  <a:srgbClr val="FFFFFF"/>
                </a:highlight>
              </a:rPr>
              <a:t>Integrated into Streamlit application</a:t>
            </a:r>
          </a:p>
          <a:p>
            <a:pPr marL="146050" lvl="0" indent="0" algn="l" rtl="0">
              <a:lnSpc>
                <a:spcPct val="95000"/>
              </a:lnSpc>
              <a:spcAft>
                <a:spcPts val="0"/>
              </a:spcAft>
              <a:buClr>
                <a:srgbClr val="000000"/>
              </a:buClr>
              <a:buSzPts val="1300"/>
              <a:buNone/>
            </a:pPr>
            <a:endParaRPr sz="20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marL="457200" lvl="0" indent="-311150" algn="l" rtl="0">
              <a:lnSpc>
                <a:spcPct val="115000"/>
              </a:lnSpc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en" dirty="0">
                <a:solidFill>
                  <a:srgbClr val="000000"/>
                </a:solidFill>
                <a:highlight>
                  <a:srgbClr val="FFFFFF"/>
                </a:highlight>
              </a:rPr>
              <a:t>Data Preparation and Preprocessing</a:t>
            </a:r>
            <a:endParaRPr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marL="914400" lvl="1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en" sz="1600" dirty="0">
                <a:solidFill>
                  <a:srgbClr val="000000"/>
                </a:solidFill>
                <a:highlight>
                  <a:srgbClr val="FFFFFF"/>
                </a:highlight>
              </a:rPr>
              <a:t>20 year hourly climate data using NSRDB API </a:t>
            </a:r>
            <a:endParaRPr sz="1600" dirty="0">
              <a:solidFill>
                <a:srgbClr val="0D0D0D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914400" lvl="1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300"/>
              <a:buFont typeface="Roboto"/>
              <a:buChar char="●"/>
            </a:pPr>
            <a:r>
              <a:rPr lang="en" sz="1600" dirty="0">
                <a:solidFill>
                  <a:srgbClr val="0D0D0D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60:20:20% split for Training:Testing:Validation </a:t>
            </a:r>
            <a:endParaRPr lang="en-US" sz="1600" dirty="0">
              <a:solidFill>
                <a:srgbClr val="0D0D0D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300"/>
              <a:buFont typeface="Roboto"/>
              <a:buChar char="●"/>
            </a:pPr>
            <a:endParaRPr lang="en-US" sz="200" dirty="0">
              <a:solidFill>
                <a:srgbClr val="0D0D0D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300"/>
              <a:buFont typeface="Roboto"/>
              <a:buChar char="●"/>
            </a:pPr>
            <a:r>
              <a:rPr lang="en-US" dirty="0">
                <a:solidFill>
                  <a:srgbClr val="0D0D0D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Feature Engineering: Lag Features, Rolling Window Statistics, Differencing</a:t>
            </a: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300"/>
              <a:buFont typeface="Roboto"/>
              <a:buChar char="●"/>
            </a:pPr>
            <a:endParaRPr lang="en" sz="200" dirty="0">
              <a:solidFill>
                <a:srgbClr val="0D0D0D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300"/>
              <a:buFont typeface="Roboto"/>
              <a:buChar char="●"/>
            </a:pPr>
            <a:r>
              <a:rPr lang="en" dirty="0">
                <a:solidFill>
                  <a:srgbClr val="0D0D0D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Model Training and Validation</a:t>
            </a:r>
            <a:endParaRPr dirty="0">
              <a:solidFill>
                <a:srgbClr val="0D0D0D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914400" lvl="1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300"/>
              <a:buFont typeface="Roboto"/>
              <a:buChar char="●"/>
            </a:pPr>
            <a:r>
              <a:rPr lang="en" sz="1600" dirty="0">
                <a:solidFill>
                  <a:srgbClr val="0D0D0D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Parameter Tuning: Use grid search to find optimal parameters </a:t>
            </a:r>
            <a:endParaRPr sz="1600" dirty="0">
              <a:solidFill>
                <a:srgbClr val="0D0D0D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914400" lvl="1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300"/>
              <a:buFont typeface="Roboto"/>
              <a:buChar char="●"/>
            </a:pPr>
            <a:r>
              <a:rPr lang="en" sz="1600" dirty="0">
                <a:solidFill>
                  <a:srgbClr val="0D0D0D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XGBoost: Employs gradient boosting decision trees </a:t>
            </a:r>
            <a:endParaRPr sz="1600" dirty="0">
              <a:solidFill>
                <a:srgbClr val="0D0D0D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914400" lvl="1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300"/>
              <a:buFont typeface="Roboto"/>
              <a:buChar char="●"/>
            </a:pPr>
            <a:r>
              <a:rPr lang="en" sz="1600" dirty="0">
                <a:solidFill>
                  <a:srgbClr val="0D0D0D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Prophet: Daily observations with strong seasonal effects; time-series forecating</a:t>
            </a:r>
            <a:endParaRPr sz="1600" dirty="0">
              <a:solidFill>
                <a:srgbClr val="0D0D0D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914400" lvl="1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300"/>
              <a:buFont typeface="Roboto"/>
              <a:buChar char="●"/>
            </a:pPr>
            <a:r>
              <a:rPr lang="en" sz="1600" dirty="0">
                <a:solidFill>
                  <a:srgbClr val="0D0D0D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Average Method: Forecasts future values as the average of past observations</a:t>
            </a:r>
            <a:endParaRPr sz="1600" dirty="0">
              <a:solidFill>
                <a:srgbClr val="0D0D0D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914400" lvl="1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300"/>
              <a:buFont typeface="Roboto"/>
              <a:buChar char="●"/>
            </a:pPr>
            <a:r>
              <a:rPr lang="en" sz="1600" dirty="0">
                <a:solidFill>
                  <a:srgbClr val="0D0D0D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Autoregressive Validation: Past data points as inputs to forecast</a:t>
            </a:r>
            <a:endParaRPr sz="1600" dirty="0">
              <a:solidFill>
                <a:srgbClr val="0D0D0D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300"/>
              <a:buFont typeface="Roboto"/>
              <a:buChar char="●"/>
            </a:pPr>
            <a:endParaRPr lang="en" sz="200" dirty="0">
              <a:solidFill>
                <a:srgbClr val="0D0D0D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300"/>
              <a:buFont typeface="Roboto"/>
              <a:buChar char="●"/>
            </a:pPr>
            <a:r>
              <a:rPr lang="en" b="1" dirty="0">
                <a:solidFill>
                  <a:srgbClr val="0D0D0D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Forecasting: Iterative Forecast + Optional Noise Injection</a:t>
            </a:r>
            <a:endParaRPr b="1" dirty="0">
              <a:solidFill>
                <a:srgbClr val="0D0D0D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6" name="Google Shape;166;g2bd79b9a629_1_39"/>
          <p:cNvSpPr txBox="1">
            <a:spLocks noGrp="1"/>
          </p:cNvSpPr>
          <p:nvPr>
            <p:ph type="title"/>
          </p:nvPr>
        </p:nvSpPr>
        <p:spPr>
          <a:xfrm>
            <a:off x="311700" y="60325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62"/>
              <a:buNone/>
            </a:pPr>
            <a:r>
              <a:rPr lang="en" sz="3000" dirty="0"/>
              <a:t>Forecast Wind Speed/Temperature/GHI</a:t>
            </a:r>
            <a:endParaRPr sz="3000" dirty="0"/>
          </a:p>
        </p:txBody>
      </p:sp>
      <p:sp>
        <p:nvSpPr>
          <p:cNvPr id="167" name="Google Shape;167;g2bd79b9a629_1_3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234677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4"/>
          <p:cNvSpPr txBox="1"/>
          <p:nvPr/>
        </p:nvSpPr>
        <p:spPr>
          <a:xfrm>
            <a:off x="-71438" y="588339"/>
            <a:ext cx="9215438" cy="6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en" sz="3000" b="0" i="0" u="none" strike="noStrike" cap="none" dirty="0">
                <a:solidFill>
                  <a:srgbClr val="1C3678"/>
                </a:solidFill>
                <a:latin typeface="Arial"/>
                <a:ea typeface="Arial"/>
                <a:cs typeface="Arial"/>
                <a:sym typeface="Arial"/>
              </a:rPr>
              <a:t>Forecast Wind Speed, Temp., GHI (Tampa Bay)</a:t>
            </a:r>
            <a:endParaRPr sz="3000" b="0" i="0" u="none" strike="noStrike" cap="none" dirty="0">
              <a:solidFill>
                <a:srgbClr val="1C367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14</a:t>
            </a:fld>
            <a:endParaRPr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F022319-0562-D455-C703-7E8A9DC35151}"/>
              </a:ext>
            </a:extLst>
          </p:cNvPr>
          <p:cNvGrpSpPr/>
          <p:nvPr/>
        </p:nvGrpSpPr>
        <p:grpSpPr>
          <a:xfrm>
            <a:off x="0" y="1044236"/>
            <a:ext cx="9144000" cy="4135079"/>
            <a:chOff x="0" y="1044236"/>
            <a:chExt cx="9144000" cy="4135079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D0B1DA46-BCA3-28F5-C3EB-7B69BABC4929}"/>
                </a:ext>
              </a:extLst>
            </p:cNvPr>
            <p:cNvGrpSpPr/>
            <p:nvPr/>
          </p:nvGrpSpPr>
          <p:grpSpPr>
            <a:xfrm>
              <a:off x="0" y="1044236"/>
              <a:ext cx="9144000" cy="4135079"/>
              <a:chOff x="0" y="1025764"/>
              <a:chExt cx="9144000" cy="4135079"/>
            </a:xfrm>
          </p:grpSpPr>
          <p:sp>
            <p:nvSpPr>
              <p:cNvPr id="7" name="Google Shape;174;p14">
                <a:extLst>
                  <a:ext uri="{FF2B5EF4-FFF2-40B4-BE49-F238E27FC236}">
                    <a16:creationId xmlns:a16="http://schemas.microsoft.com/office/drawing/2014/main" id="{FD3EEE2D-48CE-41A2-9DF5-1B93EA026DD4}"/>
                  </a:ext>
                </a:extLst>
              </p:cNvPr>
              <p:cNvSpPr txBox="1"/>
              <p:nvPr/>
            </p:nvSpPr>
            <p:spPr>
              <a:xfrm>
                <a:off x="347850" y="1025764"/>
                <a:ext cx="8448300" cy="58473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285750" marR="0" lvl="0" indent="-28575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Char char="•"/>
                </a:pPr>
                <a:r>
                  <a:rPr lang="en" sz="1600" b="0" i="0" u="none" strike="noStrike" cap="none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XGBoost Average Method Model</a:t>
                </a:r>
                <a:endParaRPr sz="1400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285750" marR="0" lvl="0" indent="-28575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Char char="•"/>
                </a:pPr>
                <a:r>
                  <a:rPr lang="en" sz="1600" b="0" i="0" u="none" strike="noStrike" cap="none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Test data used to validate the accuracy of the training model</a:t>
                </a:r>
                <a:endParaRPr sz="1600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8" name="Google Shape;175;p14">
                <a:extLst>
                  <a:ext uri="{FF2B5EF4-FFF2-40B4-BE49-F238E27FC236}">
                    <a16:creationId xmlns:a16="http://schemas.microsoft.com/office/drawing/2014/main" id="{3060BDE7-6BD6-45FB-B4EC-7D592D215D67}"/>
                  </a:ext>
                </a:extLst>
              </p:cNvPr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1224075" y="3381393"/>
                <a:ext cx="6695848" cy="1779450"/>
              </a:xfrm>
              <a:prstGeom prst="rect">
                <a:avLst/>
              </a:prstGeom>
              <a:noFill/>
              <a:ln>
                <a:noFill/>
              </a:ln>
            </p:spPr>
          </p:pic>
          <p:grpSp>
            <p:nvGrpSpPr>
              <p:cNvPr id="9" name="Google Shape;176;p14">
                <a:extLst>
                  <a:ext uri="{FF2B5EF4-FFF2-40B4-BE49-F238E27FC236}">
                    <a16:creationId xmlns:a16="http://schemas.microsoft.com/office/drawing/2014/main" id="{8A9AD360-580E-EF0E-7BEF-39FC50193137}"/>
                  </a:ext>
                </a:extLst>
              </p:cNvPr>
              <p:cNvGrpSpPr/>
              <p:nvPr/>
            </p:nvGrpSpPr>
            <p:grpSpPr>
              <a:xfrm>
                <a:off x="4429123" y="1610440"/>
                <a:ext cx="4662303" cy="1836589"/>
                <a:chOff x="40104" y="1732770"/>
                <a:chExt cx="4435219" cy="1750800"/>
              </a:xfrm>
            </p:grpSpPr>
            <p:pic>
              <p:nvPicPr>
                <p:cNvPr id="12" name="Google Shape;177;p14">
                  <a:extLst>
                    <a:ext uri="{FF2B5EF4-FFF2-40B4-BE49-F238E27FC236}">
                      <a16:creationId xmlns:a16="http://schemas.microsoft.com/office/drawing/2014/main" id="{EEC5C99C-0D92-CFBD-ECBB-135110C0E99E}"/>
                    </a:ext>
                  </a:extLst>
                </p:cNvPr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 l="2200" t="6633"/>
                <a:stretch/>
              </p:blipFill>
              <p:spPr>
                <a:xfrm>
                  <a:off x="337020" y="1955082"/>
                  <a:ext cx="4138303" cy="1502501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13" name="Google Shape;178;p14">
                  <a:extLst>
                    <a:ext uri="{FF2B5EF4-FFF2-40B4-BE49-F238E27FC236}">
                      <a16:creationId xmlns:a16="http://schemas.microsoft.com/office/drawing/2014/main" id="{CAB51186-EC4B-21EC-6B08-88E6CD7A8BC7}"/>
                    </a:ext>
                  </a:extLst>
                </p:cNvPr>
                <p:cNvSpPr txBox="1"/>
                <p:nvPr/>
              </p:nvSpPr>
              <p:spPr>
                <a:xfrm rot="-5400000">
                  <a:off x="-688896" y="2461770"/>
                  <a:ext cx="1750800" cy="2928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800"/>
                    <a:buFont typeface="Arial"/>
                    <a:buNone/>
                  </a:pPr>
                  <a:r>
                    <a:rPr lang="en" sz="8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GHI (W/m</a:t>
                  </a:r>
                  <a:r>
                    <a:rPr lang="en" sz="800" b="0" i="0" u="none" strike="noStrike" cap="none" baseline="300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2</a:t>
                  </a:r>
                  <a:r>
                    <a:rPr lang="en" sz="8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)</a:t>
                  </a:r>
                  <a:endParaRPr sz="8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pic>
            <p:nvPicPr>
              <p:cNvPr id="10" name="Google Shape;179;p14">
                <a:extLst>
                  <a:ext uri="{FF2B5EF4-FFF2-40B4-BE49-F238E27FC236}">
                    <a16:creationId xmlns:a16="http://schemas.microsoft.com/office/drawing/2014/main" id="{062A83BE-05D9-BAB7-1D13-8E35349C9E1C}"/>
                  </a:ext>
                </a:extLst>
              </p:cNvPr>
              <p:cNvPicPr preferRelativeResize="0"/>
              <p:nvPr/>
            </p:nvPicPr>
            <p:blipFill rotWithShape="1">
              <a:blip r:embed="rId5">
                <a:alphaModFix/>
              </a:blip>
              <a:srcRect/>
              <a:stretch/>
            </p:blipFill>
            <p:spPr>
              <a:xfrm>
                <a:off x="0" y="1709300"/>
                <a:ext cx="4441499" cy="17249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04093E6-6B32-6DF7-4F9F-40518C2F083D}"/>
                  </a:ext>
                </a:extLst>
              </p:cNvPr>
              <p:cNvSpPr txBox="1"/>
              <p:nvPr/>
            </p:nvSpPr>
            <p:spPr>
              <a:xfrm>
                <a:off x="6689035" y="1025764"/>
                <a:ext cx="245496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" sz="1400" dirty="0">
                    <a:solidFill>
                      <a:srgbClr val="0D0D0D"/>
                    </a:solidFill>
                    <a:highlight>
                      <a:srgbClr val="FFFFFF"/>
                    </a:highlight>
                    <a:latin typeface="Roboto"/>
                    <a:ea typeface="Roboto"/>
                    <a:cs typeface="Roboto"/>
                    <a:sym typeface="Roboto"/>
                  </a:rPr>
                  <a:t>Training Data: 1998-2016</a:t>
                </a:r>
              </a:p>
              <a:p>
                <a:r>
                  <a:rPr lang="en" sz="1400" dirty="0">
                    <a:solidFill>
                      <a:srgbClr val="0D0D0D"/>
                    </a:solidFill>
                    <a:highlight>
                      <a:srgbClr val="FFFFFF"/>
                    </a:highlight>
                    <a:latin typeface="Roboto"/>
                    <a:ea typeface="Roboto"/>
                    <a:cs typeface="Roboto"/>
                    <a:sym typeface="Roboto"/>
                  </a:rPr>
                  <a:t>Test Data: 2017-2021</a:t>
                </a:r>
                <a:endParaRPr lang="en-US" dirty="0"/>
              </a:p>
            </p:txBody>
          </p:sp>
        </p:grp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E1E33DF6-A5E4-C65E-93D8-623BCBAAB0E2}"/>
                </a:ext>
              </a:extLst>
            </p:cNvPr>
            <p:cNvSpPr txBox="1"/>
            <p:nvPr/>
          </p:nvSpPr>
          <p:spPr>
            <a:xfrm>
              <a:off x="5838091" y="1659013"/>
              <a:ext cx="277874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Aptos SemiBold" panose="020F0502020204030204" pitchFamily="34" charset="0"/>
                </a:rPr>
                <a:t>Avg Validation Plot for </a:t>
              </a:r>
              <a:r>
                <a:rPr lang="en-US" sz="1000" dirty="0" err="1">
                  <a:latin typeface="Aptos SemiBold" panose="020F0502020204030204" pitchFamily="34" charset="0"/>
                </a:rPr>
                <a:t>GHI_Diff</a:t>
              </a:r>
              <a:endParaRPr lang="en-US" sz="1000" dirty="0">
                <a:latin typeface="Aptos SemiBold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116629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16FFCB-810A-1B29-6C14-4D9E8DEDA4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703454"/>
            <a:ext cx="8520600" cy="572700"/>
          </a:xfrm>
        </p:spPr>
        <p:txBody>
          <a:bodyPr>
            <a:noAutofit/>
          </a:bodyPr>
          <a:lstStyle/>
          <a:p>
            <a:pPr algn="ctr"/>
            <a:r>
              <a:rPr lang="en" sz="3000" dirty="0"/>
              <a:t>Wind Speed/Temperature/GHI </a:t>
            </a:r>
            <a:r>
              <a:rPr lang="en-US" sz="3000" dirty="0"/>
              <a:t>Forecast Trends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405E96-C8F3-4447-7FA6-40E7A984E31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15</a:t>
            </a:fld>
            <a:endParaRPr lang="e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3A6A6F0-3521-22F9-F858-82B6E4DF5A90}"/>
              </a:ext>
            </a:extLst>
          </p:cNvPr>
          <p:cNvSpPr txBox="1"/>
          <p:nvPr/>
        </p:nvSpPr>
        <p:spPr>
          <a:xfrm>
            <a:off x="430306" y="1287429"/>
            <a:ext cx="340934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Monthly temperature and wind speed expected trends (2023-2027)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6F9DEBEA-4A6A-8C03-89D5-70A38D53F579}"/>
              </a:ext>
            </a:extLst>
          </p:cNvPr>
          <p:cNvGrpSpPr/>
          <p:nvPr/>
        </p:nvGrpSpPr>
        <p:grpSpPr>
          <a:xfrm>
            <a:off x="311700" y="1293241"/>
            <a:ext cx="8265024" cy="3850259"/>
            <a:chOff x="292567" y="1206557"/>
            <a:chExt cx="8265024" cy="3850259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A42867E4-BFE5-8CF9-A322-6FF53E1A09E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92567" y="1878693"/>
              <a:ext cx="4049545" cy="3178123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51CBDD87-71CD-0D0B-C0EF-BF8F52B730E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218349" y="1848808"/>
              <a:ext cx="3339242" cy="3100327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A79474F-D291-2523-C997-FB6FB7F68423}"/>
                </a:ext>
              </a:extLst>
            </p:cNvPr>
            <p:cNvSpPr txBox="1"/>
            <p:nvPr/>
          </p:nvSpPr>
          <p:spPr>
            <a:xfrm>
              <a:off x="5285217" y="1206557"/>
              <a:ext cx="3168107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Average monthly solar irradiance expected trends (2023-2027)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082908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16FFCB-810A-1B29-6C14-4D9E8DEDA4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660394"/>
            <a:ext cx="8520600" cy="572700"/>
          </a:xfrm>
        </p:spPr>
        <p:txBody>
          <a:bodyPr>
            <a:noAutofit/>
          </a:bodyPr>
          <a:lstStyle/>
          <a:p>
            <a:pPr algn="ctr"/>
            <a:r>
              <a:rPr lang="en-US" sz="3000" dirty="0"/>
              <a:t>Daily and Seasonal Trends in Weather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405E96-C8F3-4447-7FA6-40E7A984E31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16</a:t>
            </a:fld>
            <a:endParaRPr lang="en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CA5CED68-2812-1EC7-AE42-880A0BF6CDDD}"/>
              </a:ext>
            </a:extLst>
          </p:cNvPr>
          <p:cNvGrpSpPr/>
          <p:nvPr/>
        </p:nvGrpSpPr>
        <p:grpSpPr>
          <a:xfrm>
            <a:off x="311700" y="1202538"/>
            <a:ext cx="8520600" cy="3940962"/>
            <a:chOff x="311700" y="1067136"/>
            <a:chExt cx="8832300" cy="4076364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A04A6CBB-5D6F-51D5-5D8A-D62F33DE418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r="24325"/>
            <a:stretch/>
          </p:blipFill>
          <p:spPr>
            <a:xfrm>
              <a:off x="4132312" y="1302000"/>
              <a:ext cx="5011688" cy="2800100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69AC56C6-489A-1EDC-96C8-2C7EA3506BC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r="23243"/>
            <a:stretch/>
          </p:blipFill>
          <p:spPr>
            <a:xfrm>
              <a:off x="311700" y="1067136"/>
              <a:ext cx="3820612" cy="3503715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7482AE8-6953-3204-EF02-6DAE0F0A5EF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284042" y="4102100"/>
              <a:ext cx="1689100" cy="10414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475854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2"/>
          <p:cNvSpPr txBox="1">
            <a:spLocks noGrp="1"/>
          </p:cNvSpPr>
          <p:nvPr>
            <p:ph type="title"/>
          </p:nvPr>
        </p:nvSpPr>
        <p:spPr>
          <a:xfrm>
            <a:off x="148953" y="608994"/>
            <a:ext cx="8631428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 sz="3000" dirty="0"/>
              <a:t>Results: Forecasted Variable Error Rates (RMSE)</a:t>
            </a:r>
            <a:endParaRPr sz="3000" dirty="0"/>
          </a:p>
        </p:txBody>
      </p:sp>
      <p:sp>
        <p:nvSpPr>
          <p:cNvPr id="128" name="Google Shape;128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17</a:t>
            </a:fld>
            <a:endParaRPr/>
          </a:p>
        </p:txBody>
      </p:sp>
      <p:sp>
        <p:nvSpPr>
          <p:cNvPr id="5" name="Google Shape;201;p16">
            <a:extLst>
              <a:ext uri="{FF2B5EF4-FFF2-40B4-BE49-F238E27FC236}">
                <a16:creationId xmlns:a16="http://schemas.microsoft.com/office/drawing/2014/main" id="{0128ADD9-6443-AEA7-10AB-82AE371C9EB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4017" y="1364671"/>
            <a:ext cx="8756100" cy="1169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1977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Char char="●"/>
            </a:pPr>
            <a:r>
              <a:rPr lang="en-US" dirty="0">
                <a:solidFill>
                  <a:srgbClr val="000000"/>
                </a:solidFill>
              </a:rPr>
              <a:t>Forecasted models show normalized Root Mean Square Error of less than 10% for key metrics such as treated water flows, energy demand, temperature, and wind speed, and less than 20% for solar irradiance (GHI)</a:t>
            </a:r>
            <a:endParaRPr dirty="0">
              <a:solidFill>
                <a:srgbClr val="000000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746CE08-CA40-D774-4569-6A72DBDAD9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883" y="2533736"/>
            <a:ext cx="8677275" cy="1130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48084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18</a:t>
            </a:fld>
            <a:endParaRPr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695FB4A9-EFB8-DCD6-4845-1E1C058D154E}"/>
              </a:ext>
            </a:extLst>
          </p:cNvPr>
          <p:cNvSpPr txBox="1">
            <a:spLocks/>
          </p:cNvSpPr>
          <p:nvPr/>
        </p:nvSpPr>
        <p:spPr>
          <a:xfrm>
            <a:off x="311700" y="673564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1C367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3000" dirty="0"/>
              <a:t>Methodology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853FCE07-12F4-0686-C6AF-09F8409C2DB0}"/>
              </a:ext>
            </a:extLst>
          </p:cNvPr>
          <p:cNvGrpSpPr/>
          <p:nvPr/>
        </p:nvGrpSpPr>
        <p:grpSpPr>
          <a:xfrm>
            <a:off x="118737" y="1598241"/>
            <a:ext cx="8891040" cy="2497019"/>
            <a:chOff x="149089" y="1246264"/>
            <a:chExt cx="8891040" cy="2497019"/>
          </a:xfrm>
        </p:grpSpPr>
        <p:sp>
          <p:nvSpPr>
            <p:cNvPr id="2" name="Rounded Rectangle 1">
              <a:extLst>
                <a:ext uri="{FF2B5EF4-FFF2-40B4-BE49-F238E27FC236}">
                  <a16:creationId xmlns:a16="http://schemas.microsoft.com/office/drawing/2014/main" id="{03AF5E48-151B-3C4A-FD92-27E2975325AE}"/>
                </a:ext>
              </a:extLst>
            </p:cNvPr>
            <p:cNvSpPr/>
            <p:nvPr/>
          </p:nvSpPr>
          <p:spPr>
            <a:xfrm>
              <a:off x="149089" y="1675944"/>
              <a:ext cx="2300232" cy="2067339"/>
            </a:xfrm>
            <a:prstGeom prst="roundRect">
              <a:avLst/>
            </a:prstGeom>
            <a:solidFill>
              <a:schemeClr val="accent1">
                <a:alpha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600" dirty="0"/>
                <a:t>Forecasting Inputs (2023-2027)</a:t>
              </a:r>
            </a:p>
            <a:p>
              <a:pPr marL="285750" indent="-285750">
                <a:buClr>
                  <a:schemeClr val="bg1"/>
                </a:buClr>
                <a:buFont typeface="Arial" panose="020B0604020202020204" pitchFamily="34" charset="0"/>
                <a:buChar char="•"/>
              </a:pPr>
              <a:r>
                <a:rPr lang="en-US" dirty="0"/>
                <a:t>Energy Consumption &amp; Treated Water </a:t>
              </a:r>
            </a:p>
            <a:p>
              <a:pPr marL="285750" indent="-285750">
                <a:buClr>
                  <a:schemeClr val="bg1"/>
                </a:buClr>
                <a:buFont typeface="Arial" panose="020B0604020202020204" pitchFamily="34" charset="0"/>
                <a:buChar char="•"/>
              </a:pPr>
              <a:r>
                <a:rPr lang="en-US" dirty="0"/>
                <a:t>Wind, Temperature, and Solar Irradiance</a:t>
              </a:r>
            </a:p>
          </p:txBody>
        </p:sp>
        <p:sp>
          <p:nvSpPr>
            <p:cNvPr id="4" name="Right Arrow 3">
              <a:extLst>
                <a:ext uri="{FF2B5EF4-FFF2-40B4-BE49-F238E27FC236}">
                  <a16:creationId xmlns:a16="http://schemas.microsoft.com/office/drawing/2014/main" id="{33830E46-0454-258C-1660-C25AAA7587FC}"/>
                </a:ext>
              </a:extLst>
            </p:cNvPr>
            <p:cNvSpPr/>
            <p:nvPr/>
          </p:nvSpPr>
          <p:spPr>
            <a:xfrm>
              <a:off x="2487209" y="2356774"/>
              <a:ext cx="453629" cy="864704"/>
            </a:xfrm>
            <a:prstGeom prst="rightArrow">
              <a:avLst/>
            </a:prstGeom>
            <a:solidFill>
              <a:schemeClr val="accent1">
                <a:alpha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" name="Rounded Rectangle 4">
              <a:extLst>
                <a:ext uri="{FF2B5EF4-FFF2-40B4-BE49-F238E27FC236}">
                  <a16:creationId xmlns:a16="http://schemas.microsoft.com/office/drawing/2014/main" id="{EC7BD660-188D-A09D-EFC5-E2ECD2EA4B39}"/>
                </a:ext>
              </a:extLst>
            </p:cNvPr>
            <p:cNvSpPr/>
            <p:nvPr/>
          </p:nvSpPr>
          <p:spPr>
            <a:xfrm>
              <a:off x="2969409" y="1675943"/>
              <a:ext cx="1626625" cy="2067339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600" dirty="0"/>
                <a:t>Estimate RE Generation for Wind, PV, and CSP</a:t>
              </a:r>
            </a:p>
          </p:txBody>
        </p:sp>
        <p:sp>
          <p:nvSpPr>
            <p:cNvPr id="7" name="Rounded Rectangle 6">
              <a:extLst>
                <a:ext uri="{FF2B5EF4-FFF2-40B4-BE49-F238E27FC236}">
                  <a16:creationId xmlns:a16="http://schemas.microsoft.com/office/drawing/2014/main" id="{4C001CDC-A0AE-7A5D-9710-205239EF8F5C}"/>
                </a:ext>
              </a:extLst>
            </p:cNvPr>
            <p:cNvSpPr/>
            <p:nvPr/>
          </p:nvSpPr>
          <p:spPr>
            <a:xfrm>
              <a:off x="7335091" y="1675942"/>
              <a:ext cx="1705038" cy="2067339"/>
            </a:xfrm>
            <a:prstGeom prst="roundRect">
              <a:avLst/>
            </a:prstGeom>
            <a:solidFill>
              <a:schemeClr val="accent1">
                <a:alpha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600" dirty="0"/>
                <a:t>Multi-objective Optimization</a:t>
              </a:r>
            </a:p>
            <a:p>
              <a:pPr marL="285750" indent="-285750">
                <a:buClr>
                  <a:schemeClr val="bg1"/>
                </a:buClr>
                <a:buFont typeface="Arial" panose="020B0604020202020204" pitchFamily="34" charset="0"/>
                <a:buChar char="•"/>
              </a:pPr>
              <a:r>
                <a:rPr lang="en-US" dirty="0"/>
                <a:t>Minimize CO2</a:t>
              </a:r>
            </a:p>
            <a:p>
              <a:pPr marL="285750" indent="-285750">
                <a:buClr>
                  <a:schemeClr val="bg1"/>
                </a:buClr>
                <a:buFont typeface="Arial" panose="020B0604020202020204" pitchFamily="34" charset="0"/>
                <a:buChar char="•"/>
              </a:pPr>
              <a:r>
                <a:rPr lang="en-US" dirty="0"/>
                <a:t>Minimize Cost</a:t>
              </a:r>
            </a:p>
          </p:txBody>
        </p:sp>
        <p:sp>
          <p:nvSpPr>
            <p:cNvPr id="8" name="Right Arrow 7">
              <a:extLst>
                <a:ext uri="{FF2B5EF4-FFF2-40B4-BE49-F238E27FC236}">
                  <a16:creationId xmlns:a16="http://schemas.microsoft.com/office/drawing/2014/main" id="{D2D2F339-48E1-2832-DBB0-048A41AB53DB}"/>
                </a:ext>
              </a:extLst>
            </p:cNvPr>
            <p:cNvSpPr/>
            <p:nvPr/>
          </p:nvSpPr>
          <p:spPr>
            <a:xfrm>
              <a:off x="6857312" y="2356774"/>
              <a:ext cx="453629" cy="864704"/>
            </a:xfrm>
            <a:prstGeom prst="rightArrow">
              <a:avLst/>
            </a:prstGeom>
            <a:solidFill>
              <a:schemeClr val="accent1">
                <a:alpha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D7C3D9A3-4E53-4572-5344-4C8AB0A65D76}"/>
                </a:ext>
              </a:extLst>
            </p:cNvPr>
            <p:cNvSpPr txBox="1"/>
            <p:nvPr/>
          </p:nvSpPr>
          <p:spPr>
            <a:xfrm>
              <a:off x="1083365" y="1246264"/>
              <a:ext cx="8515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/>
                <a:t>Step 1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EBC6E8AE-4997-A05A-9518-F00FD6F01653}"/>
                </a:ext>
              </a:extLst>
            </p:cNvPr>
            <p:cNvSpPr txBox="1"/>
            <p:nvPr/>
          </p:nvSpPr>
          <p:spPr>
            <a:xfrm>
              <a:off x="3209992" y="1246264"/>
              <a:ext cx="8515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solidFill>
                    <a:srgbClr val="FF0000"/>
                  </a:solidFill>
                </a:rPr>
                <a:t>Step 2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09AA285-90F2-F6C3-6C02-CE30810D5FAE}"/>
                </a:ext>
              </a:extLst>
            </p:cNvPr>
            <p:cNvSpPr txBox="1"/>
            <p:nvPr/>
          </p:nvSpPr>
          <p:spPr>
            <a:xfrm>
              <a:off x="5544492" y="1246264"/>
              <a:ext cx="8515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/>
                <a:t>Step 3</a:t>
              </a:r>
            </a:p>
          </p:txBody>
        </p:sp>
      </p:grpSp>
      <p:sp>
        <p:nvSpPr>
          <p:cNvPr id="12" name="Rounded Rectangle 4">
            <a:extLst>
              <a:ext uri="{FF2B5EF4-FFF2-40B4-BE49-F238E27FC236}">
                <a16:creationId xmlns:a16="http://schemas.microsoft.com/office/drawing/2014/main" id="{AF1693E5-61BD-B38B-D289-F5FB7E8C3D44}"/>
              </a:ext>
            </a:extLst>
          </p:cNvPr>
          <p:cNvSpPr/>
          <p:nvPr/>
        </p:nvSpPr>
        <p:spPr>
          <a:xfrm>
            <a:off x="5087202" y="2047525"/>
            <a:ext cx="1705038" cy="2067339"/>
          </a:xfrm>
          <a:prstGeom prst="roundRect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/>
              <a:t>Total Cost &amp; CO2 Emissions for RE &amp; BS</a:t>
            </a:r>
          </a:p>
        </p:txBody>
      </p:sp>
      <p:sp>
        <p:nvSpPr>
          <p:cNvPr id="13" name="Right Arrow 7">
            <a:extLst>
              <a:ext uri="{FF2B5EF4-FFF2-40B4-BE49-F238E27FC236}">
                <a16:creationId xmlns:a16="http://schemas.microsoft.com/office/drawing/2014/main" id="{8B7C42EC-8BA6-5658-EB33-DA9CBC1CE134}"/>
              </a:ext>
            </a:extLst>
          </p:cNvPr>
          <p:cNvSpPr/>
          <p:nvPr/>
        </p:nvSpPr>
        <p:spPr>
          <a:xfrm>
            <a:off x="4604196" y="2735942"/>
            <a:ext cx="453629" cy="864704"/>
          </a:xfrm>
          <a:prstGeom prst="rightArrow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FE337A8-4298-945C-9AF6-29347AEC2AF1}"/>
              </a:ext>
            </a:extLst>
          </p:cNvPr>
          <p:cNvSpPr txBox="1"/>
          <p:nvPr/>
        </p:nvSpPr>
        <p:spPr>
          <a:xfrm>
            <a:off x="7643316" y="1595083"/>
            <a:ext cx="8515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Step 4</a:t>
            </a:r>
          </a:p>
        </p:txBody>
      </p:sp>
    </p:spTree>
    <p:extLst>
      <p:ext uri="{BB962C8B-B14F-4D97-AF65-F5344CB8AC3E}">
        <p14:creationId xmlns:p14="http://schemas.microsoft.com/office/powerpoint/2010/main" val="34824745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19</a:t>
            </a:fld>
            <a:endParaRPr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695FB4A9-EFB8-DCD6-4845-1E1C058D154E}"/>
              </a:ext>
            </a:extLst>
          </p:cNvPr>
          <p:cNvSpPr txBox="1">
            <a:spLocks/>
          </p:cNvSpPr>
          <p:nvPr/>
        </p:nvSpPr>
        <p:spPr>
          <a:xfrm>
            <a:off x="311700" y="769133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1C367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3000" dirty="0"/>
              <a:t>Step 2: RE and BS Generation Formulas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D596A74-84F5-A098-0AEB-6EE43A19E8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3121" y="1421435"/>
            <a:ext cx="6639339" cy="3555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34116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20</a:t>
            </a:fld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58A0031-C7BF-9CDA-D4C0-951110A1608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030"/>
          <a:stretch/>
        </p:blipFill>
        <p:spPr>
          <a:xfrm>
            <a:off x="884769" y="1180664"/>
            <a:ext cx="7374461" cy="380734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A6EF7E87-733A-765E-10E7-9C819E5FC6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699" y="604474"/>
            <a:ext cx="8520600" cy="572700"/>
          </a:xfrm>
        </p:spPr>
        <p:txBody>
          <a:bodyPr>
            <a:noAutofit/>
          </a:bodyPr>
          <a:lstStyle/>
          <a:p>
            <a:pPr algn="ctr"/>
            <a:r>
              <a:rPr lang="en-US" sz="3000" dirty="0"/>
              <a:t>Step 2: RE and BS - Variables and Constants</a:t>
            </a:r>
          </a:p>
        </p:txBody>
      </p:sp>
    </p:spTree>
    <p:extLst>
      <p:ext uri="{BB962C8B-B14F-4D97-AF65-F5344CB8AC3E}">
        <p14:creationId xmlns:p14="http://schemas.microsoft.com/office/powerpoint/2010/main" val="15794352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>
          <a:extLst>
            <a:ext uri="{FF2B5EF4-FFF2-40B4-BE49-F238E27FC236}">
              <a16:creationId xmlns:a16="http://schemas.microsoft.com/office/drawing/2014/main" id="{5E732590-A596-FC20-63FD-CF78D4BCFD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2">
            <a:extLst>
              <a:ext uri="{FF2B5EF4-FFF2-40B4-BE49-F238E27FC236}">
                <a16:creationId xmlns:a16="http://schemas.microsoft.com/office/drawing/2014/main" id="{C5D18B1F-817C-2132-1172-A305432F169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9781" y="608994"/>
            <a:ext cx="8520599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 sz="3000" dirty="0"/>
              <a:t>Results: RE Generation Forecast</a:t>
            </a:r>
            <a:endParaRPr sz="3000" dirty="0"/>
          </a:p>
        </p:txBody>
      </p:sp>
      <p:sp>
        <p:nvSpPr>
          <p:cNvPr id="128" name="Google Shape;128;p12">
            <a:extLst>
              <a:ext uri="{FF2B5EF4-FFF2-40B4-BE49-F238E27FC236}">
                <a16:creationId xmlns:a16="http://schemas.microsoft.com/office/drawing/2014/main" id="{479FF533-B2DA-9D79-7DCC-8853A823613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21</a:t>
            </a:fld>
            <a:endParaRPr/>
          </a:p>
        </p:txBody>
      </p:sp>
      <p:sp>
        <p:nvSpPr>
          <p:cNvPr id="5" name="Google Shape;201;p16">
            <a:extLst>
              <a:ext uri="{FF2B5EF4-FFF2-40B4-BE49-F238E27FC236}">
                <a16:creationId xmlns:a16="http://schemas.microsoft.com/office/drawing/2014/main" id="{79AEEA00-7FF3-EDED-4985-A88E895E276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16877" y="1181694"/>
            <a:ext cx="8106490" cy="5332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25223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None/>
            </a:pPr>
            <a:r>
              <a:rPr lang="en" dirty="0">
                <a:solidFill>
                  <a:srgbClr val="000000"/>
                </a:solidFill>
              </a:rPr>
              <a:t>Forecast</a:t>
            </a:r>
            <a:r>
              <a:rPr lang="en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Temperature, Wind </a:t>
            </a:r>
            <a:r>
              <a:rPr lang="en" dirty="0">
                <a:solidFill>
                  <a:srgbClr val="000000"/>
                </a:solidFill>
              </a:rPr>
              <a:t>S</a:t>
            </a:r>
            <a:r>
              <a:rPr lang="en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peed, GHI (solar irradiance)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F4CA481-7B4C-6A93-7C46-D9F6CAF8EB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9094" y="1585469"/>
            <a:ext cx="4966660" cy="140425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49CDEEF-52DB-05EB-5BC9-D3C49B8F82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4112" y="3452567"/>
            <a:ext cx="4671122" cy="1492652"/>
          </a:xfrm>
          <a:prstGeom prst="rect">
            <a:avLst/>
          </a:prstGeom>
        </p:spPr>
      </p:pic>
      <p:sp>
        <p:nvSpPr>
          <p:cNvPr id="2" name="Google Shape;201;p16">
            <a:extLst>
              <a:ext uri="{FF2B5EF4-FFF2-40B4-BE49-F238E27FC236}">
                <a16:creationId xmlns:a16="http://schemas.microsoft.com/office/drawing/2014/main" id="{130F62A8-D29D-A036-806D-A4E1AF3FDAFB}"/>
              </a:ext>
            </a:extLst>
          </p:cNvPr>
          <p:cNvSpPr txBox="1">
            <a:spLocks/>
          </p:cNvSpPr>
          <p:nvPr/>
        </p:nvSpPr>
        <p:spPr>
          <a:xfrm>
            <a:off x="569966" y="3056496"/>
            <a:ext cx="7800311" cy="5332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25223" indent="0" algn="ctr">
              <a:buClr>
                <a:srgbClr val="000000"/>
              </a:buClr>
              <a:buSzPts val="1500"/>
              <a:buNone/>
            </a:pPr>
            <a:r>
              <a:rPr lang="en-US" dirty="0">
                <a:solidFill>
                  <a:srgbClr val="000000"/>
                </a:solidFill>
              </a:rPr>
              <a:t>Calculated Renewable Energy Generation </a:t>
            </a:r>
          </a:p>
        </p:txBody>
      </p:sp>
    </p:spTree>
    <p:extLst>
      <p:ext uri="{BB962C8B-B14F-4D97-AF65-F5344CB8AC3E}">
        <p14:creationId xmlns:p14="http://schemas.microsoft.com/office/powerpoint/2010/main" val="67851813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22</a:t>
            </a:fld>
            <a:endParaRPr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695FB4A9-EFB8-DCD6-4845-1E1C058D154E}"/>
              </a:ext>
            </a:extLst>
          </p:cNvPr>
          <p:cNvSpPr txBox="1">
            <a:spLocks/>
          </p:cNvSpPr>
          <p:nvPr/>
        </p:nvSpPr>
        <p:spPr>
          <a:xfrm>
            <a:off x="311700" y="669426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1C367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3000" dirty="0"/>
              <a:t>Methodology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853FCE07-12F4-0686-C6AF-09F8409C2DB0}"/>
              </a:ext>
            </a:extLst>
          </p:cNvPr>
          <p:cNvGrpSpPr/>
          <p:nvPr/>
        </p:nvGrpSpPr>
        <p:grpSpPr>
          <a:xfrm>
            <a:off x="118737" y="1598241"/>
            <a:ext cx="8891040" cy="2497019"/>
            <a:chOff x="149089" y="1246264"/>
            <a:chExt cx="8891040" cy="2497019"/>
          </a:xfrm>
        </p:grpSpPr>
        <p:sp>
          <p:nvSpPr>
            <p:cNvPr id="2" name="Rounded Rectangle 1">
              <a:extLst>
                <a:ext uri="{FF2B5EF4-FFF2-40B4-BE49-F238E27FC236}">
                  <a16:creationId xmlns:a16="http://schemas.microsoft.com/office/drawing/2014/main" id="{03AF5E48-151B-3C4A-FD92-27E2975325AE}"/>
                </a:ext>
              </a:extLst>
            </p:cNvPr>
            <p:cNvSpPr/>
            <p:nvPr/>
          </p:nvSpPr>
          <p:spPr>
            <a:xfrm>
              <a:off x="149089" y="1675944"/>
              <a:ext cx="2300232" cy="2067339"/>
            </a:xfrm>
            <a:prstGeom prst="roundRect">
              <a:avLst/>
            </a:prstGeom>
            <a:solidFill>
              <a:schemeClr val="accent1">
                <a:alpha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600" dirty="0"/>
                <a:t>Forecasting Inputs (2023-2027)</a:t>
              </a:r>
            </a:p>
            <a:p>
              <a:pPr marL="285750" indent="-285750">
                <a:buClr>
                  <a:schemeClr val="bg1"/>
                </a:buClr>
                <a:buFont typeface="Arial" panose="020B0604020202020204" pitchFamily="34" charset="0"/>
                <a:buChar char="•"/>
              </a:pPr>
              <a:r>
                <a:rPr lang="en-US" dirty="0"/>
                <a:t>Energy Consumption &amp; Treated Water </a:t>
              </a:r>
            </a:p>
            <a:p>
              <a:pPr marL="285750" indent="-285750">
                <a:buClr>
                  <a:schemeClr val="bg1"/>
                </a:buClr>
                <a:buFont typeface="Arial" panose="020B0604020202020204" pitchFamily="34" charset="0"/>
                <a:buChar char="•"/>
              </a:pPr>
              <a:r>
                <a:rPr lang="en-US" dirty="0"/>
                <a:t>Wind, Temperature, and Solar Irradiance</a:t>
              </a:r>
            </a:p>
          </p:txBody>
        </p:sp>
        <p:sp>
          <p:nvSpPr>
            <p:cNvPr id="4" name="Right Arrow 3">
              <a:extLst>
                <a:ext uri="{FF2B5EF4-FFF2-40B4-BE49-F238E27FC236}">
                  <a16:creationId xmlns:a16="http://schemas.microsoft.com/office/drawing/2014/main" id="{33830E46-0454-258C-1660-C25AAA7587FC}"/>
                </a:ext>
              </a:extLst>
            </p:cNvPr>
            <p:cNvSpPr/>
            <p:nvPr/>
          </p:nvSpPr>
          <p:spPr>
            <a:xfrm>
              <a:off x="2487209" y="2356774"/>
              <a:ext cx="453629" cy="864704"/>
            </a:xfrm>
            <a:prstGeom prst="rightArrow">
              <a:avLst/>
            </a:prstGeom>
            <a:solidFill>
              <a:schemeClr val="accent1">
                <a:alpha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" name="Rounded Rectangle 4">
              <a:extLst>
                <a:ext uri="{FF2B5EF4-FFF2-40B4-BE49-F238E27FC236}">
                  <a16:creationId xmlns:a16="http://schemas.microsoft.com/office/drawing/2014/main" id="{EC7BD660-188D-A09D-EFC5-E2ECD2EA4B39}"/>
                </a:ext>
              </a:extLst>
            </p:cNvPr>
            <p:cNvSpPr/>
            <p:nvPr/>
          </p:nvSpPr>
          <p:spPr>
            <a:xfrm>
              <a:off x="2969409" y="1675943"/>
              <a:ext cx="1626625" cy="2067339"/>
            </a:xfrm>
            <a:prstGeom prst="roundRect">
              <a:avLst/>
            </a:prstGeom>
            <a:solidFill>
              <a:schemeClr val="accent1">
                <a:alpha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600" dirty="0"/>
                <a:t>Estimate RE Generation for Wind, PV, and CSP</a:t>
              </a:r>
            </a:p>
          </p:txBody>
        </p:sp>
        <p:sp>
          <p:nvSpPr>
            <p:cNvPr id="7" name="Rounded Rectangle 6">
              <a:extLst>
                <a:ext uri="{FF2B5EF4-FFF2-40B4-BE49-F238E27FC236}">
                  <a16:creationId xmlns:a16="http://schemas.microsoft.com/office/drawing/2014/main" id="{4C001CDC-A0AE-7A5D-9710-205239EF8F5C}"/>
                </a:ext>
              </a:extLst>
            </p:cNvPr>
            <p:cNvSpPr/>
            <p:nvPr/>
          </p:nvSpPr>
          <p:spPr>
            <a:xfrm>
              <a:off x="7335091" y="1675942"/>
              <a:ext cx="1705038" cy="2067339"/>
            </a:xfrm>
            <a:prstGeom prst="roundRect">
              <a:avLst/>
            </a:prstGeom>
            <a:solidFill>
              <a:schemeClr val="accent1">
                <a:alpha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600" dirty="0"/>
                <a:t>Multi-objective Optimization</a:t>
              </a:r>
            </a:p>
            <a:p>
              <a:pPr marL="285750" indent="-285750">
                <a:buClr>
                  <a:schemeClr val="bg1"/>
                </a:buClr>
                <a:buFont typeface="Arial" panose="020B0604020202020204" pitchFamily="34" charset="0"/>
                <a:buChar char="•"/>
              </a:pPr>
              <a:r>
                <a:rPr lang="en-US" dirty="0"/>
                <a:t>Minimize CO2</a:t>
              </a:r>
            </a:p>
            <a:p>
              <a:pPr marL="285750" indent="-285750">
                <a:buClr>
                  <a:schemeClr val="bg1"/>
                </a:buClr>
                <a:buFont typeface="Arial" panose="020B0604020202020204" pitchFamily="34" charset="0"/>
                <a:buChar char="•"/>
              </a:pPr>
              <a:r>
                <a:rPr lang="en-US" dirty="0"/>
                <a:t>Minimize Cost</a:t>
              </a:r>
            </a:p>
          </p:txBody>
        </p:sp>
        <p:sp>
          <p:nvSpPr>
            <p:cNvPr id="8" name="Right Arrow 7">
              <a:extLst>
                <a:ext uri="{FF2B5EF4-FFF2-40B4-BE49-F238E27FC236}">
                  <a16:creationId xmlns:a16="http://schemas.microsoft.com/office/drawing/2014/main" id="{D2D2F339-48E1-2832-DBB0-048A41AB53DB}"/>
                </a:ext>
              </a:extLst>
            </p:cNvPr>
            <p:cNvSpPr/>
            <p:nvPr/>
          </p:nvSpPr>
          <p:spPr>
            <a:xfrm>
              <a:off x="6857312" y="2356774"/>
              <a:ext cx="453629" cy="864704"/>
            </a:xfrm>
            <a:prstGeom prst="rightArrow">
              <a:avLst/>
            </a:prstGeom>
            <a:solidFill>
              <a:schemeClr val="accent1">
                <a:alpha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D7C3D9A3-4E53-4572-5344-4C8AB0A65D76}"/>
                </a:ext>
              </a:extLst>
            </p:cNvPr>
            <p:cNvSpPr txBox="1"/>
            <p:nvPr/>
          </p:nvSpPr>
          <p:spPr>
            <a:xfrm>
              <a:off x="1083365" y="1246264"/>
              <a:ext cx="8515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/>
                <a:t>Step 1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EBC6E8AE-4997-A05A-9518-F00FD6F01653}"/>
                </a:ext>
              </a:extLst>
            </p:cNvPr>
            <p:cNvSpPr txBox="1"/>
            <p:nvPr/>
          </p:nvSpPr>
          <p:spPr>
            <a:xfrm>
              <a:off x="3209992" y="1246264"/>
              <a:ext cx="8515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/>
                <a:t>Step 2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09AA285-90F2-F6C3-6C02-CE30810D5FAE}"/>
                </a:ext>
              </a:extLst>
            </p:cNvPr>
            <p:cNvSpPr txBox="1"/>
            <p:nvPr/>
          </p:nvSpPr>
          <p:spPr>
            <a:xfrm>
              <a:off x="5544492" y="1246264"/>
              <a:ext cx="8515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solidFill>
                    <a:srgbClr val="FF0000"/>
                  </a:solidFill>
                </a:rPr>
                <a:t>Step 3</a:t>
              </a:r>
            </a:p>
          </p:txBody>
        </p:sp>
      </p:grpSp>
      <p:sp>
        <p:nvSpPr>
          <p:cNvPr id="12" name="Rounded Rectangle 4">
            <a:extLst>
              <a:ext uri="{FF2B5EF4-FFF2-40B4-BE49-F238E27FC236}">
                <a16:creationId xmlns:a16="http://schemas.microsoft.com/office/drawing/2014/main" id="{AF1693E5-61BD-B38B-D289-F5FB7E8C3D44}"/>
              </a:ext>
            </a:extLst>
          </p:cNvPr>
          <p:cNvSpPr/>
          <p:nvPr/>
        </p:nvSpPr>
        <p:spPr>
          <a:xfrm>
            <a:off x="5087202" y="2047525"/>
            <a:ext cx="1705038" cy="2067339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/>
              <a:t>Total Cost &amp; CO2 Emissions for RE &amp; BS</a:t>
            </a:r>
          </a:p>
        </p:txBody>
      </p:sp>
      <p:sp>
        <p:nvSpPr>
          <p:cNvPr id="13" name="Right Arrow 7">
            <a:extLst>
              <a:ext uri="{FF2B5EF4-FFF2-40B4-BE49-F238E27FC236}">
                <a16:creationId xmlns:a16="http://schemas.microsoft.com/office/drawing/2014/main" id="{8B7C42EC-8BA6-5658-EB33-DA9CBC1CE134}"/>
              </a:ext>
            </a:extLst>
          </p:cNvPr>
          <p:cNvSpPr/>
          <p:nvPr/>
        </p:nvSpPr>
        <p:spPr>
          <a:xfrm>
            <a:off x="4604196" y="2735942"/>
            <a:ext cx="453629" cy="864704"/>
          </a:xfrm>
          <a:prstGeom prst="rightArrow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FE337A8-4298-945C-9AF6-29347AEC2AF1}"/>
              </a:ext>
            </a:extLst>
          </p:cNvPr>
          <p:cNvSpPr txBox="1"/>
          <p:nvPr/>
        </p:nvSpPr>
        <p:spPr>
          <a:xfrm>
            <a:off x="7643316" y="1595083"/>
            <a:ext cx="8515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Step 4</a:t>
            </a:r>
          </a:p>
        </p:txBody>
      </p:sp>
    </p:spTree>
    <p:extLst>
      <p:ext uri="{BB962C8B-B14F-4D97-AF65-F5344CB8AC3E}">
        <p14:creationId xmlns:p14="http://schemas.microsoft.com/office/powerpoint/2010/main" val="107097614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23</a:t>
            </a:fld>
            <a:endParaRPr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A5B6011-105F-0235-FFC3-9878DAB9361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0562" y="3514252"/>
            <a:ext cx="6914579" cy="835247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FD566A26-3684-5B39-A497-A276AC16FA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699" y="473408"/>
            <a:ext cx="8520600" cy="572700"/>
          </a:xfrm>
        </p:spPr>
        <p:txBody>
          <a:bodyPr>
            <a:noAutofit/>
          </a:bodyPr>
          <a:lstStyle/>
          <a:p>
            <a:pPr algn="ctr"/>
            <a:r>
              <a:rPr lang="en-US" sz="3000" dirty="0"/>
              <a:t>RE CAPEX, </a:t>
            </a:r>
            <a:r>
              <a:rPr lang="en-US" sz="3000" dirty="0" err="1"/>
              <a:t>OpEx</a:t>
            </a:r>
            <a:r>
              <a:rPr lang="en-US" sz="3000" dirty="0"/>
              <a:t>, CO2 Emissions: Assumptions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Google Shape;234;g2bd1100ac18_0_11">
                <a:extLst>
                  <a:ext uri="{FF2B5EF4-FFF2-40B4-BE49-F238E27FC236}">
                    <a16:creationId xmlns:a16="http://schemas.microsoft.com/office/drawing/2014/main" id="{F0F788C5-A93B-F2A3-7955-6A23A6687B54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233583" y="976463"/>
                <a:ext cx="8704693" cy="119266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i="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F</m:t>
                    </m:r>
                    <m:sSub>
                      <m:sSubPr>
                        <m:ctrlPr>
                          <a:rPr lang="en-US" sz="16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600" i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APU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600" i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i</m:t>
                        </m:r>
                      </m:sub>
                    </m:sSub>
                  </m:oMath>
                </a14:m>
                <a:r>
                  <a:rPr lang="en-US" sz="1600" dirty="0">
                    <a:solidFill>
                      <a:schemeClr val="tx1"/>
                    </a:solidFill>
                    <a:effectLst/>
                    <a:latin typeface="+mn-lt"/>
                    <a:ea typeface="Calibri" panose="020F0502020204030204" pitchFamily="34" charset="0"/>
                    <a:cs typeface="Calibri" panose="020F0502020204030204" pitchFamily="34" charset="0"/>
                  </a:rPr>
                  <a:t> is Fixed Annual Payment per Unit (CAPEX amortized/25 years + annual Fixed OH)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b="0" i="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T</m:t>
                    </m:r>
                    <m:r>
                      <m:rPr>
                        <m:sty m:val="p"/>
                      </m:rPr>
                      <a:rPr lang="en-US" sz="1600" i="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otalRE</m:t>
                    </m:r>
                    <m:r>
                      <m:rPr>
                        <m:lit/>
                      </m:rPr>
                      <a:rPr lang="en-US" sz="1600" i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_</m:t>
                    </m:r>
                    <m:r>
                      <m:rPr>
                        <m:sty m:val="p"/>
                      </m:rPr>
                      <a:rPr lang="en-US" sz="1600" i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cost</m:t>
                    </m:r>
                    <m:r>
                      <a:rPr lang="en-US" sz="1600" i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sz="16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US" sz="1600" i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i</m:t>
                        </m:r>
                        <m:r>
                          <a:rPr lang="en-US" sz="1600" i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=1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sz="1600" i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N</m:t>
                        </m:r>
                      </m:sup>
                      <m:e>
                        <m:r>
                          <a:rPr lang="en-US" sz="1600" i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1600" i="1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1600" i="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N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1600" i="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i</m:t>
                            </m:r>
                          </m:sub>
                        </m:sSub>
                        <m:r>
                          <a:rPr lang="en-US" sz="1600" i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× </m:t>
                        </m:r>
                        <m:r>
                          <m:rPr>
                            <m:sty m:val="p"/>
                          </m:rPr>
                          <a:rPr lang="en-US" sz="1600" i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F</m:t>
                        </m:r>
                        <m:sSub>
                          <m:sSubPr>
                            <m:ctrlPr>
                              <a:rPr lang="en-US" sz="1600" i="1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1600" i="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APU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1600" i="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i</m:t>
                            </m:r>
                          </m:sub>
                        </m:sSub>
                        <m:r>
                          <a:rPr lang="en-US" sz="1600" i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US" sz="1600" i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VO</m:t>
                        </m:r>
                        <m:sSub>
                          <m:sSubPr>
                            <m:ctrlPr>
                              <a:rPr lang="en-US" sz="1600" i="1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1600" i="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1600" i="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i</m:t>
                            </m:r>
                          </m:sub>
                        </m:sSub>
                        <m:r>
                          <a:rPr lang="en-US" sz="1600" i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×</m:t>
                        </m:r>
                        <m:r>
                          <m:rPr>
                            <m:sty m:val="p"/>
                          </m:rPr>
                          <a:rPr lang="en-US" sz="1600" i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Energyproduce</m:t>
                        </m:r>
                        <m:sSub>
                          <m:sSubPr>
                            <m:ctrlPr>
                              <a:rPr lang="en-US" sz="1600" i="1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1600" i="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d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1600" i="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i</m:t>
                            </m:r>
                          </m:sub>
                        </m:sSub>
                        <m:r>
                          <a:rPr lang="en-US" sz="1600" i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en-US" sz="1600" dirty="0">
                  <a:solidFill>
                    <a:schemeClr val="tx1"/>
                  </a:solidFill>
                  <a:effectLst/>
                  <a:latin typeface="+mn-lt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sz="1600" kern="0" dirty="0">
                    <a:solidFill>
                      <a:schemeClr val="tx1"/>
                    </a:solidFill>
                    <a:effectLst/>
                    <a:latin typeface="+mn-lt"/>
                    <a:ea typeface="CMMI12"/>
                    <a:cs typeface="Times New Roman" panose="02020603050405020304" pitchFamily="18" charset="0"/>
                  </a:rPr>
                  <a:t>T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i="0" kern="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CMMI12"/>
                        <a:cs typeface="Times New Roman" panose="02020603050405020304" pitchFamily="18" charset="0"/>
                      </a:rPr>
                      <m:t>otal</m:t>
                    </m:r>
                    <m:r>
                      <m:rPr>
                        <m:lit/>
                      </m:rPr>
                      <a:rPr lang="en-US" sz="1600" i="0" ker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CMMI12"/>
                        <a:cs typeface="Times New Roman" panose="02020603050405020304" pitchFamily="18" charset="0"/>
                      </a:rPr>
                      <m:t>_</m:t>
                    </m:r>
                    <m:r>
                      <m:rPr>
                        <m:sty m:val="p"/>
                      </m:rPr>
                      <a:rPr lang="en-US" sz="1600" i="0" ker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CMMI12"/>
                        <a:cs typeface="Times New Roman" panose="02020603050405020304" pitchFamily="18" charset="0"/>
                      </a:rPr>
                      <m:t>CO</m:t>
                    </m:r>
                    <m:r>
                      <a:rPr lang="en-US" sz="1600" i="0" ker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CMMI12"/>
                        <a:cs typeface="Times New Roman" panose="02020603050405020304" pitchFamily="18" charset="0"/>
                      </a:rPr>
                      <m:t>2=</m:t>
                    </m:r>
                    <m:nary>
                      <m:naryPr>
                        <m:chr m:val="∑"/>
                        <m:ctrlPr>
                          <a:rPr lang="en-US" sz="16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MMI12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US" sz="1600" i="0" ker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MMI12"/>
                            <a:cs typeface="Times New Roman" panose="02020603050405020304" pitchFamily="18" charset="0"/>
                          </a:rPr>
                          <m:t>i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sz="1600" i="0" ker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MMI12"/>
                            <a:cs typeface="Times New Roman" panose="02020603050405020304" pitchFamily="18" charset="0"/>
                          </a:rPr>
                          <m:t>N</m:t>
                        </m:r>
                      </m:sup>
                      <m:e>
                        <m:d>
                          <m:dPr>
                            <m:ctrlPr>
                              <a:rPr lang="en-US" sz="1600" i="1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CMMI12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sz="1600" i="0" kern="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CMMI12"/>
                                <a:cs typeface="Times New Roman" panose="02020603050405020304" pitchFamily="18" charset="0"/>
                              </a:rPr>
                              <m:t>CO</m:t>
                            </m:r>
                            <m:r>
                              <a:rPr lang="en-US" sz="1600" i="0" kern="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CMMI12"/>
                                <a:cs typeface="Times New Roman" panose="020206030504050203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US" sz="1600" i="0" kern="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CMMI12"/>
                                <a:cs typeface="Times New Roman" panose="02020603050405020304" pitchFamily="18" charset="0"/>
                              </a:rPr>
                              <m:t>EmissionLifetim</m:t>
                            </m:r>
                            <m:sSub>
                              <m:sSubPr>
                                <m:ctrlPr>
                                  <a:rPr lang="en-US" sz="160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MMI12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sz="1600" i="0" ker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MMI12"/>
                                    <a:cs typeface="Times New Roman" panose="02020603050405020304" pitchFamily="18" charset="0"/>
                                  </a:rPr>
                                  <m:t>e</m:t>
                                </m:r>
                                <m:r>
                                  <a:rPr lang="en-US" sz="1600" i="0" ker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MMI12"/>
                                    <a:cs typeface="Times New Roman" panose="02020603050405020304" pitchFamily="18" charset="0"/>
                                  </a:rPr>
                                  <m:t>/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1600" i="0" ker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MMI12"/>
                                    <a:cs typeface="Times New Roman" panose="02020603050405020304" pitchFamily="18" charset="0"/>
                                  </a:rPr>
                                  <m:t>unit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sz="1600" i="0" ker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MMI12"/>
                                    <a:cs typeface="Times New Roman" panose="02020603050405020304" pitchFamily="18" charset="0"/>
                                  </a:rPr>
                                  <m:t>i</m:t>
                                </m:r>
                              </m:sub>
                            </m:sSub>
                            <m:r>
                              <a:rPr lang="en-US" sz="1600" i="0" kern="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CMMI12"/>
                                <a:cs typeface="Times New Roman" panose="02020603050405020304" pitchFamily="18" charset="0"/>
                              </a:rPr>
                              <m:t>×</m:t>
                            </m:r>
                            <m:sSub>
                              <m:sSubPr>
                                <m:ctrlPr>
                                  <a:rPr lang="en-US" sz="160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sz="1600" i="0" ker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N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sz="1600" i="0" ker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i</m:t>
                                </m:r>
                              </m:sub>
                            </m:sSub>
                          </m:e>
                        </m:d>
                      </m:e>
                    </m:nary>
                  </m:oMath>
                </a14:m>
                <a:endParaRPr lang="en-US" sz="1600" dirty="0">
                  <a:solidFill>
                    <a:schemeClr val="dk1"/>
                  </a:solidFill>
                  <a:latin typeface="+mn-lt"/>
                </a:endParaRPr>
              </a:p>
            </p:txBody>
          </p:sp>
        </mc:Choice>
        <mc:Fallback xmlns="">
          <p:sp>
            <p:nvSpPr>
              <p:cNvPr id="10" name="Google Shape;234;g2bd1100ac18_0_11">
                <a:extLst>
                  <a:ext uri="{FF2B5EF4-FFF2-40B4-BE49-F238E27FC236}">
                    <a16:creationId xmlns:a16="http://schemas.microsoft.com/office/drawing/2014/main" id="{F0F788C5-A93B-F2A3-7955-6A23A6687B54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233583" y="976463"/>
                <a:ext cx="8704693" cy="1192663"/>
              </a:xfrm>
              <a:prstGeom prst="rect">
                <a:avLst/>
              </a:prstGeom>
              <a:blipFill>
                <a:blip r:embed="rId4"/>
                <a:stretch>
                  <a:fillRect b="-5204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Google Shape;234;g2bd1100ac18_0_11">
            <a:extLst>
              <a:ext uri="{FF2B5EF4-FFF2-40B4-BE49-F238E27FC236}">
                <a16:creationId xmlns:a16="http://schemas.microsoft.com/office/drawing/2014/main" id="{80DF2A61-01DF-DE85-0372-2B063B8DCAF7}"/>
              </a:ext>
            </a:extLst>
          </p:cNvPr>
          <p:cNvSpPr txBox="1">
            <a:spLocks/>
          </p:cNvSpPr>
          <p:nvPr/>
        </p:nvSpPr>
        <p:spPr>
          <a:xfrm>
            <a:off x="169058" y="4447663"/>
            <a:ext cx="8520600" cy="728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4300" indent="0">
              <a:lnSpc>
                <a:spcPct val="100000"/>
              </a:lnSpc>
              <a:buNone/>
            </a:pPr>
            <a:r>
              <a:rPr lang="en-US" sz="1000" dirty="0">
                <a:solidFill>
                  <a:schemeClr val="dk1"/>
                </a:solidFill>
              </a:rPr>
              <a:t>Source: </a:t>
            </a:r>
          </a:p>
          <a:p>
            <a:pPr>
              <a:lnSpc>
                <a:spcPct val="100000"/>
              </a:lnSpc>
              <a:buFontTx/>
              <a:buChar char="-"/>
            </a:pPr>
            <a:r>
              <a:rPr lang="en-US" sz="1000" dirty="0">
                <a:solidFill>
                  <a:schemeClr val="dk1"/>
                </a:solidFill>
              </a:rPr>
              <a:t>CAPEX, FOH, VOH, are sourced from NREL Annual Technology Baseline Database 2023</a:t>
            </a:r>
          </a:p>
          <a:p>
            <a:pPr>
              <a:lnSpc>
                <a:spcPct val="100000"/>
              </a:lnSpc>
              <a:buFontTx/>
              <a:buChar char="-"/>
            </a:pPr>
            <a:r>
              <a:rPr lang="en-US" sz="1000" dirty="0">
                <a:solidFill>
                  <a:schemeClr val="dk1"/>
                </a:solidFill>
              </a:rPr>
              <a:t>Lifetime CO2 emissions are sourced from NREL </a:t>
            </a:r>
          </a:p>
          <a:p>
            <a:pPr>
              <a:lnSpc>
                <a:spcPct val="100000"/>
              </a:lnSpc>
              <a:buFontTx/>
              <a:buChar char="-"/>
            </a:pPr>
            <a:r>
              <a:rPr lang="en-US" sz="1000" dirty="0">
                <a:solidFill>
                  <a:schemeClr val="dk1"/>
                </a:solidFill>
              </a:rPr>
              <a:t>High-end RE system specs are sources from leading vendors of RE systems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DAC26EE-965A-AD62-E1BE-6CE30C47989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0119" y="2267290"/>
            <a:ext cx="8704694" cy="1246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613047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24</a:t>
            </a:fld>
            <a:endParaRPr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695FB4A9-EFB8-DCD6-4845-1E1C058D154E}"/>
              </a:ext>
            </a:extLst>
          </p:cNvPr>
          <p:cNvSpPr txBox="1">
            <a:spLocks/>
          </p:cNvSpPr>
          <p:nvPr/>
        </p:nvSpPr>
        <p:spPr>
          <a:xfrm>
            <a:off x="311700" y="673564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1C367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3000" dirty="0"/>
              <a:t>Methodology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853FCE07-12F4-0686-C6AF-09F8409C2DB0}"/>
              </a:ext>
            </a:extLst>
          </p:cNvPr>
          <p:cNvGrpSpPr/>
          <p:nvPr/>
        </p:nvGrpSpPr>
        <p:grpSpPr>
          <a:xfrm>
            <a:off x="126480" y="1205208"/>
            <a:ext cx="8891040" cy="2497019"/>
            <a:chOff x="149089" y="1246264"/>
            <a:chExt cx="8891040" cy="2497019"/>
          </a:xfrm>
        </p:grpSpPr>
        <p:sp>
          <p:nvSpPr>
            <p:cNvPr id="2" name="Rounded Rectangle 1">
              <a:extLst>
                <a:ext uri="{FF2B5EF4-FFF2-40B4-BE49-F238E27FC236}">
                  <a16:creationId xmlns:a16="http://schemas.microsoft.com/office/drawing/2014/main" id="{03AF5E48-151B-3C4A-FD92-27E2975325AE}"/>
                </a:ext>
              </a:extLst>
            </p:cNvPr>
            <p:cNvSpPr/>
            <p:nvPr/>
          </p:nvSpPr>
          <p:spPr>
            <a:xfrm>
              <a:off x="149089" y="1675944"/>
              <a:ext cx="2300232" cy="2067339"/>
            </a:xfrm>
            <a:prstGeom prst="roundRect">
              <a:avLst/>
            </a:prstGeom>
            <a:solidFill>
              <a:schemeClr val="accent1">
                <a:alpha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600" dirty="0"/>
                <a:t>Forecasting Inputs (2023-2027)</a:t>
              </a:r>
            </a:p>
            <a:p>
              <a:pPr marL="285750" indent="-285750">
                <a:buClr>
                  <a:schemeClr val="bg1"/>
                </a:buClr>
                <a:buFont typeface="Arial" panose="020B0604020202020204" pitchFamily="34" charset="0"/>
                <a:buChar char="•"/>
              </a:pPr>
              <a:r>
                <a:rPr lang="en-US" dirty="0"/>
                <a:t>Energy Consumption &amp; Treated Water </a:t>
              </a:r>
            </a:p>
            <a:p>
              <a:pPr marL="285750" indent="-285750">
                <a:buClr>
                  <a:schemeClr val="bg1"/>
                </a:buClr>
                <a:buFont typeface="Arial" panose="020B0604020202020204" pitchFamily="34" charset="0"/>
                <a:buChar char="•"/>
              </a:pPr>
              <a:r>
                <a:rPr lang="en-US" dirty="0"/>
                <a:t>Wind, Temperature, and Solar Irradiance</a:t>
              </a:r>
            </a:p>
          </p:txBody>
        </p:sp>
        <p:sp>
          <p:nvSpPr>
            <p:cNvPr id="4" name="Right Arrow 3">
              <a:extLst>
                <a:ext uri="{FF2B5EF4-FFF2-40B4-BE49-F238E27FC236}">
                  <a16:creationId xmlns:a16="http://schemas.microsoft.com/office/drawing/2014/main" id="{33830E46-0454-258C-1660-C25AAA7587FC}"/>
                </a:ext>
              </a:extLst>
            </p:cNvPr>
            <p:cNvSpPr/>
            <p:nvPr/>
          </p:nvSpPr>
          <p:spPr>
            <a:xfrm>
              <a:off x="2487209" y="2356774"/>
              <a:ext cx="453629" cy="864704"/>
            </a:xfrm>
            <a:prstGeom prst="rightArrow">
              <a:avLst/>
            </a:prstGeom>
            <a:solidFill>
              <a:schemeClr val="accent1">
                <a:alpha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" name="Rounded Rectangle 4">
              <a:extLst>
                <a:ext uri="{FF2B5EF4-FFF2-40B4-BE49-F238E27FC236}">
                  <a16:creationId xmlns:a16="http://schemas.microsoft.com/office/drawing/2014/main" id="{EC7BD660-188D-A09D-EFC5-E2ECD2EA4B39}"/>
                </a:ext>
              </a:extLst>
            </p:cNvPr>
            <p:cNvSpPr/>
            <p:nvPr/>
          </p:nvSpPr>
          <p:spPr>
            <a:xfrm>
              <a:off x="2969409" y="1675943"/>
              <a:ext cx="1626625" cy="2067339"/>
            </a:xfrm>
            <a:prstGeom prst="roundRect">
              <a:avLst/>
            </a:prstGeom>
            <a:solidFill>
              <a:schemeClr val="accent1">
                <a:alpha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600" dirty="0"/>
                <a:t>Estimate RE Generation for Wind, PV, and CSP</a:t>
              </a:r>
            </a:p>
          </p:txBody>
        </p:sp>
        <p:sp>
          <p:nvSpPr>
            <p:cNvPr id="7" name="Rounded Rectangle 6">
              <a:extLst>
                <a:ext uri="{FF2B5EF4-FFF2-40B4-BE49-F238E27FC236}">
                  <a16:creationId xmlns:a16="http://schemas.microsoft.com/office/drawing/2014/main" id="{4C001CDC-A0AE-7A5D-9710-205239EF8F5C}"/>
                </a:ext>
              </a:extLst>
            </p:cNvPr>
            <p:cNvSpPr/>
            <p:nvPr/>
          </p:nvSpPr>
          <p:spPr>
            <a:xfrm>
              <a:off x="7335091" y="1675942"/>
              <a:ext cx="1705038" cy="2067339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600" dirty="0"/>
                <a:t>Multi-objective Optimization</a:t>
              </a:r>
            </a:p>
            <a:p>
              <a:pPr marL="285750" indent="-285750">
                <a:buClr>
                  <a:schemeClr val="bg1"/>
                </a:buClr>
                <a:buFont typeface="Arial" panose="020B0604020202020204" pitchFamily="34" charset="0"/>
                <a:buChar char="•"/>
              </a:pPr>
              <a:r>
                <a:rPr lang="en-US" dirty="0"/>
                <a:t>Minimize CO2</a:t>
              </a:r>
            </a:p>
            <a:p>
              <a:pPr marL="285750" indent="-285750">
                <a:buClr>
                  <a:schemeClr val="bg1"/>
                </a:buClr>
                <a:buFont typeface="Arial" panose="020B0604020202020204" pitchFamily="34" charset="0"/>
                <a:buChar char="•"/>
              </a:pPr>
              <a:r>
                <a:rPr lang="en-US" dirty="0"/>
                <a:t>Minimize Cost</a:t>
              </a:r>
            </a:p>
          </p:txBody>
        </p:sp>
        <p:sp>
          <p:nvSpPr>
            <p:cNvPr id="8" name="Right Arrow 7">
              <a:extLst>
                <a:ext uri="{FF2B5EF4-FFF2-40B4-BE49-F238E27FC236}">
                  <a16:creationId xmlns:a16="http://schemas.microsoft.com/office/drawing/2014/main" id="{D2D2F339-48E1-2832-DBB0-048A41AB53DB}"/>
                </a:ext>
              </a:extLst>
            </p:cNvPr>
            <p:cNvSpPr/>
            <p:nvPr/>
          </p:nvSpPr>
          <p:spPr>
            <a:xfrm>
              <a:off x="6857312" y="2356774"/>
              <a:ext cx="453629" cy="864704"/>
            </a:xfrm>
            <a:prstGeom prst="rightArrow">
              <a:avLst/>
            </a:prstGeom>
            <a:solidFill>
              <a:schemeClr val="accent1">
                <a:alpha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D7C3D9A3-4E53-4572-5344-4C8AB0A65D76}"/>
                </a:ext>
              </a:extLst>
            </p:cNvPr>
            <p:cNvSpPr txBox="1"/>
            <p:nvPr/>
          </p:nvSpPr>
          <p:spPr>
            <a:xfrm>
              <a:off x="1083365" y="1246264"/>
              <a:ext cx="8515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/>
                <a:t>Step 1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EBC6E8AE-4997-A05A-9518-F00FD6F01653}"/>
                </a:ext>
              </a:extLst>
            </p:cNvPr>
            <p:cNvSpPr txBox="1"/>
            <p:nvPr/>
          </p:nvSpPr>
          <p:spPr>
            <a:xfrm>
              <a:off x="3209992" y="1246264"/>
              <a:ext cx="8515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/>
                <a:t>Step 2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09AA285-90F2-F6C3-6C02-CE30810D5FAE}"/>
                </a:ext>
              </a:extLst>
            </p:cNvPr>
            <p:cNvSpPr txBox="1"/>
            <p:nvPr/>
          </p:nvSpPr>
          <p:spPr>
            <a:xfrm>
              <a:off x="5544492" y="1246264"/>
              <a:ext cx="8515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/>
                <a:t>Step 3</a:t>
              </a:r>
            </a:p>
          </p:txBody>
        </p:sp>
      </p:grpSp>
      <p:sp>
        <p:nvSpPr>
          <p:cNvPr id="12" name="Rounded Rectangle 4">
            <a:extLst>
              <a:ext uri="{FF2B5EF4-FFF2-40B4-BE49-F238E27FC236}">
                <a16:creationId xmlns:a16="http://schemas.microsoft.com/office/drawing/2014/main" id="{AF1693E5-61BD-B38B-D289-F5FB7E8C3D44}"/>
              </a:ext>
            </a:extLst>
          </p:cNvPr>
          <p:cNvSpPr/>
          <p:nvPr/>
        </p:nvSpPr>
        <p:spPr>
          <a:xfrm>
            <a:off x="5081975" y="1634885"/>
            <a:ext cx="1705038" cy="2067339"/>
          </a:xfrm>
          <a:prstGeom prst="roundRect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/>
              <a:t>Total Cost &amp; CO2 Emissions for RE &amp; BS</a:t>
            </a:r>
          </a:p>
        </p:txBody>
      </p:sp>
      <p:sp>
        <p:nvSpPr>
          <p:cNvPr id="13" name="Right Arrow 7">
            <a:extLst>
              <a:ext uri="{FF2B5EF4-FFF2-40B4-BE49-F238E27FC236}">
                <a16:creationId xmlns:a16="http://schemas.microsoft.com/office/drawing/2014/main" id="{8B7C42EC-8BA6-5658-EB33-DA9CBC1CE134}"/>
              </a:ext>
            </a:extLst>
          </p:cNvPr>
          <p:cNvSpPr/>
          <p:nvPr/>
        </p:nvSpPr>
        <p:spPr>
          <a:xfrm>
            <a:off x="4628346" y="2398663"/>
            <a:ext cx="453629" cy="864704"/>
          </a:xfrm>
          <a:prstGeom prst="rightArrow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FE337A8-4298-945C-9AF6-29347AEC2AF1}"/>
              </a:ext>
            </a:extLst>
          </p:cNvPr>
          <p:cNvSpPr txBox="1"/>
          <p:nvPr/>
        </p:nvSpPr>
        <p:spPr>
          <a:xfrm>
            <a:off x="7692743" y="1205144"/>
            <a:ext cx="8515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rgbClr val="FF0000"/>
                </a:solidFill>
              </a:rPr>
              <a:t>Step 4</a:t>
            </a:r>
          </a:p>
        </p:txBody>
      </p:sp>
    </p:spTree>
    <p:extLst>
      <p:ext uri="{BB962C8B-B14F-4D97-AF65-F5344CB8AC3E}">
        <p14:creationId xmlns:p14="http://schemas.microsoft.com/office/powerpoint/2010/main" val="64422274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16FFCB-810A-1B29-6C14-4D9E8DEDA4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00" y="760304"/>
            <a:ext cx="9110900" cy="572700"/>
          </a:xfrm>
        </p:spPr>
        <p:txBody>
          <a:bodyPr>
            <a:noAutofit/>
          </a:bodyPr>
          <a:lstStyle/>
          <a:p>
            <a:pPr algn="ctr"/>
            <a:r>
              <a:rPr lang="en-US" sz="3000" dirty="0"/>
              <a:t>Optimizing the RE Supply and Plant Energy Demand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405E96-C8F3-4447-7FA6-40E7A984E31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25</a:t>
            </a:fld>
            <a:endParaRPr lang="en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3117BCDF-EC8E-F4F1-738C-C193AA0DC904}"/>
              </a:ext>
            </a:extLst>
          </p:cNvPr>
          <p:cNvGrpSpPr/>
          <p:nvPr/>
        </p:nvGrpSpPr>
        <p:grpSpPr>
          <a:xfrm>
            <a:off x="311702" y="1478014"/>
            <a:ext cx="8614112" cy="3306163"/>
            <a:chOff x="311702" y="1440502"/>
            <a:chExt cx="8614112" cy="3306163"/>
          </a:xfrm>
        </p:grpSpPr>
        <p:sp>
          <p:nvSpPr>
            <p:cNvPr id="5" name="Rounded Rectangle 4">
              <a:extLst>
                <a:ext uri="{FF2B5EF4-FFF2-40B4-BE49-F238E27FC236}">
                  <a16:creationId xmlns:a16="http://schemas.microsoft.com/office/drawing/2014/main" id="{61146FD1-01DA-EB02-A9E9-71237B6D6A58}"/>
                </a:ext>
              </a:extLst>
            </p:cNvPr>
            <p:cNvSpPr/>
            <p:nvPr/>
          </p:nvSpPr>
          <p:spPr>
            <a:xfrm>
              <a:off x="311703" y="1440502"/>
              <a:ext cx="2773017" cy="736168"/>
            </a:xfrm>
            <a:prstGeom prst="roundRect">
              <a:avLst/>
            </a:prstGeom>
            <a:solidFill>
              <a:schemeClr val="accent1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Desalination Plant - Treated Water + Energy Consumption Forecasting</a:t>
              </a:r>
            </a:p>
          </p:txBody>
        </p:sp>
        <p:sp>
          <p:nvSpPr>
            <p:cNvPr id="6" name="Rounded Rectangle 5">
              <a:extLst>
                <a:ext uri="{FF2B5EF4-FFF2-40B4-BE49-F238E27FC236}">
                  <a16:creationId xmlns:a16="http://schemas.microsoft.com/office/drawing/2014/main" id="{5D30B651-CFD6-8F89-47CE-6756A024B76F}"/>
                </a:ext>
              </a:extLst>
            </p:cNvPr>
            <p:cNvSpPr/>
            <p:nvPr/>
          </p:nvSpPr>
          <p:spPr>
            <a:xfrm>
              <a:off x="311702" y="2331090"/>
              <a:ext cx="2773017" cy="646043"/>
            </a:xfrm>
            <a:prstGeom prst="round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Weather / Solar Radiation</a:t>
              </a:r>
            </a:p>
            <a:p>
              <a:pPr algn="ctr"/>
              <a:r>
                <a:rPr lang="en-US" dirty="0"/>
                <a:t>Forecasting</a:t>
              </a:r>
            </a:p>
          </p:txBody>
        </p:sp>
        <p:sp>
          <p:nvSpPr>
            <p:cNvPr id="7" name="Rounded Rectangle 6">
              <a:extLst>
                <a:ext uri="{FF2B5EF4-FFF2-40B4-BE49-F238E27FC236}">
                  <a16:creationId xmlns:a16="http://schemas.microsoft.com/office/drawing/2014/main" id="{6EC77B87-D8B6-1785-5807-81EE5E3DA33B}"/>
                </a:ext>
              </a:extLst>
            </p:cNvPr>
            <p:cNvSpPr/>
            <p:nvPr/>
          </p:nvSpPr>
          <p:spPr>
            <a:xfrm>
              <a:off x="311702" y="3246526"/>
              <a:ext cx="2773017" cy="646043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Renewable Energy</a:t>
              </a:r>
            </a:p>
            <a:p>
              <a:pPr algn="ctr"/>
              <a:r>
                <a:rPr lang="en-US" dirty="0"/>
                <a:t>Parameters</a:t>
              </a:r>
            </a:p>
          </p:txBody>
        </p:sp>
        <p:sp>
          <p:nvSpPr>
            <p:cNvPr id="3" name="Right Arrow 2">
              <a:extLst>
                <a:ext uri="{FF2B5EF4-FFF2-40B4-BE49-F238E27FC236}">
                  <a16:creationId xmlns:a16="http://schemas.microsoft.com/office/drawing/2014/main" id="{52DD632E-23CC-2E8F-3DA2-78CACC7B747A}"/>
                </a:ext>
              </a:extLst>
            </p:cNvPr>
            <p:cNvSpPr/>
            <p:nvPr/>
          </p:nvSpPr>
          <p:spPr>
            <a:xfrm rot="1261010">
              <a:off x="3250098" y="1761678"/>
              <a:ext cx="1570382" cy="546653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ight Arrow 9">
              <a:extLst>
                <a:ext uri="{FF2B5EF4-FFF2-40B4-BE49-F238E27FC236}">
                  <a16:creationId xmlns:a16="http://schemas.microsoft.com/office/drawing/2014/main" id="{51A376E4-69C3-2D97-A205-AEDDB7771625}"/>
                </a:ext>
              </a:extLst>
            </p:cNvPr>
            <p:cNvSpPr/>
            <p:nvPr/>
          </p:nvSpPr>
          <p:spPr>
            <a:xfrm>
              <a:off x="3250098" y="2380784"/>
              <a:ext cx="1262269" cy="546653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ight Arrow 11">
              <a:extLst>
                <a:ext uri="{FF2B5EF4-FFF2-40B4-BE49-F238E27FC236}">
                  <a16:creationId xmlns:a16="http://schemas.microsoft.com/office/drawing/2014/main" id="{6A893A13-29D3-67D6-D6C4-CD29CA3924CC}"/>
                </a:ext>
              </a:extLst>
            </p:cNvPr>
            <p:cNvSpPr/>
            <p:nvPr/>
          </p:nvSpPr>
          <p:spPr>
            <a:xfrm rot="20338990" flipV="1">
              <a:off x="3230219" y="3082496"/>
              <a:ext cx="1570382" cy="546653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CB6B556A-C530-0EE2-620C-2C35954C1B76}"/>
                </a:ext>
              </a:extLst>
            </p:cNvPr>
            <p:cNvSpPr/>
            <p:nvPr/>
          </p:nvSpPr>
          <p:spPr>
            <a:xfrm>
              <a:off x="4766880" y="1763523"/>
              <a:ext cx="1892339" cy="1857565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</a:rPr>
                <a:t>Multi-objective Optimization</a:t>
              </a:r>
            </a:p>
            <a:p>
              <a:pPr algn="ctr"/>
              <a:r>
                <a:rPr lang="en-US" sz="1600" dirty="0">
                  <a:solidFill>
                    <a:schemeClr val="tx1"/>
                  </a:solidFill>
                </a:rPr>
                <a:t>Engine</a:t>
              </a:r>
            </a:p>
          </p:txBody>
        </p:sp>
        <p:sp>
          <p:nvSpPr>
            <p:cNvPr id="14" name="Right Arrow 13">
              <a:extLst>
                <a:ext uri="{FF2B5EF4-FFF2-40B4-BE49-F238E27FC236}">
                  <a16:creationId xmlns:a16="http://schemas.microsoft.com/office/drawing/2014/main" id="{36388525-9057-59CB-A6A8-9061D2052478}"/>
                </a:ext>
              </a:extLst>
            </p:cNvPr>
            <p:cNvSpPr/>
            <p:nvPr/>
          </p:nvSpPr>
          <p:spPr>
            <a:xfrm>
              <a:off x="6801682" y="2380784"/>
              <a:ext cx="652668" cy="546653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ounded Rectangle 14">
              <a:extLst>
                <a:ext uri="{FF2B5EF4-FFF2-40B4-BE49-F238E27FC236}">
                  <a16:creationId xmlns:a16="http://schemas.microsoft.com/office/drawing/2014/main" id="{F6C48FC0-D9C6-E199-1DF5-6CF2FC3A99B9}"/>
                </a:ext>
              </a:extLst>
            </p:cNvPr>
            <p:cNvSpPr/>
            <p:nvPr/>
          </p:nvSpPr>
          <p:spPr>
            <a:xfrm>
              <a:off x="7557530" y="2043702"/>
              <a:ext cx="1368284" cy="1278482"/>
            </a:xfrm>
            <a:prstGeom prst="round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Optimal RE &amp; Battery Storage Mix for each Desalination Plant</a:t>
              </a:r>
            </a:p>
          </p:txBody>
        </p:sp>
        <p:sp>
          <p:nvSpPr>
            <p:cNvPr id="16" name="Rounded Rectangle 15">
              <a:extLst>
                <a:ext uri="{FF2B5EF4-FFF2-40B4-BE49-F238E27FC236}">
                  <a16:creationId xmlns:a16="http://schemas.microsoft.com/office/drawing/2014/main" id="{8B4E590C-BC7E-B6C5-B2F5-7F6324619F23}"/>
                </a:ext>
              </a:extLst>
            </p:cNvPr>
            <p:cNvSpPr/>
            <p:nvPr/>
          </p:nvSpPr>
          <p:spPr>
            <a:xfrm>
              <a:off x="4512367" y="3868413"/>
              <a:ext cx="1661966" cy="367748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Minimize Cost</a:t>
              </a:r>
            </a:p>
          </p:txBody>
        </p:sp>
        <p:sp>
          <p:nvSpPr>
            <p:cNvPr id="17" name="Rounded Rectangle 16">
              <a:extLst>
                <a:ext uri="{FF2B5EF4-FFF2-40B4-BE49-F238E27FC236}">
                  <a16:creationId xmlns:a16="http://schemas.microsoft.com/office/drawing/2014/main" id="{42DFB33C-D1B8-CD71-5BB8-37F13183A2F6}"/>
                </a:ext>
              </a:extLst>
            </p:cNvPr>
            <p:cNvSpPr/>
            <p:nvPr/>
          </p:nvSpPr>
          <p:spPr>
            <a:xfrm>
              <a:off x="4512367" y="4378917"/>
              <a:ext cx="1661966" cy="367748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Minimize CO</a:t>
              </a:r>
              <a:r>
                <a:rPr lang="en-US" baseline="-25000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9FF41670-2B36-E0F8-3706-654B9A63CD25}"/>
                </a:ext>
              </a:extLst>
            </p:cNvPr>
            <p:cNvSpPr/>
            <p:nvPr/>
          </p:nvSpPr>
          <p:spPr>
            <a:xfrm>
              <a:off x="6172200" y="3389243"/>
              <a:ext cx="424189" cy="665922"/>
            </a:xfrm>
            <a:custGeom>
              <a:avLst/>
              <a:gdLst>
                <a:gd name="connsiteX0" fmla="*/ 0 w 424189"/>
                <a:gd name="connsiteY0" fmla="*/ 665922 h 665922"/>
                <a:gd name="connsiteX1" fmla="*/ 417443 w 424189"/>
                <a:gd name="connsiteY1" fmla="*/ 447261 h 665922"/>
                <a:gd name="connsiteX2" fmla="*/ 218661 w 424189"/>
                <a:gd name="connsiteY2" fmla="*/ 0 h 6659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4189" h="665922">
                  <a:moveTo>
                    <a:pt x="0" y="665922"/>
                  </a:moveTo>
                  <a:cubicBezTo>
                    <a:pt x="190500" y="612085"/>
                    <a:pt x="381000" y="558248"/>
                    <a:pt x="417443" y="447261"/>
                  </a:cubicBezTo>
                  <a:cubicBezTo>
                    <a:pt x="453886" y="336274"/>
                    <a:pt x="336273" y="168137"/>
                    <a:pt x="218661" y="0"/>
                  </a:cubicBezTo>
                </a:path>
              </a:pathLst>
            </a:custGeom>
            <a:noFill/>
            <a:ln>
              <a:headEnd type="none" w="med" len="med"/>
              <a:tailEnd type="arrow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F1F5434C-B2E2-C2EC-1B94-B68836B63F79}"/>
                </a:ext>
              </a:extLst>
            </p:cNvPr>
            <p:cNvSpPr/>
            <p:nvPr/>
          </p:nvSpPr>
          <p:spPr>
            <a:xfrm>
              <a:off x="6172200" y="3269974"/>
              <a:ext cx="784520" cy="1311965"/>
            </a:xfrm>
            <a:custGeom>
              <a:avLst/>
              <a:gdLst>
                <a:gd name="connsiteX0" fmla="*/ 0 w 784520"/>
                <a:gd name="connsiteY0" fmla="*/ 1311965 h 1311965"/>
                <a:gd name="connsiteX1" fmla="*/ 775252 w 784520"/>
                <a:gd name="connsiteY1" fmla="*/ 934278 h 1311965"/>
                <a:gd name="connsiteX2" fmla="*/ 357809 w 784520"/>
                <a:gd name="connsiteY2" fmla="*/ 0 h 1311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84520" h="1311965">
                  <a:moveTo>
                    <a:pt x="0" y="1311965"/>
                  </a:moveTo>
                  <a:cubicBezTo>
                    <a:pt x="357808" y="1232452"/>
                    <a:pt x="715617" y="1152939"/>
                    <a:pt x="775252" y="934278"/>
                  </a:cubicBezTo>
                  <a:cubicBezTo>
                    <a:pt x="834887" y="715617"/>
                    <a:pt x="596348" y="357808"/>
                    <a:pt x="357809" y="0"/>
                  </a:cubicBezTo>
                </a:path>
              </a:pathLst>
            </a:custGeom>
            <a:noFill/>
            <a:ln>
              <a:headEnd type="none" w="med" len="med"/>
              <a:tailEnd type="arrow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60527993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16FFCB-810A-1B29-6C14-4D9E8DEDA4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648193"/>
            <a:ext cx="8520600" cy="572700"/>
          </a:xfrm>
        </p:spPr>
        <p:txBody>
          <a:bodyPr>
            <a:noAutofit/>
          </a:bodyPr>
          <a:lstStyle/>
          <a:p>
            <a:pPr algn="ctr"/>
            <a:r>
              <a:rPr lang="en-US" sz="3000" dirty="0"/>
              <a:t>Optimization Algorithm Overview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405E96-C8F3-4447-7FA6-40E7A984E31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26</a:t>
            </a:fld>
            <a:endParaRPr lang="en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A67514E0-D2DB-320D-70E3-8C9490624960}"/>
              </a:ext>
            </a:extLst>
          </p:cNvPr>
          <p:cNvGrpSpPr/>
          <p:nvPr/>
        </p:nvGrpSpPr>
        <p:grpSpPr>
          <a:xfrm>
            <a:off x="395099" y="1390059"/>
            <a:ext cx="8626059" cy="3615324"/>
            <a:chOff x="427381" y="1244693"/>
            <a:chExt cx="8626059" cy="3615324"/>
          </a:xfrm>
        </p:grpSpPr>
        <p:sp>
          <p:nvSpPr>
            <p:cNvPr id="9" name="Rounded Rectangle 8">
              <a:extLst>
                <a:ext uri="{FF2B5EF4-FFF2-40B4-BE49-F238E27FC236}">
                  <a16:creationId xmlns:a16="http://schemas.microsoft.com/office/drawing/2014/main" id="{EAD29745-8ADB-350B-C392-B013004386A7}"/>
                </a:ext>
              </a:extLst>
            </p:cNvPr>
            <p:cNvSpPr/>
            <p:nvPr/>
          </p:nvSpPr>
          <p:spPr>
            <a:xfrm>
              <a:off x="427381" y="1324205"/>
              <a:ext cx="1391480" cy="415143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800" dirty="0"/>
                <a:t>Wind</a:t>
              </a:r>
            </a:p>
          </p:txBody>
        </p:sp>
        <p:sp>
          <p:nvSpPr>
            <p:cNvPr id="3" name="Rounded Rectangle 2">
              <a:extLst>
                <a:ext uri="{FF2B5EF4-FFF2-40B4-BE49-F238E27FC236}">
                  <a16:creationId xmlns:a16="http://schemas.microsoft.com/office/drawing/2014/main" id="{E333B119-2FCC-D359-E327-218B22C975AC}"/>
                </a:ext>
              </a:extLst>
            </p:cNvPr>
            <p:cNvSpPr/>
            <p:nvPr/>
          </p:nvSpPr>
          <p:spPr>
            <a:xfrm>
              <a:off x="427381" y="2198775"/>
              <a:ext cx="1391480" cy="415143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800" dirty="0"/>
                <a:t>PV</a:t>
              </a:r>
            </a:p>
          </p:txBody>
        </p:sp>
        <p:sp>
          <p:nvSpPr>
            <p:cNvPr id="5" name="Rounded Rectangle 4">
              <a:extLst>
                <a:ext uri="{FF2B5EF4-FFF2-40B4-BE49-F238E27FC236}">
                  <a16:creationId xmlns:a16="http://schemas.microsoft.com/office/drawing/2014/main" id="{D7429222-7C94-1DC1-1B0E-DEBA956ACE84}"/>
                </a:ext>
              </a:extLst>
            </p:cNvPr>
            <p:cNvSpPr/>
            <p:nvPr/>
          </p:nvSpPr>
          <p:spPr>
            <a:xfrm>
              <a:off x="427381" y="3024174"/>
              <a:ext cx="1391480" cy="415143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800" dirty="0"/>
                <a:t>CSP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69A0B80E-947B-97B9-A180-B937870089B1}"/>
                </a:ext>
              </a:extLst>
            </p:cNvPr>
            <p:cNvSpPr/>
            <p:nvPr/>
          </p:nvSpPr>
          <p:spPr>
            <a:xfrm>
              <a:off x="2435086" y="1244693"/>
              <a:ext cx="731520" cy="73152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800" dirty="0" err="1"/>
                <a:t>n</a:t>
              </a:r>
              <a:r>
                <a:rPr lang="en-US" sz="1800" baseline="-25000" dirty="0" err="1"/>
                <a:t>wt</a:t>
              </a:r>
              <a:endParaRPr lang="en-US" sz="1800" baseline="-25000" dirty="0"/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F051AC4E-7CD3-3C83-166B-1BE0B0DEA0AA}"/>
                </a:ext>
              </a:extLst>
            </p:cNvPr>
            <p:cNvCxnSpPr>
              <a:stCxn id="9" idx="3"/>
            </p:cNvCxnSpPr>
            <p:nvPr/>
          </p:nvCxnSpPr>
          <p:spPr>
            <a:xfrm flipV="1">
              <a:off x="1818861" y="1531776"/>
              <a:ext cx="616226" cy="1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256DDCB2-22DB-2ADD-0E94-B5A7E860BBFE}"/>
                </a:ext>
              </a:extLst>
            </p:cNvPr>
            <p:cNvSpPr/>
            <p:nvPr/>
          </p:nvSpPr>
          <p:spPr>
            <a:xfrm>
              <a:off x="2435087" y="2039750"/>
              <a:ext cx="731520" cy="73152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800" dirty="0" err="1"/>
                <a:t>n</a:t>
              </a:r>
              <a:r>
                <a:rPr lang="en-US" sz="1800" baseline="-25000" dirty="0" err="1"/>
                <a:t>pv</a:t>
              </a:r>
              <a:endParaRPr lang="en-US" sz="1800" baseline="-25000" dirty="0"/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9A457198-AF0B-77F9-E990-44123CEBC3B2}"/>
                </a:ext>
              </a:extLst>
            </p:cNvPr>
            <p:cNvCxnSpPr/>
            <p:nvPr/>
          </p:nvCxnSpPr>
          <p:spPr>
            <a:xfrm flipV="1">
              <a:off x="1818861" y="2406347"/>
              <a:ext cx="616226" cy="1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046C5355-26D0-237B-0638-8AEBEB038EEE}"/>
                </a:ext>
              </a:extLst>
            </p:cNvPr>
            <p:cNvSpPr/>
            <p:nvPr/>
          </p:nvSpPr>
          <p:spPr>
            <a:xfrm>
              <a:off x="2450989" y="2870873"/>
              <a:ext cx="731520" cy="73152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 err="1"/>
                <a:t>n</a:t>
              </a:r>
              <a:r>
                <a:rPr lang="en-US" sz="1600" baseline="-25000" dirty="0" err="1"/>
                <a:t>csp</a:t>
              </a:r>
              <a:endParaRPr lang="en-US" sz="1600" baseline="-25000" dirty="0"/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4369D826-485C-F65F-B516-38A1ADE6F62C}"/>
                </a:ext>
              </a:extLst>
            </p:cNvPr>
            <p:cNvCxnSpPr/>
            <p:nvPr/>
          </p:nvCxnSpPr>
          <p:spPr>
            <a:xfrm flipV="1">
              <a:off x="1834763" y="3237470"/>
              <a:ext cx="616226" cy="1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5EAFD559-BF8D-5001-2B1E-05991E146364}"/>
                </a:ext>
              </a:extLst>
            </p:cNvPr>
            <p:cNvSpPr txBox="1"/>
            <p:nvPr/>
          </p:nvSpPr>
          <p:spPr>
            <a:xfrm>
              <a:off x="2322675" y="3742911"/>
              <a:ext cx="988147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Number of units</a:t>
              </a: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E9F1A14C-B644-A87E-FF76-6D9ADCEE6D8A}"/>
                </a:ext>
              </a:extLst>
            </p:cNvPr>
            <p:cNvSpPr/>
            <p:nvPr/>
          </p:nvSpPr>
          <p:spPr>
            <a:xfrm>
              <a:off x="4070074" y="1937757"/>
              <a:ext cx="1003852" cy="933116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A751D53F-2479-B1E1-5F4C-51250B54D914}"/>
                </a:ext>
              </a:extLst>
            </p:cNvPr>
            <p:cNvCxnSpPr>
              <a:cxnSpLocks/>
              <a:endCxn id="18" idx="1"/>
            </p:cNvCxnSpPr>
            <p:nvPr/>
          </p:nvCxnSpPr>
          <p:spPr>
            <a:xfrm>
              <a:off x="3182509" y="1602773"/>
              <a:ext cx="1034576" cy="471636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A1268C33-DF50-E52F-C66F-CAC944722AF6}"/>
                </a:ext>
              </a:extLst>
            </p:cNvPr>
            <p:cNvCxnSpPr>
              <a:cxnSpLocks/>
              <a:endCxn id="18" idx="2"/>
            </p:cNvCxnSpPr>
            <p:nvPr/>
          </p:nvCxnSpPr>
          <p:spPr>
            <a:xfrm>
              <a:off x="3182509" y="2399237"/>
              <a:ext cx="887565" cy="5078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4A0F0B0C-3E7D-9FCA-D7FE-8907702D9D40}"/>
                </a:ext>
              </a:extLst>
            </p:cNvPr>
            <p:cNvCxnSpPr>
              <a:cxnSpLocks/>
              <a:endCxn id="18" idx="3"/>
            </p:cNvCxnSpPr>
            <p:nvPr/>
          </p:nvCxnSpPr>
          <p:spPr>
            <a:xfrm flipV="1">
              <a:off x="3182509" y="2734221"/>
              <a:ext cx="1034576" cy="497524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Rounded Rectangle 24">
              <a:extLst>
                <a:ext uri="{FF2B5EF4-FFF2-40B4-BE49-F238E27FC236}">
                  <a16:creationId xmlns:a16="http://schemas.microsoft.com/office/drawing/2014/main" id="{335BB119-9423-EB92-1737-EED81D53CC9F}"/>
                </a:ext>
              </a:extLst>
            </p:cNvPr>
            <p:cNvSpPr/>
            <p:nvPr/>
          </p:nvSpPr>
          <p:spPr>
            <a:xfrm>
              <a:off x="3889513" y="4444874"/>
              <a:ext cx="1391480" cy="415143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800" dirty="0"/>
                <a:t>Battery</a:t>
              </a: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CAE71416-EAB7-306A-7BF1-A18C1BB83BAD}"/>
                </a:ext>
              </a:extLst>
            </p:cNvPr>
            <p:cNvSpPr/>
            <p:nvPr/>
          </p:nvSpPr>
          <p:spPr>
            <a:xfrm>
              <a:off x="4219493" y="3352482"/>
              <a:ext cx="731520" cy="73152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 err="1"/>
                <a:t>n</a:t>
              </a:r>
              <a:r>
                <a:rPr lang="en-US" sz="1600" baseline="-25000" dirty="0" err="1"/>
                <a:t>b</a:t>
              </a:r>
              <a:endParaRPr lang="en-US" sz="1600" baseline="-25000" dirty="0"/>
            </a:p>
          </p:txBody>
        </p: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2066DC91-3B72-9D52-9B33-658F35A97C7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62061" y="4084002"/>
              <a:ext cx="0" cy="360872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5BAF58D5-7DB5-82F8-36FE-59EF77D62A6E}"/>
                </a:ext>
              </a:extLst>
            </p:cNvPr>
            <p:cNvCxnSpPr>
              <a:cxnSpLocks/>
              <a:stCxn id="26" idx="0"/>
              <a:endCxn id="18" idx="4"/>
            </p:cNvCxnSpPr>
            <p:nvPr/>
          </p:nvCxnSpPr>
          <p:spPr>
            <a:xfrm flipH="1" flipV="1">
              <a:off x="4572000" y="2870873"/>
              <a:ext cx="13253" cy="481609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474B5CCF-5FAF-8756-DB70-16F885E4E7C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697648" y="2916624"/>
              <a:ext cx="0" cy="435858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57651447-204D-532B-5662-86F23FAE8196}"/>
                </a:ext>
              </a:extLst>
            </p:cNvPr>
            <p:cNvSpPr txBox="1"/>
            <p:nvPr/>
          </p:nvSpPr>
          <p:spPr>
            <a:xfrm>
              <a:off x="4697648" y="2881446"/>
              <a:ext cx="109637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Battery</a:t>
              </a:r>
            </a:p>
            <a:p>
              <a:r>
                <a:rPr lang="en-US" sz="1600" dirty="0"/>
                <a:t>Charging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05E5770C-0AB1-69F3-E56E-52D4CF7BDAFF}"/>
                </a:ext>
              </a:extLst>
            </p:cNvPr>
            <p:cNvSpPr txBox="1"/>
            <p:nvPr/>
          </p:nvSpPr>
          <p:spPr>
            <a:xfrm>
              <a:off x="3789756" y="2864846"/>
              <a:ext cx="103457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Battery</a:t>
              </a:r>
            </a:p>
            <a:p>
              <a:r>
                <a:rPr lang="en-US" sz="1600" dirty="0"/>
                <a:t>Usage</a:t>
              </a:r>
            </a:p>
          </p:txBody>
        </p:sp>
        <p:sp>
          <p:nvSpPr>
            <p:cNvPr id="37" name="Rounded Rectangle 36">
              <a:extLst>
                <a:ext uri="{FF2B5EF4-FFF2-40B4-BE49-F238E27FC236}">
                  <a16:creationId xmlns:a16="http://schemas.microsoft.com/office/drawing/2014/main" id="{DBB55CF1-F037-BBDC-2992-43D44CE49ACB}"/>
                </a:ext>
              </a:extLst>
            </p:cNvPr>
            <p:cNvSpPr/>
            <p:nvPr/>
          </p:nvSpPr>
          <p:spPr>
            <a:xfrm>
              <a:off x="6268277" y="1782629"/>
              <a:ext cx="2113723" cy="1267346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800" dirty="0"/>
                <a:t>Desalination Plant Energy Demand</a:t>
              </a:r>
            </a:p>
          </p:txBody>
        </p: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FB4585CC-C59D-C3B0-C58C-1E037A002433}"/>
                </a:ext>
              </a:extLst>
            </p:cNvPr>
            <p:cNvCxnSpPr>
              <a:cxnSpLocks/>
              <a:endCxn id="37" idx="1"/>
            </p:cNvCxnSpPr>
            <p:nvPr/>
          </p:nvCxnSpPr>
          <p:spPr>
            <a:xfrm>
              <a:off x="5087596" y="2402929"/>
              <a:ext cx="1180681" cy="13373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7AC19649-A122-5650-6A5A-6E208DBC16F6}"/>
                </a:ext>
              </a:extLst>
            </p:cNvPr>
            <p:cNvSpPr txBox="1"/>
            <p:nvPr/>
          </p:nvSpPr>
          <p:spPr>
            <a:xfrm>
              <a:off x="5794018" y="3265857"/>
              <a:ext cx="3259422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Optimization algorithm calculates optimal energy mix to supply the energy demand, as well as battery capacity on </a:t>
              </a:r>
              <a:r>
                <a:rPr lang="en-US" sz="1600" dirty="0">
                  <a:highlight>
                    <a:srgbClr val="FFFFFF"/>
                  </a:highlight>
                </a:rPr>
                <a:t>a monthly </a:t>
              </a:r>
              <a:r>
                <a:rPr lang="en-US" sz="1600" dirty="0"/>
                <a:t>basis in 2023-2027.</a:t>
              </a:r>
            </a:p>
          </p:txBody>
        </p:sp>
      </p:grpSp>
      <p:sp>
        <p:nvSpPr>
          <p:cNvPr id="8" name="Rounded Rectangle 5">
            <a:extLst>
              <a:ext uri="{FF2B5EF4-FFF2-40B4-BE49-F238E27FC236}">
                <a16:creationId xmlns:a16="http://schemas.microsoft.com/office/drawing/2014/main" id="{8E051444-D5CD-DA9A-4C7B-6021FFC542F0}"/>
              </a:ext>
            </a:extLst>
          </p:cNvPr>
          <p:cNvSpPr/>
          <p:nvPr/>
        </p:nvSpPr>
        <p:spPr>
          <a:xfrm>
            <a:off x="5010376" y="1198234"/>
            <a:ext cx="1426265" cy="58595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/>
              <a:t>Utility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8EB64FD-F8AC-BB3F-800F-A6A0E12BCCA5}"/>
              </a:ext>
            </a:extLst>
          </p:cNvPr>
          <p:cNvCxnSpPr>
            <a:cxnSpLocks/>
          </p:cNvCxnSpPr>
          <p:nvPr/>
        </p:nvCxnSpPr>
        <p:spPr>
          <a:xfrm>
            <a:off x="5717257" y="1808221"/>
            <a:ext cx="0" cy="75099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EBC8054B-3E0E-378A-A70B-0BA8AB30FF4E}"/>
              </a:ext>
            </a:extLst>
          </p:cNvPr>
          <p:cNvSpPr txBox="1"/>
          <p:nvPr/>
        </p:nvSpPr>
        <p:spPr>
          <a:xfrm>
            <a:off x="6403540" y="1196159"/>
            <a:ext cx="2707359" cy="5693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50" dirty="0"/>
              <a:t>Utility is used when battery + RE cannot meet the demand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1EEC9EF-B139-7C3B-850F-C32CFBD6833D}"/>
              </a:ext>
            </a:extLst>
          </p:cNvPr>
          <p:cNvSpPr txBox="1"/>
          <p:nvPr/>
        </p:nvSpPr>
        <p:spPr>
          <a:xfrm>
            <a:off x="190330" y="3829816"/>
            <a:ext cx="197774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Unit Capacity</a:t>
            </a:r>
          </a:p>
          <a:p>
            <a:pPr algn="ctr"/>
            <a:r>
              <a:rPr lang="en-US" sz="1600" dirty="0"/>
              <a:t>(Forecasted hourly for each location)</a:t>
            </a:r>
          </a:p>
        </p:txBody>
      </p:sp>
    </p:spTree>
    <p:extLst>
      <p:ext uri="{BB962C8B-B14F-4D97-AF65-F5344CB8AC3E}">
        <p14:creationId xmlns:p14="http://schemas.microsoft.com/office/powerpoint/2010/main" val="8757373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2bd1100ac18_0_11"/>
          <p:cNvSpPr txBox="1">
            <a:spLocks noGrp="1"/>
          </p:cNvSpPr>
          <p:nvPr>
            <p:ph type="title"/>
          </p:nvPr>
        </p:nvSpPr>
        <p:spPr>
          <a:xfrm>
            <a:off x="311700" y="85171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33"/>
              <a:buNone/>
            </a:pPr>
            <a:r>
              <a:rPr lang="en" sz="3000" dirty="0"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2"/>
                  </a:ext>
                </a:extLst>
              </a:rPr>
              <a:t>Optimization Scenarios</a:t>
            </a:r>
            <a:endParaRPr sz="3000" dirty="0"/>
          </a:p>
        </p:txBody>
      </p:sp>
      <p:sp>
        <p:nvSpPr>
          <p:cNvPr id="234" name="Google Shape;234;g2bd1100ac18_0_11"/>
          <p:cNvSpPr txBox="1">
            <a:spLocks noGrp="1"/>
          </p:cNvSpPr>
          <p:nvPr>
            <p:ph type="body" idx="1"/>
          </p:nvPr>
        </p:nvSpPr>
        <p:spPr>
          <a:xfrm>
            <a:off x="311700" y="1692811"/>
            <a:ext cx="8520600" cy="31936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dirty="0">
                <a:solidFill>
                  <a:schemeClr val="dk1"/>
                </a:solidFill>
              </a:rPr>
              <a:t>Scenario 1: 100% RE with Battery Storage (No Utility) </a:t>
            </a:r>
          </a:p>
          <a:p>
            <a:pPr lvl="1" indent="-342900">
              <a:lnSpc>
                <a:spcPct val="150000"/>
              </a:lnSpc>
              <a:buSzPts val="1800"/>
              <a:buChar char="●"/>
            </a:pPr>
            <a:r>
              <a:rPr lang="en-US" sz="1600" dirty="0">
                <a:solidFill>
                  <a:schemeClr val="dk1"/>
                </a:solidFill>
              </a:rPr>
              <a:t>Grid independence</a:t>
            </a: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dirty="0">
                <a:solidFill>
                  <a:schemeClr val="dk1"/>
                </a:solidFill>
              </a:rPr>
              <a:t>Scenario 2: 50-100% RE-mix with Utility (No Battery Storage) </a:t>
            </a:r>
          </a:p>
          <a:p>
            <a:pPr lvl="1" indent="-342900">
              <a:lnSpc>
                <a:spcPct val="150000"/>
              </a:lnSpc>
              <a:buSzPts val="1800"/>
              <a:buChar char="●"/>
            </a:pPr>
            <a:r>
              <a:rPr lang="en-US" sz="1600" dirty="0">
                <a:solidFill>
                  <a:schemeClr val="dk1"/>
                </a:solidFill>
              </a:rPr>
              <a:t>Transition towards grid independence</a:t>
            </a: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dirty="0">
                <a:solidFill>
                  <a:schemeClr val="dk1"/>
                </a:solidFill>
              </a:rPr>
              <a:t>Scenario 3: 0-30% RE with Utility (No Battery Storage)</a:t>
            </a:r>
          </a:p>
          <a:p>
            <a:pPr lvl="1" indent="-342900">
              <a:lnSpc>
                <a:spcPct val="150000"/>
              </a:lnSpc>
              <a:buSzPts val="1800"/>
              <a:buChar char="●"/>
            </a:pPr>
            <a:r>
              <a:rPr lang="en-US" sz="1600" dirty="0">
                <a:solidFill>
                  <a:schemeClr val="dk1"/>
                </a:solidFill>
              </a:rPr>
              <a:t>Test benefits of partial RE adoption</a:t>
            </a:r>
          </a:p>
          <a:p>
            <a:pPr marL="571500" lvl="1" indent="0">
              <a:lnSpc>
                <a:spcPct val="150000"/>
              </a:lnSpc>
              <a:buSzPts val="1800"/>
              <a:buNone/>
            </a:pPr>
            <a:endParaRPr lang="en-US" dirty="0">
              <a:solidFill>
                <a:schemeClr val="dk1"/>
              </a:solidFill>
            </a:endParaRPr>
          </a:p>
          <a:p>
            <a:pPr marL="571500" lvl="1" indent="0">
              <a:lnSpc>
                <a:spcPct val="150000"/>
              </a:lnSpc>
              <a:buSzPts val="1800"/>
              <a:buNone/>
            </a:pPr>
            <a:r>
              <a:rPr lang="en-US" sz="1800" dirty="0">
                <a:solidFill>
                  <a:schemeClr val="dk1"/>
                </a:solidFill>
              </a:rPr>
              <a:t>All Scenarios assume no net metering</a:t>
            </a:r>
          </a:p>
        </p:txBody>
      </p:sp>
      <p:sp>
        <p:nvSpPr>
          <p:cNvPr id="235" name="Google Shape;235;g2bd1100ac18_0_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27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9848311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>
          <a:extLst>
            <a:ext uri="{FF2B5EF4-FFF2-40B4-BE49-F238E27FC236}">
              <a16:creationId xmlns:a16="http://schemas.microsoft.com/office/drawing/2014/main" id="{0C623AAA-7912-49D1-0AB2-72259EE15A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2bd1100ac18_0_11">
            <a:extLst>
              <a:ext uri="{FF2B5EF4-FFF2-40B4-BE49-F238E27FC236}">
                <a16:creationId xmlns:a16="http://schemas.microsoft.com/office/drawing/2014/main" id="{E490FBF0-415E-3714-FB2C-05C21471E96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687401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33"/>
              <a:buNone/>
            </a:pPr>
            <a:r>
              <a:rPr lang="en" sz="3000" dirty="0"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xmlns:lc="http://schemas.openxmlformats.org/drawingml/2006/lockedCanvas" textRoundtripDataId="2"/>
                  </a:ext>
                </a:extLst>
              </a:rPr>
              <a:t>PSO Optimization Model</a:t>
            </a:r>
            <a:endParaRPr sz="3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4" name="Google Shape;234;g2bd1100ac18_0_11">
                <a:extLst>
                  <a:ext uri="{FF2B5EF4-FFF2-40B4-BE49-F238E27FC236}">
                    <a16:creationId xmlns:a16="http://schemas.microsoft.com/office/drawing/2014/main" id="{EAE36543-787F-629E-EC27-9082AD2CC59B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311700" y="1435894"/>
                <a:ext cx="8520600" cy="3789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rmAutofit fontScale="85000" lnSpcReduction="10000"/>
              </a:bodyPr>
              <a:lstStyle/>
              <a:p>
                <a:pPr marL="457200" lvl="0" indent="-342900" algn="l" rtl="0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SzPts val="1800"/>
                  <a:buChar char="●"/>
                </a:pPr>
                <a:r>
                  <a:rPr lang="en-US" sz="1900" i="1" dirty="0">
                    <a:solidFill>
                      <a:schemeClr val="tx1"/>
                    </a:solidFill>
                    <a:latin typeface="+mn-lt"/>
                    <a:ea typeface="Calibri" panose="020F0502020204030204" pitchFamily="34" charset="0"/>
                    <a:cs typeface="Calibri" panose="020F0502020204030204" pitchFamily="34" charset="0"/>
                  </a:rPr>
                  <a:t>P</a:t>
                </a:r>
                <a:r>
                  <a:rPr lang="en-US" sz="1900" i="1" dirty="0">
                    <a:solidFill>
                      <a:schemeClr val="tx1"/>
                    </a:solidFill>
                    <a:effectLst/>
                    <a:latin typeface="+mn-lt"/>
                    <a:ea typeface="Calibri" panose="020F0502020204030204" pitchFamily="34" charset="0"/>
                    <a:cs typeface="Calibri" panose="020F0502020204030204" pitchFamily="34" charset="0"/>
                  </a:rPr>
                  <a:t>opulation-based stochastic optimization technique inspired by the social behavior of birds flocking or fish schooling</a:t>
                </a:r>
              </a:p>
              <a:p>
                <a:pPr marL="457200" lvl="0" indent="-342900" algn="l" rtl="0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SzPts val="1800"/>
                  <a:buChar char="●"/>
                </a:pPr>
                <a:r>
                  <a:rPr lang="en-US" sz="1900" i="1" dirty="0">
                    <a:solidFill>
                      <a:schemeClr val="tx1"/>
                    </a:solidFill>
                    <a:effectLst/>
                    <a:latin typeface="+mn-lt"/>
                    <a:ea typeface="Calibri" panose="020F0502020204030204" pitchFamily="34" charset="0"/>
                    <a:cs typeface="Calibri" panose="020F0502020204030204" pitchFamily="34" charset="0"/>
                  </a:rPr>
                  <a:t>Objective Function: minimize cost and CO2 emissions,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900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900" b="0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 </m:t>
                        </m:r>
                        <m:r>
                          <a:rPr lang="en-US" sz="1900" b="0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1900" b="0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1900" i="1" dirty="0">
                    <a:solidFill>
                      <a:schemeClr val="tx1"/>
                    </a:solidFill>
                    <a:effectLst/>
                    <a:latin typeface="+mn-lt"/>
                    <a:ea typeface="Calibri" panose="020F0502020204030204" pitchFamily="34" charset="0"/>
                    <a:cs typeface="Calibri" panose="020F0502020204030204" pitchFamily="34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9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9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19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US" sz="19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sz="1900" i="1" dirty="0">
                    <a:solidFill>
                      <a:schemeClr val="tx1"/>
                    </a:solidFill>
                    <a:effectLst/>
                    <a:latin typeface="+mn-lt"/>
                    <a:ea typeface="Calibri" panose="020F0502020204030204" pitchFamily="34" charset="0"/>
                    <a:cs typeface="Calibri" panose="020F0502020204030204" pitchFamily="34" charset="0"/>
                  </a:rPr>
                  <a:t>are both 50%</a:t>
                </a:r>
              </a:p>
              <a:p>
                <a:pPr marL="114300" lvl="0" indent="0" algn="l" rtl="0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SzPts val="180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700" i="1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𝑂𝑏𝑗𝑒𝑐𝑡𝑖𝑣</m:t>
                      </m:r>
                      <m:r>
                        <a:rPr lang="en-US" sz="1700" b="0" i="1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𝑒</m:t>
                      </m:r>
                      <m:r>
                        <a:rPr lang="en-US" sz="1700" i="1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7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700" i="1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700" i="1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700" i="1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⋅</m:t>
                      </m:r>
                      <m:d>
                        <m:dPr>
                          <m:ctrlPr>
                            <a:rPr lang="en-US" sz="17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1700" i="1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𝑡𝑜𝑡𝑎𝑙𝑅𝐸</m:t>
                          </m:r>
                          <m:r>
                            <m:rPr>
                              <m:lit/>
                            </m:rPr>
                            <a:rPr lang="en-US" sz="1700" i="1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_</m:t>
                          </m:r>
                          <m:r>
                            <a:rPr lang="en-US" sz="1700" i="1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𝑐𝑜𝑠𝑡</m:t>
                          </m:r>
                          <m:r>
                            <a:rPr lang="en-US" sz="1700" i="1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+</m:t>
                          </m:r>
                          <m:r>
                            <a:rPr lang="en-US" sz="1700" i="1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𝑢𝑡𝑖𝑙</m:t>
                          </m:r>
                          <m:r>
                            <m:rPr>
                              <m:lit/>
                            </m:rPr>
                            <a:rPr lang="en-US" sz="1700" i="1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_</m:t>
                          </m:r>
                          <m:r>
                            <a:rPr lang="en-US" sz="1700" i="1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𝑐𝑜𝑠𝑡</m:t>
                          </m:r>
                        </m:e>
                      </m:d>
                      <m:r>
                        <a:rPr lang="en-US" sz="1700" i="1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7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700" i="1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700" i="1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700" i="1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⋅</m:t>
                      </m:r>
                      <m:d>
                        <m:dPr>
                          <m:ctrlPr>
                            <a:rPr lang="en-US" sz="17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1700" i="1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𝑡𝑜𝑡𝑎𝑙𝑅𝐸</m:t>
                          </m:r>
                          <m:r>
                            <m:rPr>
                              <m:lit/>
                            </m:rPr>
                            <a:rPr lang="en-US" sz="1700" i="1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_</m:t>
                          </m:r>
                          <m:r>
                            <a:rPr lang="en-US" sz="1700" i="1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𝐶𝑂</m:t>
                          </m:r>
                          <m:r>
                            <a:rPr lang="en-US" sz="1700" i="1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2</m:t>
                          </m:r>
                          <m:r>
                            <m:rPr>
                              <m:lit/>
                            </m:rPr>
                            <a:rPr lang="en-US" sz="1700" i="1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_</m:t>
                          </m:r>
                          <m:r>
                            <a:rPr lang="en-US" sz="1700" i="1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𝑐𝑜𝑠𝑡</m:t>
                          </m:r>
                          <m:r>
                            <a:rPr lang="en-US" sz="1700" i="1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+</m:t>
                          </m:r>
                          <m:r>
                            <a:rPr lang="en-US" sz="1700" i="1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𝑢𝑡𝑖𝑙</m:t>
                          </m:r>
                          <m:r>
                            <m:rPr>
                              <m:lit/>
                            </m:rPr>
                            <a:rPr lang="en-US" sz="1700" i="1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_</m:t>
                          </m:r>
                          <m:r>
                            <a:rPr lang="en-US" sz="1700" i="1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𝐶</m:t>
                          </m:r>
                          <m:r>
                            <a:rPr lang="en-US" sz="1700" i="1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02</m:t>
                          </m:r>
                          <m:r>
                            <m:rPr>
                              <m:lit/>
                            </m:rPr>
                            <a:rPr lang="en-US" sz="1700" i="1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_</m:t>
                          </m:r>
                          <m:r>
                            <a:rPr lang="en-US" sz="1700" i="1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𝑐𝑜𝑠𝑡</m:t>
                          </m:r>
                        </m:e>
                      </m:d>
                    </m:oMath>
                  </m:oMathPara>
                </a14:m>
                <a:endParaRPr lang="en-US" sz="1700" i="1" dirty="0">
                  <a:solidFill>
                    <a:schemeClr val="tx1"/>
                  </a:solidFill>
                  <a:effectLst/>
                  <a:latin typeface="+mn-lt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sz="1900" b="0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𝑇</m:t>
                    </m:r>
                    <m:r>
                      <a:rPr lang="en-US" sz="1900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𝑜𝑡𝑎𝑙𝑅𝐸</m:t>
                    </m:r>
                    <m:r>
                      <m:rPr>
                        <m:lit/>
                      </m:rPr>
                      <a:rPr lang="en-US" sz="1900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_</m:t>
                    </m:r>
                    <m:r>
                      <a:rPr lang="en-US" sz="1900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𝑐𝑜𝑠𝑡</m:t>
                    </m:r>
                    <m:r>
                      <a:rPr lang="en-US" sz="1900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sz="19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a:rPr lang="en-US" sz="1900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𝑖</m:t>
                        </m:r>
                        <m:r>
                          <a:rPr lang="en-US" sz="1900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1900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𝑁</m:t>
                        </m:r>
                      </m:sup>
                      <m:e>
                        <m:r>
                          <a:rPr lang="en-US" sz="1900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1900" i="1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1900" i="1" smtClean="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sz="1900" i="1" smtClean="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1900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× </m:t>
                        </m:r>
                        <m:r>
                          <a:rPr lang="en-US" sz="1900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𝐹</m:t>
                        </m:r>
                        <m:sSub>
                          <m:sSubPr>
                            <m:ctrlPr>
                              <a:rPr lang="en-US" sz="1900" i="1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1900" i="1" smtClean="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𝐴𝑃𝑈</m:t>
                            </m:r>
                          </m:e>
                          <m:sub>
                            <m:r>
                              <a:rPr lang="en-US" sz="1900" i="1" smtClean="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1900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+</m:t>
                        </m:r>
                        <m:r>
                          <a:rPr lang="en-US" sz="1900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𝑉𝑂</m:t>
                        </m:r>
                        <m:sSub>
                          <m:sSubPr>
                            <m:ctrlPr>
                              <a:rPr lang="en-US" sz="1900" i="1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1900" i="1" smtClean="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en-US" sz="1900" i="1" smtClean="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1900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×</m:t>
                        </m:r>
                        <m:r>
                          <a:rPr lang="en-US" sz="1900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𝐸𝑛𝑒𝑟𝑔𝑦𝑝𝑟𝑜𝑑𝑢𝑐𝑒</m:t>
                        </m:r>
                        <m:sSub>
                          <m:sSubPr>
                            <m:ctrlPr>
                              <a:rPr lang="en-US" sz="1900" i="1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1900" i="1" smtClean="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sz="1900" i="1" smtClean="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1900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en-US" sz="1900" i="1" dirty="0">
                  <a:solidFill>
                    <a:schemeClr val="tx1"/>
                  </a:solidFill>
                  <a:effectLst/>
                  <a:latin typeface="+mn-lt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sz="1900" i="1" kern="0" dirty="0">
                    <a:solidFill>
                      <a:schemeClr val="tx1"/>
                    </a:solidFill>
                    <a:effectLst/>
                    <a:latin typeface="+mn-lt"/>
                    <a:ea typeface="Calibri" panose="020F0502020204030204" pitchFamily="34" charset="0"/>
                    <a:cs typeface="Calibri" panose="020F0502020204030204" pitchFamily="34" charset="0"/>
                  </a:rPr>
                  <a:t>Cost of $50/ton has been assumed for CO2 Emissions</a:t>
                </a:r>
              </a:p>
              <a:p>
                <a:pPr marL="114300" indent="0">
                  <a:lnSpc>
                    <a:spcPct val="150000"/>
                  </a:lnSpc>
                  <a:buNone/>
                </a:pPr>
                <a:r>
                  <a:rPr lang="en-US" sz="1600" i="1" dirty="0">
                    <a:solidFill>
                      <a:schemeClr val="tx1"/>
                    </a:solidFill>
                    <a:latin typeface="+mn-lt"/>
                    <a:ea typeface="Calibri" panose="020F0502020204030204" pitchFamily="34" charset="0"/>
                    <a:cs typeface="Calibri" panose="020F0502020204030204" pitchFamily="34" charset="0"/>
                  </a:rPr>
                  <a:t>	</a:t>
                </a:r>
                <a:r>
                  <a:rPr lang="en-US" sz="1600" i="1" kern="0" dirty="0">
                    <a:solidFill>
                      <a:schemeClr val="tx1"/>
                    </a:solidFill>
                    <a:effectLst/>
                    <a:latin typeface="+mn-lt"/>
                    <a:ea typeface="CMMI12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i="1" kern="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CMMI12"/>
                        <a:cs typeface="Times New Roman" panose="02020603050405020304" pitchFamily="18" charset="0"/>
                      </a:rPr>
                      <m:t>𝑡𝑜𝑡𝑎𝑙</m:t>
                    </m:r>
                    <m:r>
                      <m:rPr>
                        <m:lit/>
                      </m:rPr>
                      <a:rPr lang="en-US" sz="1600" i="1" kern="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CMMI12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sz="1600" i="1" kern="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CMMI12"/>
                        <a:cs typeface="Times New Roman" panose="02020603050405020304" pitchFamily="18" charset="0"/>
                      </a:rPr>
                      <m:t>𝐶𝑂</m:t>
                    </m:r>
                    <m:r>
                      <a:rPr lang="en-US" sz="1600" i="1" kern="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CMMI12"/>
                        <a:cs typeface="Times New Roman" panose="02020603050405020304" pitchFamily="18" charset="0"/>
                      </a:rPr>
                      <m:t>2</m:t>
                    </m:r>
                    <m:r>
                      <m:rPr>
                        <m:lit/>
                      </m:rPr>
                      <a:rPr lang="en-US" sz="1600" i="1" kern="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CMMI12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sz="1600" i="1" kern="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CMMI12"/>
                        <a:cs typeface="Times New Roman" panose="02020603050405020304" pitchFamily="18" charset="0"/>
                      </a:rPr>
                      <m:t>𝑐𝑜𝑠𝑡</m:t>
                    </m:r>
                    <m:r>
                      <a:rPr lang="en-US" sz="1600" i="1" kern="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CMMI12"/>
                        <a:cs typeface="Times New Roman" panose="020206030504050203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sz="16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MMI12"/>
                          </a:rPr>
                        </m:ctrlPr>
                      </m:naryPr>
                      <m:sub>
                        <m:r>
                          <a:rPr lang="en-US" sz="1600" i="1" kern="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MMI12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sz="1600" i="1" kern="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MMI12"/>
                            <a:cs typeface="Times New Roman" panose="02020603050405020304" pitchFamily="18" charset="0"/>
                          </a:rPr>
                          <m:t>𝑁</m:t>
                        </m:r>
                      </m:sup>
                      <m:e>
                        <m:d>
                          <m:dPr>
                            <m:ctrlPr>
                              <a:rPr lang="en-US" sz="1600" i="1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CMMI12"/>
                              </a:rPr>
                            </m:ctrlPr>
                          </m:dPr>
                          <m:e>
                            <m:r>
                              <a:rPr lang="en-US" sz="1600" i="1" kern="0" smtClean="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CMMI12"/>
                                <a:cs typeface="Times New Roman" panose="02020603050405020304" pitchFamily="18" charset="0"/>
                              </a:rPr>
                              <m:t>𝐶𝑂</m:t>
                            </m:r>
                            <m:r>
                              <a:rPr lang="en-US" sz="1600" i="1" kern="0" smtClean="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CMMI12"/>
                                <a:cs typeface="Times New Roman" panose="02020603050405020304" pitchFamily="18" charset="0"/>
                              </a:rPr>
                              <m:t>2</m:t>
                            </m:r>
                            <m:r>
                              <a:rPr lang="en-US" sz="1600" i="1" kern="0" smtClean="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CMMI12"/>
                                <a:cs typeface="Times New Roman" panose="02020603050405020304" pitchFamily="18" charset="0"/>
                              </a:rPr>
                              <m:t>𝐸𝑚𝑖𝑠𝑠𝑖𝑜𝑛𝐿𝑖𝑓𝑒𝑡𝑖𝑚</m:t>
                            </m:r>
                            <m:sSub>
                              <m:sSubPr>
                                <m:ctrlPr>
                                  <a:rPr lang="en-US" sz="160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MMI12"/>
                                  </a:rPr>
                                </m:ctrlPr>
                              </m:sSubPr>
                              <m:e>
                                <m:r>
                                  <a:rPr lang="en-US" sz="1600" i="1" kern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MMI12"/>
                                    <a:cs typeface="Times New Roman" panose="02020603050405020304" pitchFamily="18" charset="0"/>
                                  </a:rPr>
                                  <m:t>𝑒</m:t>
                                </m:r>
                                <m:r>
                                  <a:rPr lang="en-US" sz="1600" i="1" kern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MMI12"/>
                                    <a:cs typeface="Times New Roman" panose="02020603050405020304" pitchFamily="18" charset="0"/>
                                  </a:rPr>
                                  <m:t>/</m:t>
                                </m:r>
                                <m:r>
                                  <a:rPr lang="en-US" sz="1600" i="1" kern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MMI12"/>
                                    <a:cs typeface="Times New Roman" panose="02020603050405020304" pitchFamily="18" charset="0"/>
                                  </a:rPr>
                                  <m:t>𝑢𝑛𝑖𝑡</m:t>
                                </m:r>
                              </m:e>
                              <m:sub>
                                <m:r>
                                  <a:rPr lang="en-US" sz="1600" i="1" kern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MMI12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1600" i="1" kern="0" smtClean="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CMMI12"/>
                                <a:cs typeface="Times New Roman" panose="02020603050405020304" pitchFamily="18" charset="0"/>
                              </a:rPr>
                              <m:t>×</m:t>
                            </m:r>
                            <m:sSub>
                              <m:sSubPr>
                                <m:ctrlPr>
                                  <a:rPr lang="en-US" sz="160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 kern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𝑁</m:t>
                                </m:r>
                              </m:e>
                              <m:sub>
                                <m:r>
                                  <a:rPr lang="en-US" sz="1600" i="1" kern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1600" i="1" kern="0" smtClean="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CMMI12"/>
                                <a:cs typeface="Times New Roman" panose="02020603050405020304" pitchFamily="18" charset="0"/>
                              </a:rPr>
                              <m:t>×</m:t>
                            </m:r>
                            <m:r>
                              <a:rPr lang="en-US" sz="1600" i="1" kern="0" smtClean="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CMMI12"/>
                                <a:cs typeface="Times New Roman" panose="02020603050405020304" pitchFamily="18" charset="0"/>
                              </a:rPr>
                              <m:t>𝐶𝑂</m:t>
                            </m:r>
                            <m:r>
                              <a:rPr lang="en-US" sz="1600" i="1" kern="0" smtClean="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CMMI12"/>
                                <a:cs typeface="Times New Roman" panose="02020603050405020304" pitchFamily="18" charset="0"/>
                              </a:rPr>
                              <m:t>2</m:t>
                            </m:r>
                            <m:r>
                              <a:rPr lang="en-US" sz="1600" i="1" kern="0" smtClean="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CMMI12"/>
                                <a:cs typeface="Times New Roman" panose="02020603050405020304" pitchFamily="18" charset="0"/>
                              </a:rPr>
                              <m:t>𝐶𝑜𝑠𝑡𝑝𝑒𝑟𝑇𝑜𝑛</m:t>
                            </m:r>
                          </m:e>
                        </m:d>
                      </m:e>
                    </m:nary>
                  </m:oMath>
                </a14:m>
                <a:endParaRPr lang="en-US" sz="1600" i="1" kern="0" dirty="0">
                  <a:solidFill>
                    <a:schemeClr val="tx1"/>
                  </a:solidFill>
                  <a:effectLst/>
                  <a:latin typeface="+mn-lt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sz="1600" i="1" dirty="0">
                    <a:solidFill>
                      <a:schemeClr val="tx1"/>
                    </a:solidFill>
                    <a:latin typeface="+mn-lt"/>
                    <a:ea typeface="Calibri" panose="020F0502020204030204" pitchFamily="34" charset="0"/>
                    <a:cs typeface="Calibri" panose="020F0502020204030204" pitchFamily="34" charset="0"/>
                  </a:rPr>
                  <a:t>Particle Swarm Optimization:</a:t>
                </a:r>
              </a:p>
              <a:p>
                <a:pPr marL="0" marR="0" indent="0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 i="1" dirty="0">
                    <a:solidFill>
                      <a:schemeClr val="tx1"/>
                    </a:solidFill>
                    <a:latin typeface="+mn-lt"/>
                    <a:ea typeface="Calibri" panose="020F0502020204030204" pitchFamily="34" charset="0"/>
                    <a:cs typeface="Calibri" panose="020F0502020204030204" pitchFamily="34" charset="0"/>
                  </a:rPr>
                  <a:t>	</a:t>
                </a:r>
                <a:r>
                  <a:rPr lang="en-US" sz="1600" i="1" dirty="0">
                    <a:solidFill>
                      <a:schemeClr val="tx1"/>
                    </a:solidFill>
                    <a:effectLst/>
                    <a:latin typeface="+mn-lt"/>
                    <a:ea typeface="Calibri" panose="020F0502020204030204" pitchFamily="34" charset="0"/>
                    <a:cs typeface="Calibri" panose="020F0502020204030204" pitchFamily="34" charset="0"/>
                  </a:rPr>
                  <a:t>The position of each particle xi is updated according to:</a:t>
                </a:r>
              </a:p>
              <a:p>
                <a:pPr marL="0" marR="0" indent="0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600" i="1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i="1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sz="16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1600" i="1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𝑡</m:t>
                          </m:r>
                          <m:r>
                            <a:rPr lang="en-US" sz="1600" i="1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+1</m:t>
                          </m:r>
                        </m:e>
                      </m:d>
                      <m:r>
                        <a:rPr lang="en-US" sz="1600" i="1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=</m:t>
                      </m:r>
                      <m:r>
                        <a:rPr lang="en-US" sz="1600" i="1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𝜔</m:t>
                      </m:r>
                      <m:sSub>
                        <m:sSubPr>
                          <m:ctrlPr>
                            <a:rPr lang="en-US" sz="16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600" i="1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i="1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sz="16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1600" i="1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𝑡</m:t>
                          </m:r>
                        </m:e>
                      </m:d>
                      <m:sSub>
                        <m:sSubPr>
                          <m:ctrlPr>
                            <a:rPr lang="en-US" sz="16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600" i="1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+</m:t>
                          </m:r>
                          <m:r>
                            <a:rPr lang="en-US" sz="1600" i="1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1600" i="1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16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600" i="1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sz="1600" i="1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sz="16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60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1600" i="1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1600" i="1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160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600" i="1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160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i="1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d>
                      <m:r>
                        <a:rPr lang="en-US" sz="1600" i="1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6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600" i="1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1600" i="1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sz="16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600" i="1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sz="1600" i="1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sz="16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1600" i="1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𝑔</m:t>
                          </m:r>
                          <m:r>
                            <a:rPr lang="en-US" sz="1600" i="1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160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600" i="1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160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i="1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sz="1600" i="1" dirty="0">
                  <a:solidFill>
                    <a:schemeClr val="tx1"/>
                  </a:solidFill>
                  <a:effectLst/>
                  <a:latin typeface="+mn-lt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0" marR="0" indent="0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600" i="1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600" i="1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sz="16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1600" i="1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𝑡</m:t>
                          </m:r>
                          <m:r>
                            <a:rPr lang="en-US" sz="1600" i="1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+1</m:t>
                          </m:r>
                        </m:e>
                      </m:d>
                      <m:r>
                        <a:rPr lang="en-US" sz="1600" i="1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6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600" i="1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600" i="1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sz="16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1600" i="1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1600" i="1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6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600" i="1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i="1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sz="16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1600" i="1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𝑡</m:t>
                          </m:r>
                          <m:r>
                            <a:rPr lang="en-US" sz="1600" i="1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+1</m:t>
                          </m:r>
                        </m:e>
                      </m:d>
                    </m:oMath>
                  </m:oMathPara>
                </a14:m>
                <a:endParaRPr lang="en-US" sz="1600" i="1" dirty="0">
                  <a:solidFill>
                    <a:schemeClr val="tx1"/>
                  </a:solidFill>
                  <a:effectLst/>
                  <a:latin typeface="+mn-lt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114300" indent="0">
                  <a:lnSpc>
                    <a:spcPct val="150000"/>
                  </a:lnSpc>
                  <a:buNone/>
                </a:pPr>
                <a:endParaRPr lang="en-US" sz="1600" dirty="0">
                  <a:latin typeface="+mj-lt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>
                  <a:lnSpc>
                    <a:spcPct val="150000"/>
                  </a:lnSpc>
                </a:pPr>
                <a:endParaRPr lang="en-US" sz="1600" kern="0" dirty="0">
                  <a:effectLst/>
                  <a:latin typeface="+mj-lt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>
                  <a:lnSpc>
                    <a:spcPct val="150000"/>
                  </a:lnSpc>
                </a:pPr>
                <a:endParaRPr lang="en-US" sz="1600" dirty="0">
                  <a:effectLst/>
                  <a:latin typeface="+mj-lt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457200" lvl="0" indent="-342900" algn="l" rtl="0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SzPts val="1800"/>
                  <a:buChar char="●"/>
                </a:pPr>
                <a:endParaRPr lang="en-US" sz="1600" dirty="0">
                  <a:effectLst/>
                  <a:latin typeface="+mj-lt"/>
                  <a:ea typeface="Times New Roman" panose="02020603050405020304" pitchFamily="18" charset="0"/>
                </a:endParaRPr>
              </a:p>
              <a:p>
                <a:pPr marL="457200" lvl="0" indent="-342900" algn="l" rtl="0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SzPts val="1800"/>
                  <a:buChar char="●"/>
                </a:pPr>
                <a:endParaRPr lang="en-US" dirty="0">
                  <a:solidFill>
                    <a:schemeClr val="dk1"/>
                  </a:solidFill>
                </a:endParaRPr>
              </a:p>
              <a:p>
                <a:pPr marL="114300" lvl="0" indent="0" algn="l" rtl="0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SzPts val="1800"/>
                  <a:buNone/>
                </a:pPr>
                <a:endParaRPr dirty="0">
                  <a:solidFill>
                    <a:schemeClr val="dk1"/>
                  </a:solidFill>
                </a:endParaRPr>
              </a:p>
            </p:txBody>
          </p:sp>
        </mc:Choice>
        <mc:Fallback xmlns="">
          <p:sp>
            <p:nvSpPr>
              <p:cNvPr id="234" name="Google Shape;234;g2bd1100ac18_0_11">
                <a:extLst>
                  <a:ext uri="{FF2B5EF4-FFF2-40B4-BE49-F238E27FC236}">
                    <a16:creationId xmlns:a16="http://schemas.microsoft.com/office/drawing/2014/main" id="{EAE36543-787F-629E-EC27-9082AD2CC59B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11700" y="1435894"/>
                <a:ext cx="8520600" cy="378984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5" name="Google Shape;235;g2bd1100ac18_0_11">
            <a:extLst>
              <a:ext uri="{FF2B5EF4-FFF2-40B4-BE49-F238E27FC236}">
                <a16:creationId xmlns:a16="http://schemas.microsoft.com/office/drawing/2014/main" id="{5F3CBAB2-FB34-C0FF-19D5-89567978F03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28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3633405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16FFCB-810A-1B29-6C14-4D9E8DEDA4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500054"/>
            <a:ext cx="8520600" cy="572700"/>
          </a:xfrm>
        </p:spPr>
        <p:txBody>
          <a:bodyPr>
            <a:noAutofit/>
          </a:bodyPr>
          <a:lstStyle/>
          <a:p>
            <a:pPr algn="ctr"/>
            <a:r>
              <a:rPr lang="en-US" sz="3000" dirty="0"/>
              <a:t>NSGA-II Optimization Model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405E96-C8F3-4447-7FA6-40E7A984E31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29</a:t>
            </a:fld>
            <a:endParaRPr lang="en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C0AAC36-C255-D8B4-449D-61C21A9AA688}"/>
              </a:ext>
            </a:extLst>
          </p:cNvPr>
          <p:cNvGrpSpPr/>
          <p:nvPr/>
        </p:nvGrpSpPr>
        <p:grpSpPr>
          <a:xfrm>
            <a:off x="389454" y="1331123"/>
            <a:ext cx="8696620" cy="3462321"/>
            <a:chOff x="445725" y="913781"/>
            <a:chExt cx="8696620" cy="3462321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BDCFAABB-0A3A-5CB5-4312-B87345A5D315}"/>
                </a:ext>
              </a:extLst>
            </p:cNvPr>
            <p:cNvGrpSpPr/>
            <p:nvPr/>
          </p:nvGrpSpPr>
          <p:grpSpPr>
            <a:xfrm>
              <a:off x="4789447" y="913781"/>
              <a:ext cx="4352898" cy="3248601"/>
              <a:chOff x="460993" y="1027427"/>
              <a:chExt cx="4352898" cy="3248601"/>
            </a:xfrm>
          </p:grpSpPr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22847D9-AFC1-1F71-503E-20BFB2C463D9}"/>
                  </a:ext>
                </a:extLst>
              </p:cNvPr>
              <p:cNvSpPr txBox="1"/>
              <p:nvPr/>
            </p:nvSpPr>
            <p:spPr>
              <a:xfrm>
                <a:off x="460993" y="1027427"/>
                <a:ext cx="4352898" cy="13234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dirty="0"/>
                  <a:t>NSGA-II Non-dominated Sorting Genetic Algorithm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600" dirty="0"/>
                  <a:t>Suitable for multi-objective optimization.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600" dirty="0"/>
                  <a:t>Similar to a typical genetic algorithm, with a modified mating and survival selection</a:t>
                </a:r>
              </a:p>
            </p:txBody>
          </p:sp>
          <p:pic>
            <p:nvPicPr>
              <p:cNvPr id="1026" name="Picture 2" descr="23fcb7d66f9c44e0b6ec7a71242238b8">
                <a:extLst>
                  <a:ext uri="{FF2B5EF4-FFF2-40B4-BE49-F238E27FC236}">
                    <a16:creationId xmlns:a16="http://schemas.microsoft.com/office/drawing/2014/main" id="{4261E242-9D94-DF74-18C8-9A7E4190034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98556" y="2414568"/>
                <a:ext cx="3267766" cy="186146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DF42D9DA-7D09-B71B-44DE-C5FA8928E0B4}"/>
                </a:ext>
              </a:extLst>
            </p:cNvPr>
            <p:cNvGrpSpPr/>
            <p:nvPr/>
          </p:nvGrpSpPr>
          <p:grpSpPr>
            <a:xfrm>
              <a:off x="445725" y="962746"/>
              <a:ext cx="3743645" cy="3413356"/>
              <a:chOff x="5385473" y="991879"/>
              <a:chExt cx="3743645" cy="3413356"/>
            </a:xfrm>
          </p:grpSpPr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39DA86B-254C-A79C-959C-AC5A5C1AF552}"/>
                  </a:ext>
                </a:extLst>
              </p:cNvPr>
              <p:cNvSpPr txBox="1"/>
              <p:nvPr/>
            </p:nvSpPr>
            <p:spPr>
              <a:xfrm>
                <a:off x="5544247" y="991879"/>
                <a:ext cx="3584871" cy="12926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dirty="0"/>
                  <a:t>Optimization algorithm calculates the number of units for wind turbines, photovoltaic panels, CSP systems, and batteries for each month</a:t>
                </a:r>
                <a:endParaRPr lang="en-US" dirty="0"/>
              </a:p>
              <a:p>
                <a:r>
                  <a:rPr lang="en-US" dirty="0"/>
                  <a:t> </a:t>
                </a:r>
              </a:p>
            </p:txBody>
          </p:sp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8DA1E22A-6097-FC6C-25BA-E7E9651A4581}"/>
                  </a:ext>
                </a:extLst>
              </p:cNvPr>
              <p:cNvSpPr/>
              <p:nvPr/>
            </p:nvSpPr>
            <p:spPr>
              <a:xfrm>
                <a:off x="5445430" y="2028456"/>
                <a:ext cx="731520" cy="73152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800" dirty="0" err="1"/>
                  <a:t>n</a:t>
                </a:r>
                <a:r>
                  <a:rPr lang="en-US" sz="1800" baseline="-25000" dirty="0" err="1"/>
                  <a:t>wt</a:t>
                </a:r>
                <a:endParaRPr lang="en-US" sz="1800" baseline="-25000" dirty="0"/>
              </a:p>
            </p:txBody>
          </p:sp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00ED9A92-72FC-6386-7915-3D2C9BEDA8F0}"/>
                  </a:ext>
                </a:extLst>
              </p:cNvPr>
              <p:cNvSpPr/>
              <p:nvPr/>
            </p:nvSpPr>
            <p:spPr>
              <a:xfrm>
                <a:off x="6334988" y="2028456"/>
                <a:ext cx="731520" cy="73152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800" dirty="0" err="1"/>
                  <a:t>n</a:t>
                </a:r>
                <a:r>
                  <a:rPr lang="en-US" sz="1800" baseline="-25000" dirty="0" err="1"/>
                  <a:t>pv</a:t>
                </a:r>
                <a:endParaRPr lang="en-US" sz="1800" baseline="-25000" dirty="0"/>
              </a:p>
            </p:txBody>
          </p:sp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5D095438-01F9-FAFC-E8CB-9B4FD70BDDE7}"/>
                  </a:ext>
                </a:extLst>
              </p:cNvPr>
              <p:cNvSpPr/>
              <p:nvPr/>
            </p:nvSpPr>
            <p:spPr>
              <a:xfrm>
                <a:off x="7224546" y="2028456"/>
                <a:ext cx="731520" cy="73152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 err="1"/>
                  <a:t>n</a:t>
                </a:r>
                <a:r>
                  <a:rPr lang="en-US" sz="1600" baseline="-25000" dirty="0" err="1"/>
                  <a:t>csp</a:t>
                </a:r>
                <a:endParaRPr lang="en-US" sz="1600" baseline="-25000" dirty="0"/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03DEB29B-B396-3DFA-69B0-E1E1C1DA5FC7}"/>
                  </a:ext>
                </a:extLst>
              </p:cNvPr>
              <p:cNvSpPr/>
              <p:nvPr/>
            </p:nvSpPr>
            <p:spPr>
              <a:xfrm>
                <a:off x="8173137" y="2028456"/>
                <a:ext cx="731520" cy="73152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 err="1"/>
                  <a:t>n</a:t>
                </a:r>
                <a:r>
                  <a:rPr lang="en-US" sz="1600" baseline="-25000" dirty="0" err="1"/>
                  <a:t>b</a:t>
                </a:r>
                <a:endParaRPr lang="en-US" sz="1600" baseline="-25000" dirty="0"/>
              </a:p>
            </p:txBody>
          </p:sp>
          <p:sp>
            <p:nvSpPr>
              <p:cNvPr id="11" name="Left Brace 10">
                <a:extLst>
                  <a:ext uri="{FF2B5EF4-FFF2-40B4-BE49-F238E27FC236}">
                    <a16:creationId xmlns:a16="http://schemas.microsoft.com/office/drawing/2014/main" id="{BFD38C8D-FA86-1C57-712F-A2898B1C6A77}"/>
                  </a:ext>
                </a:extLst>
              </p:cNvPr>
              <p:cNvSpPr/>
              <p:nvPr/>
            </p:nvSpPr>
            <p:spPr>
              <a:xfrm rot="16200000">
                <a:off x="6916239" y="1229211"/>
                <a:ext cx="572700" cy="3634230"/>
              </a:xfrm>
              <a:prstGeom prst="leftBrac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Rounded Rectangle 11">
                <a:extLst>
                  <a:ext uri="{FF2B5EF4-FFF2-40B4-BE49-F238E27FC236}">
                    <a16:creationId xmlns:a16="http://schemas.microsoft.com/office/drawing/2014/main" id="{CFAB9923-0804-B890-E69D-79B7CB61B472}"/>
                  </a:ext>
                </a:extLst>
              </p:cNvPr>
              <p:cNvSpPr/>
              <p:nvPr/>
            </p:nvSpPr>
            <p:spPr>
              <a:xfrm>
                <a:off x="5385473" y="3786807"/>
                <a:ext cx="1591797" cy="618428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Optimize for Cost</a:t>
                </a:r>
              </a:p>
            </p:txBody>
          </p:sp>
          <p:sp>
            <p:nvSpPr>
              <p:cNvPr id="13" name="Rounded Rectangle 12">
                <a:extLst>
                  <a:ext uri="{FF2B5EF4-FFF2-40B4-BE49-F238E27FC236}">
                    <a16:creationId xmlns:a16="http://schemas.microsoft.com/office/drawing/2014/main" id="{39B71184-9CA5-71C7-14FA-C2C66A2A5561}"/>
                  </a:ext>
                </a:extLst>
              </p:cNvPr>
              <p:cNvSpPr/>
              <p:nvPr/>
            </p:nvSpPr>
            <p:spPr>
              <a:xfrm>
                <a:off x="7562262" y="3786807"/>
                <a:ext cx="1457441" cy="618428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Optimize for CO</a:t>
                </a:r>
                <a:r>
                  <a:rPr lang="en-US" baseline="-25000" dirty="0"/>
                  <a:t>2 </a:t>
                </a:r>
                <a:r>
                  <a:rPr lang="en-US" dirty="0"/>
                  <a:t>Emissions</a:t>
                </a:r>
              </a:p>
            </p:txBody>
          </p:sp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9DB953DF-1A4B-3158-7A6A-3E606FC6B50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768549" y="3424170"/>
                <a:ext cx="374406" cy="283125"/>
              </a:xfrm>
              <a:prstGeom prst="straightConnector1">
                <a:avLst/>
              </a:prstGeom>
              <a:ln w="28575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8E736E00-B702-9D8A-6973-2425F400C9F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224546" y="3424170"/>
                <a:ext cx="374406" cy="283125"/>
              </a:xfrm>
              <a:prstGeom prst="straightConnector1">
                <a:avLst/>
              </a:prstGeom>
              <a:ln w="28575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99C1F581-33DB-9E49-4074-EEC376E25DCC}"/>
              </a:ext>
            </a:extLst>
          </p:cNvPr>
          <p:cNvSpPr/>
          <p:nvPr/>
        </p:nvSpPr>
        <p:spPr>
          <a:xfrm>
            <a:off x="198783" y="1073937"/>
            <a:ext cx="4283765" cy="3822632"/>
          </a:xfrm>
          <a:prstGeom prst="roundRect">
            <a:avLst>
              <a:gd name="adj" fmla="val 5747"/>
            </a:avLst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ounded Rectangle 19">
            <a:extLst>
              <a:ext uri="{FF2B5EF4-FFF2-40B4-BE49-F238E27FC236}">
                <a16:creationId xmlns:a16="http://schemas.microsoft.com/office/drawing/2014/main" id="{F039DAE3-9033-20E0-A4F1-43ED895EA6C2}"/>
              </a:ext>
            </a:extLst>
          </p:cNvPr>
          <p:cNvSpPr/>
          <p:nvPr/>
        </p:nvSpPr>
        <p:spPr>
          <a:xfrm>
            <a:off x="4699619" y="1072754"/>
            <a:ext cx="4283765" cy="3822632"/>
          </a:xfrm>
          <a:prstGeom prst="roundRect">
            <a:avLst>
              <a:gd name="adj" fmla="val 5747"/>
            </a:avLst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0DACA00-F5FB-267A-50C1-BDFBBB9B5C82}"/>
              </a:ext>
            </a:extLst>
          </p:cNvPr>
          <p:cNvSpPr txBox="1"/>
          <p:nvPr/>
        </p:nvSpPr>
        <p:spPr>
          <a:xfrm>
            <a:off x="953105" y="1069245"/>
            <a:ext cx="27751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accent1"/>
                </a:solidFill>
              </a:rPr>
              <a:t>Forward Model Summary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7E43525-0746-7C43-F039-201A886D4BDA}"/>
              </a:ext>
            </a:extLst>
          </p:cNvPr>
          <p:cNvSpPr txBox="1"/>
          <p:nvPr/>
        </p:nvSpPr>
        <p:spPr>
          <a:xfrm>
            <a:off x="5599693" y="1088970"/>
            <a:ext cx="26853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accent1"/>
                </a:solidFill>
              </a:rPr>
              <a:t>Inverse Model Summary</a:t>
            </a:r>
          </a:p>
        </p:txBody>
      </p:sp>
    </p:spTree>
    <p:extLst>
      <p:ext uri="{BB962C8B-B14F-4D97-AF65-F5344CB8AC3E}">
        <p14:creationId xmlns:p14="http://schemas.microsoft.com/office/powerpoint/2010/main" val="408443198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2bd1100ac18_0_11"/>
          <p:cNvSpPr txBox="1">
            <a:spLocks noGrp="1"/>
          </p:cNvSpPr>
          <p:nvPr>
            <p:ph type="title"/>
          </p:nvPr>
        </p:nvSpPr>
        <p:spPr>
          <a:xfrm>
            <a:off x="311700" y="5797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-US" sz="3000" dirty="0"/>
              <a:t>NSGA-II Optimization Model</a:t>
            </a:r>
          </a:p>
        </p:txBody>
      </p:sp>
      <p:sp>
        <p:nvSpPr>
          <p:cNvPr id="235" name="Google Shape;235;g2bd1100ac18_0_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30</a:t>
            </a:fld>
            <a:endParaRPr/>
          </a:p>
        </p:txBody>
      </p:sp>
      <p:pic>
        <p:nvPicPr>
          <p:cNvPr id="5" name="Picture 2" descr="Flow chart of NSGA-II. | Download Scientific Diagram">
            <a:extLst>
              <a:ext uri="{FF2B5EF4-FFF2-40B4-BE49-F238E27FC236}">
                <a16:creationId xmlns:a16="http://schemas.microsoft.com/office/drawing/2014/main" id="{101A9714-87AA-1C5F-70EF-29350CADC4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232" y="1602374"/>
            <a:ext cx="2763247" cy="31997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ounded Rectangle 23">
            <a:extLst>
              <a:ext uri="{FF2B5EF4-FFF2-40B4-BE49-F238E27FC236}">
                <a16:creationId xmlns:a16="http://schemas.microsoft.com/office/drawing/2014/main" id="{F7AAF21D-0877-553E-6E25-672E2AD8EDAF}"/>
              </a:ext>
            </a:extLst>
          </p:cNvPr>
          <p:cNvSpPr/>
          <p:nvPr/>
        </p:nvSpPr>
        <p:spPr>
          <a:xfrm>
            <a:off x="636106" y="1512556"/>
            <a:ext cx="3260034" cy="3458341"/>
          </a:xfrm>
          <a:prstGeom prst="roundRect">
            <a:avLst>
              <a:gd name="adj" fmla="val 9482"/>
            </a:avLst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0973CB65-8D50-595D-45CE-217DA2E521BF}"/>
              </a:ext>
            </a:extLst>
          </p:cNvPr>
          <p:cNvCxnSpPr/>
          <p:nvPr/>
        </p:nvCxnSpPr>
        <p:spPr>
          <a:xfrm>
            <a:off x="3011557" y="2508926"/>
            <a:ext cx="1311965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B8C63451-CC5A-D242-E556-F7A76751F905}"/>
              </a:ext>
            </a:extLst>
          </p:cNvPr>
          <p:cNvSpPr txBox="1"/>
          <p:nvPr/>
        </p:nvSpPr>
        <p:spPr>
          <a:xfrm>
            <a:off x="4323522" y="2246874"/>
            <a:ext cx="36565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Optimum </a:t>
            </a:r>
            <a:r>
              <a:rPr lang="en-US" sz="1600" dirty="0" err="1"/>
              <a:t>n</a:t>
            </a:r>
            <a:r>
              <a:rPr lang="en-US" sz="1600" baseline="-25000" dirty="0" err="1"/>
              <a:t>wt</a:t>
            </a:r>
            <a:r>
              <a:rPr lang="en-US" sz="1600" dirty="0"/>
              <a:t>, </a:t>
            </a:r>
            <a:r>
              <a:rPr lang="en-US" sz="1600" dirty="0" err="1"/>
              <a:t>n</a:t>
            </a:r>
            <a:r>
              <a:rPr lang="en-US" sz="1600" baseline="-25000" dirty="0" err="1"/>
              <a:t>pv</a:t>
            </a:r>
            <a:r>
              <a:rPr lang="en-US" sz="1600" dirty="0"/>
              <a:t>, </a:t>
            </a:r>
            <a:r>
              <a:rPr lang="en-US" sz="1600" dirty="0" err="1"/>
              <a:t>n</a:t>
            </a:r>
            <a:r>
              <a:rPr lang="en-US" sz="1600" baseline="-25000" dirty="0" err="1"/>
              <a:t>csp</a:t>
            </a:r>
            <a:r>
              <a:rPr lang="en-US" sz="1600" dirty="0"/>
              <a:t>, and </a:t>
            </a:r>
            <a:r>
              <a:rPr lang="en-US" sz="1600" dirty="0" err="1"/>
              <a:t>n</a:t>
            </a:r>
            <a:r>
              <a:rPr lang="en-US" sz="1600" baseline="-25000" dirty="0" err="1"/>
              <a:t>b</a:t>
            </a:r>
            <a:r>
              <a:rPr lang="en-US" sz="1600" dirty="0"/>
              <a:t> for each month </a:t>
            </a:r>
          </a:p>
        </p:txBody>
      </p:sp>
      <p:sp>
        <p:nvSpPr>
          <p:cNvPr id="9" name="Rounded Rectangle 27">
            <a:extLst>
              <a:ext uri="{FF2B5EF4-FFF2-40B4-BE49-F238E27FC236}">
                <a16:creationId xmlns:a16="http://schemas.microsoft.com/office/drawing/2014/main" id="{B3374226-585A-24CB-DCB9-A66DC41C1855}"/>
              </a:ext>
            </a:extLst>
          </p:cNvPr>
          <p:cNvSpPr/>
          <p:nvPr/>
        </p:nvSpPr>
        <p:spPr>
          <a:xfrm>
            <a:off x="4390190" y="2234209"/>
            <a:ext cx="3656530" cy="572700"/>
          </a:xfrm>
          <a:prstGeom prst="roundRect">
            <a:avLst>
              <a:gd name="adj" fmla="val 9482"/>
            </a:avLst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DCD732F-99BB-1D93-C9D2-B0411C0114F4}"/>
              </a:ext>
            </a:extLst>
          </p:cNvPr>
          <p:cNvCxnSpPr>
            <a:cxnSpLocks/>
          </p:cNvCxnSpPr>
          <p:nvPr/>
        </p:nvCxnSpPr>
        <p:spPr>
          <a:xfrm>
            <a:off x="6272917" y="2806909"/>
            <a:ext cx="0" cy="47813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30">
            <a:extLst>
              <a:ext uri="{FF2B5EF4-FFF2-40B4-BE49-F238E27FC236}">
                <a16:creationId xmlns:a16="http://schemas.microsoft.com/office/drawing/2014/main" id="{16544709-BD6A-2E67-9744-2B32B45B6824}"/>
              </a:ext>
            </a:extLst>
          </p:cNvPr>
          <p:cNvSpPr/>
          <p:nvPr/>
        </p:nvSpPr>
        <p:spPr>
          <a:xfrm>
            <a:off x="4390190" y="3308207"/>
            <a:ext cx="3656530" cy="572700"/>
          </a:xfrm>
          <a:prstGeom prst="roundRect">
            <a:avLst>
              <a:gd name="adj" fmla="val 9482"/>
            </a:avLst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D7FD090-BAEE-C0E0-A99E-1C299995CBB9}"/>
              </a:ext>
            </a:extLst>
          </p:cNvPr>
          <p:cNvSpPr txBox="1"/>
          <p:nvPr/>
        </p:nvSpPr>
        <p:spPr>
          <a:xfrm>
            <a:off x="4385569" y="3345613"/>
            <a:ext cx="36565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Optimum </a:t>
            </a:r>
            <a:r>
              <a:rPr lang="en-US" sz="1600" dirty="0" err="1"/>
              <a:t>n</a:t>
            </a:r>
            <a:r>
              <a:rPr lang="en-US" sz="1600" baseline="-25000" dirty="0" err="1"/>
              <a:t>wt</a:t>
            </a:r>
            <a:r>
              <a:rPr lang="en-US" sz="1600" dirty="0"/>
              <a:t>, </a:t>
            </a:r>
            <a:r>
              <a:rPr lang="en-US" sz="1600" dirty="0" err="1"/>
              <a:t>n</a:t>
            </a:r>
            <a:r>
              <a:rPr lang="en-US" sz="1600" baseline="-25000" dirty="0" err="1"/>
              <a:t>pv</a:t>
            </a:r>
            <a:r>
              <a:rPr lang="en-US" sz="1600" dirty="0"/>
              <a:t>, </a:t>
            </a:r>
            <a:r>
              <a:rPr lang="en-US" sz="1600" dirty="0" err="1"/>
              <a:t>n</a:t>
            </a:r>
            <a:r>
              <a:rPr lang="en-US" sz="1600" baseline="-25000" dirty="0" err="1"/>
              <a:t>csp</a:t>
            </a:r>
            <a:r>
              <a:rPr lang="en-US" sz="1600" dirty="0"/>
              <a:t>, and </a:t>
            </a:r>
            <a:r>
              <a:rPr lang="en-US" sz="1600" dirty="0" err="1"/>
              <a:t>n</a:t>
            </a:r>
            <a:r>
              <a:rPr lang="en-US" sz="1600" baseline="-25000" dirty="0" err="1"/>
              <a:t>b</a:t>
            </a:r>
            <a:r>
              <a:rPr lang="en-US" sz="1600" dirty="0"/>
              <a:t> for each year (2023-2027)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D7210BE-6437-B4A6-D92C-FC76114ECA97}"/>
              </a:ext>
            </a:extLst>
          </p:cNvPr>
          <p:cNvCxnSpPr>
            <a:cxnSpLocks/>
          </p:cNvCxnSpPr>
          <p:nvPr/>
        </p:nvCxnSpPr>
        <p:spPr>
          <a:xfrm>
            <a:off x="6272917" y="3875681"/>
            <a:ext cx="0" cy="47813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33">
            <a:extLst>
              <a:ext uri="{FF2B5EF4-FFF2-40B4-BE49-F238E27FC236}">
                <a16:creationId xmlns:a16="http://schemas.microsoft.com/office/drawing/2014/main" id="{B8BA6EA3-217F-08F5-139B-E37B94F0B703}"/>
              </a:ext>
            </a:extLst>
          </p:cNvPr>
          <p:cNvSpPr/>
          <p:nvPr/>
        </p:nvSpPr>
        <p:spPr>
          <a:xfrm>
            <a:off x="4390190" y="4376979"/>
            <a:ext cx="3656530" cy="572700"/>
          </a:xfrm>
          <a:prstGeom prst="roundRect">
            <a:avLst>
              <a:gd name="adj" fmla="val 9482"/>
            </a:avLst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AC856FA-E149-4729-1B4D-921EC6F8781F}"/>
              </a:ext>
            </a:extLst>
          </p:cNvPr>
          <p:cNvSpPr txBox="1"/>
          <p:nvPr/>
        </p:nvSpPr>
        <p:spPr>
          <a:xfrm>
            <a:off x="4385569" y="4401165"/>
            <a:ext cx="35974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Optimum </a:t>
            </a:r>
            <a:r>
              <a:rPr lang="en-US" sz="1600" dirty="0" err="1"/>
              <a:t>n</a:t>
            </a:r>
            <a:r>
              <a:rPr lang="en-US" sz="1600" baseline="-25000" dirty="0" err="1"/>
              <a:t>wt</a:t>
            </a:r>
            <a:r>
              <a:rPr lang="en-US" sz="1600" dirty="0"/>
              <a:t>, </a:t>
            </a:r>
            <a:r>
              <a:rPr lang="en-US" sz="1600" dirty="0" err="1"/>
              <a:t>n</a:t>
            </a:r>
            <a:r>
              <a:rPr lang="en-US" sz="1600" baseline="-25000" dirty="0" err="1"/>
              <a:t>pv</a:t>
            </a:r>
            <a:r>
              <a:rPr lang="en-US" sz="1600" dirty="0"/>
              <a:t>, </a:t>
            </a:r>
            <a:r>
              <a:rPr lang="en-US" sz="1600" dirty="0" err="1"/>
              <a:t>n</a:t>
            </a:r>
            <a:r>
              <a:rPr lang="en-US" sz="1600" baseline="-25000" dirty="0" err="1"/>
              <a:t>csp</a:t>
            </a:r>
            <a:r>
              <a:rPr lang="en-US" sz="1600" dirty="0"/>
              <a:t>, and </a:t>
            </a:r>
            <a:r>
              <a:rPr lang="en-US" sz="1600" dirty="0" err="1"/>
              <a:t>n</a:t>
            </a:r>
            <a:r>
              <a:rPr lang="en-US" sz="1600" baseline="-25000" dirty="0" err="1"/>
              <a:t>b</a:t>
            </a:r>
            <a:r>
              <a:rPr lang="en-US" sz="1600" dirty="0"/>
              <a:t> for the entire 5-year duration (2023-2027)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D36E1EF-5324-EE45-4EE7-DEBEFF9AE642}"/>
              </a:ext>
            </a:extLst>
          </p:cNvPr>
          <p:cNvSpPr txBox="1"/>
          <p:nvPr/>
        </p:nvSpPr>
        <p:spPr>
          <a:xfrm>
            <a:off x="646207" y="1137658"/>
            <a:ext cx="25907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Main Loop on Month and Year</a:t>
            </a:r>
          </a:p>
        </p:txBody>
      </p:sp>
    </p:spTree>
    <p:extLst>
      <p:ext uri="{BB962C8B-B14F-4D97-AF65-F5344CB8AC3E}">
        <p14:creationId xmlns:p14="http://schemas.microsoft.com/office/powerpoint/2010/main" val="211916485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16FFCB-810A-1B29-6C14-4D9E8DEDA4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86162"/>
            <a:ext cx="8520600" cy="572700"/>
          </a:xfrm>
        </p:spPr>
        <p:txBody>
          <a:bodyPr>
            <a:noAutofit/>
          </a:bodyPr>
          <a:lstStyle/>
          <a:p>
            <a:pPr algn="ctr"/>
            <a:r>
              <a:rPr lang="en-US" sz="3000" dirty="0"/>
              <a:t>PSO Model - Optimization Results (Tampa Bay)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405E96-C8F3-4447-7FA6-40E7A984E31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31</a:t>
            </a:fld>
            <a:endParaRPr lang="e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726FEA9-22CD-64F9-C7E6-0107B3850248}"/>
              </a:ext>
            </a:extLst>
          </p:cNvPr>
          <p:cNvSpPr txBox="1"/>
          <p:nvPr/>
        </p:nvSpPr>
        <p:spPr>
          <a:xfrm>
            <a:off x="100084" y="1058862"/>
            <a:ext cx="894383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+mj-lt"/>
                <a:ea typeface="Times New Roman" panose="02020603050405020304" pitchFamily="18" charset="0"/>
              </a:rPr>
              <a:t>O</a:t>
            </a:r>
            <a:r>
              <a:rPr lang="en-US" sz="1800" kern="0" dirty="0">
                <a:effectLst/>
                <a:latin typeface="+mj-lt"/>
                <a:ea typeface="Times New Roman" panose="02020603050405020304" pitchFamily="18" charset="0"/>
              </a:rPr>
              <a:t>ptimization of Scenarios 1, 2 and 3 result in: 100%, 99%, and 30% RE mix, respectively, and produce excess energy of 11%, 15%, and 0%, respectivel</a:t>
            </a:r>
            <a:r>
              <a:rPr lang="en-US" sz="1800" dirty="0">
                <a:latin typeface="+mj-lt"/>
                <a:ea typeface="Times New Roman" panose="02020603050405020304" pitchFamily="18" charset="0"/>
              </a:rPr>
              <a:t>y</a:t>
            </a:r>
            <a:r>
              <a:rPr lang="en-US" sz="1800" kern="0" dirty="0">
                <a:effectLst/>
                <a:latin typeface="+mj-lt"/>
                <a:ea typeface="Times New Roman" panose="02020603050405020304" pitchFamily="18" charset="0"/>
              </a:rPr>
              <a:t> (as there is no net metering)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C4F6415-0344-3D9B-5FE5-490E1A0016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254" y="1926758"/>
            <a:ext cx="8618413" cy="3125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164790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16FFCB-810A-1B29-6C14-4D9E8DEDA4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15140"/>
            <a:ext cx="8520600" cy="572700"/>
          </a:xfrm>
        </p:spPr>
        <p:txBody>
          <a:bodyPr>
            <a:noAutofit/>
          </a:bodyPr>
          <a:lstStyle/>
          <a:p>
            <a:pPr algn="ctr"/>
            <a:r>
              <a:rPr lang="en-US" sz="3000" dirty="0"/>
              <a:t>PSO Model - Optimization Results (Tampa Bay)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405E96-C8F3-4447-7FA6-40E7A984E31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32</a:t>
            </a:fld>
            <a:endParaRPr lang="e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53B8225-B039-A584-83DB-4364DB37BB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49" y="2023141"/>
            <a:ext cx="8778753" cy="301231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7988000-7A3E-4A13-87F6-C4B6A6BE8993}"/>
              </a:ext>
            </a:extLst>
          </p:cNvPr>
          <p:cNvSpPr txBox="1"/>
          <p:nvPr/>
        </p:nvSpPr>
        <p:spPr>
          <a:xfrm>
            <a:off x="83122" y="987840"/>
            <a:ext cx="874917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600" kern="0" dirty="0">
                <a:effectLst/>
                <a:latin typeface="+mj-lt"/>
                <a:ea typeface="Times New Roman" panose="02020603050405020304" pitchFamily="18" charset="0"/>
              </a:rPr>
              <a:t>5-year Total </a:t>
            </a:r>
            <a:r>
              <a:rPr lang="en-US" sz="1600" dirty="0">
                <a:latin typeface="+mj-lt"/>
                <a:ea typeface="Times New Roman" panose="02020603050405020304" pitchFamily="18" charset="0"/>
              </a:rPr>
              <a:t>C</a:t>
            </a:r>
            <a:r>
              <a:rPr lang="en-US" sz="1600" kern="0" dirty="0">
                <a:effectLst/>
                <a:latin typeface="+mj-lt"/>
                <a:ea typeface="Times New Roman" panose="02020603050405020304" pitchFamily="18" charset="0"/>
              </a:rPr>
              <a:t>ost of Scenario 2, 3, Baseline (100% Utility) </a:t>
            </a:r>
            <a:r>
              <a:rPr lang="en-US" sz="1600" dirty="0">
                <a:latin typeface="+mj-lt"/>
                <a:ea typeface="Times New Roman" panose="02020603050405020304" pitchFamily="18" charset="0"/>
              </a:rPr>
              <a:t>is</a:t>
            </a:r>
            <a:r>
              <a:rPr lang="en-US" sz="1600" kern="0" dirty="0">
                <a:effectLst/>
                <a:latin typeface="+mj-lt"/>
                <a:ea typeface="Times New Roman" panose="02020603050405020304" pitchFamily="18" charset="0"/>
              </a:rPr>
              <a:t> ~$16.9 million, whereas Scenario 1 is ~$25 million due to use of 12 batteries to create 100% energy independence.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600" kern="0" dirty="0">
              <a:effectLst/>
              <a:latin typeface="+mj-lt"/>
              <a:ea typeface="Times New Roman" panose="02020603050405020304" pitchFamily="18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600" kern="0" dirty="0">
                <a:effectLst/>
                <a:latin typeface="+mj-lt"/>
                <a:ea typeface="Times New Roman" panose="02020603050405020304" pitchFamily="18" charset="0"/>
              </a:rPr>
              <a:t>CO2 </a:t>
            </a:r>
            <a:r>
              <a:rPr lang="en-US" sz="1600" dirty="0">
                <a:latin typeface="+mj-lt"/>
                <a:ea typeface="Times New Roman" panose="02020603050405020304" pitchFamily="18" charset="0"/>
              </a:rPr>
              <a:t>E</a:t>
            </a:r>
            <a:r>
              <a:rPr lang="en-US" sz="1600" kern="0" dirty="0">
                <a:effectLst/>
                <a:latin typeface="+mj-lt"/>
                <a:ea typeface="Times New Roman" panose="02020603050405020304" pitchFamily="18" charset="0"/>
              </a:rPr>
              <a:t>missions (grams/kWh) of Scenario 1, 2, 3, Baseline = 5M, 1.4B, 62.5B, </a:t>
            </a:r>
            <a:r>
              <a:rPr lang="en-US" sz="1600" dirty="0">
                <a:latin typeface="+mj-lt"/>
                <a:ea typeface="Times New Roman" panose="02020603050405020304" pitchFamily="18" charset="0"/>
              </a:rPr>
              <a:t>90B</a:t>
            </a:r>
            <a:r>
              <a:rPr lang="en-US" sz="1600" kern="0" dirty="0">
                <a:effectLst/>
                <a:latin typeface="+mj-lt"/>
                <a:ea typeface="Times New Roman" panose="02020603050405020304" pitchFamily="18" charset="0"/>
              </a:rPr>
              <a:t>, resp. </a:t>
            </a:r>
          </a:p>
        </p:txBody>
      </p:sp>
    </p:spTree>
    <p:extLst>
      <p:ext uri="{BB962C8B-B14F-4D97-AF65-F5344CB8AC3E}">
        <p14:creationId xmlns:p14="http://schemas.microsoft.com/office/powerpoint/2010/main" val="316477853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2bd1100ac18_0_11"/>
          <p:cNvSpPr txBox="1">
            <a:spLocks noGrp="1"/>
          </p:cNvSpPr>
          <p:nvPr>
            <p:ph type="title"/>
          </p:nvPr>
        </p:nvSpPr>
        <p:spPr>
          <a:xfrm>
            <a:off x="311700" y="85171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33"/>
              <a:buNone/>
            </a:pPr>
            <a:r>
              <a:rPr lang="en" sz="3000" dirty="0"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2"/>
                  </a:ext>
                </a:extLst>
              </a:rPr>
              <a:t>Potential Limitations</a:t>
            </a:r>
            <a:endParaRPr sz="3000" dirty="0"/>
          </a:p>
        </p:txBody>
      </p:sp>
      <p:sp>
        <p:nvSpPr>
          <p:cNvPr id="234" name="Google Shape;234;g2bd1100ac18_0_11"/>
          <p:cNvSpPr txBox="1">
            <a:spLocks noGrp="1"/>
          </p:cNvSpPr>
          <p:nvPr>
            <p:ph type="body" idx="1"/>
          </p:nvPr>
        </p:nvSpPr>
        <p:spPr>
          <a:xfrm>
            <a:off x="311700" y="1692811"/>
            <a:ext cx="8520600" cy="2927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>
                <a:solidFill>
                  <a:schemeClr val="dk1"/>
                </a:solidFill>
              </a:rPr>
              <a:t>There is uncertainty in forecasted water/energy/weather data</a:t>
            </a:r>
            <a:endParaRPr dirty="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>
                <a:solidFill>
                  <a:schemeClr val="dk1"/>
                </a:solidFill>
              </a:rPr>
              <a:t>We did not account for plant downtime in model training for energy consumption and water flows</a:t>
            </a:r>
            <a:endParaRPr dirty="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>
                <a:solidFill>
                  <a:schemeClr val="dk1"/>
                </a:solidFill>
              </a:rPr>
              <a:t>This study takes into account PV, Wind, CSP, and Battery Storage.</a:t>
            </a:r>
          </a:p>
          <a:p>
            <a:pPr lvl="1" indent="-342900">
              <a:lnSpc>
                <a:spcPct val="150000"/>
              </a:lnSpc>
              <a:buSzPts val="1800"/>
              <a:buChar char="●"/>
            </a:pPr>
            <a:r>
              <a:rPr lang="en" sz="1600" dirty="0">
                <a:solidFill>
                  <a:schemeClr val="dk1"/>
                </a:solidFill>
              </a:rPr>
              <a:t>Future Studies can include Geothermal Energy and Hydrogen Storage</a:t>
            </a:r>
            <a:endParaRPr sz="1600" dirty="0">
              <a:solidFill>
                <a:schemeClr val="dk1"/>
              </a:solidFill>
            </a:endParaRPr>
          </a:p>
        </p:txBody>
      </p:sp>
      <p:sp>
        <p:nvSpPr>
          <p:cNvPr id="235" name="Google Shape;235;g2bd1100ac18_0_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33</a:t>
            </a:fld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3"/>
          <p:cNvSpPr txBox="1">
            <a:spLocks noGrp="1"/>
          </p:cNvSpPr>
          <p:nvPr>
            <p:ph type="title"/>
          </p:nvPr>
        </p:nvSpPr>
        <p:spPr>
          <a:xfrm>
            <a:off x="311700" y="741041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000" dirty="0"/>
              <a:t>Conclusions</a:t>
            </a:r>
            <a:endParaRPr sz="3000" dirty="0"/>
          </a:p>
        </p:txBody>
      </p:sp>
      <p:sp>
        <p:nvSpPr>
          <p:cNvPr id="241" name="Google Shape;241;p23"/>
          <p:cNvSpPr txBox="1">
            <a:spLocks noGrp="1"/>
          </p:cNvSpPr>
          <p:nvPr>
            <p:ph type="body" idx="1"/>
          </p:nvPr>
        </p:nvSpPr>
        <p:spPr>
          <a:xfrm>
            <a:off x="311700" y="1373670"/>
            <a:ext cx="8520600" cy="3484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</a:pPr>
            <a:r>
              <a:rPr lang="en" b="1" dirty="0">
                <a:solidFill>
                  <a:schemeClr val="accent1"/>
                </a:solidFill>
              </a:rPr>
              <a:t>Key Achievements</a:t>
            </a:r>
            <a:endParaRPr b="1" dirty="0">
              <a:solidFill>
                <a:schemeClr val="accent1"/>
              </a:solidFill>
            </a:endParaRPr>
          </a:p>
          <a:p>
            <a:pPr marL="914400" lvl="1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</a:pPr>
            <a:r>
              <a:rPr lang="en" sz="1600" dirty="0">
                <a:solidFill>
                  <a:srgbClr val="000000"/>
                </a:solidFill>
              </a:rPr>
              <a:t>Established a robust framework and formulas for optimizing RE integration in desalination</a:t>
            </a:r>
            <a:endParaRPr sz="1600" dirty="0"/>
          </a:p>
          <a:p>
            <a:pPr marL="914400" lvl="1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</a:pPr>
            <a:r>
              <a:rPr lang="en" sz="1600" dirty="0">
                <a:solidFill>
                  <a:srgbClr val="000000"/>
                </a:solidFill>
              </a:rPr>
              <a:t>Water production, energy consumption, and weather forecasting using AI models to calculate RE generation</a:t>
            </a:r>
          </a:p>
          <a:p>
            <a:pPr marL="914400" lvl="1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</a:pPr>
            <a:r>
              <a:rPr lang="en" sz="1600" dirty="0">
                <a:solidFill>
                  <a:srgbClr val="000000"/>
                </a:solidFill>
              </a:rPr>
              <a:t>Multi-objective optimization algorithim for optimal mix of RE investments needed to supply a desalination plant for a given region.</a:t>
            </a:r>
            <a:endParaRPr sz="1600" dirty="0"/>
          </a:p>
          <a:p>
            <a:pPr marL="584200" lvl="1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</a:pPr>
            <a:endParaRPr sz="800" dirty="0">
              <a:solidFill>
                <a:srgbClr val="000000"/>
              </a:solidFill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</a:pPr>
            <a:r>
              <a:rPr lang="en" b="1" dirty="0">
                <a:solidFill>
                  <a:schemeClr val="accent1"/>
                </a:solidFill>
              </a:rPr>
              <a:t>Future Study</a:t>
            </a:r>
            <a:endParaRPr b="1" dirty="0">
              <a:solidFill>
                <a:schemeClr val="accent1"/>
              </a:solidFill>
            </a:endParaRPr>
          </a:p>
          <a:p>
            <a:pPr marL="914400" lvl="1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</a:pPr>
            <a:r>
              <a:rPr lang="en" sz="1600" dirty="0">
                <a:solidFill>
                  <a:srgbClr val="000000"/>
                </a:solidFill>
              </a:rPr>
              <a:t>Perform sensitivity analysis for optimization mix of RE system and battery storage</a:t>
            </a:r>
          </a:p>
          <a:p>
            <a:pPr marL="584200" lvl="1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</a:pPr>
            <a:endParaRPr dirty="0">
              <a:solidFill>
                <a:srgbClr val="000000"/>
              </a:solidFill>
            </a:endParaRPr>
          </a:p>
        </p:txBody>
      </p:sp>
      <p:sp>
        <p:nvSpPr>
          <p:cNvPr id="242" name="Google Shape;242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34</a:t>
            </a:fld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3"/>
          <p:cNvSpPr txBox="1">
            <a:spLocks noGrp="1"/>
          </p:cNvSpPr>
          <p:nvPr>
            <p:ph type="title"/>
          </p:nvPr>
        </p:nvSpPr>
        <p:spPr>
          <a:xfrm>
            <a:off x="311700" y="741041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000" dirty="0"/>
              <a:t>Acknowledgement</a:t>
            </a:r>
            <a:endParaRPr sz="3000" dirty="0"/>
          </a:p>
        </p:txBody>
      </p:sp>
      <p:sp>
        <p:nvSpPr>
          <p:cNvPr id="242" name="Google Shape;242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35</a:t>
            </a:fld>
            <a:endParaRPr/>
          </a:p>
        </p:txBody>
      </p:sp>
      <p:graphicFrame>
        <p:nvGraphicFramePr>
          <p:cNvPr id="4" name="Google Shape;79;p2">
            <a:extLst>
              <a:ext uri="{FF2B5EF4-FFF2-40B4-BE49-F238E27FC236}">
                <a16:creationId xmlns:a16="http://schemas.microsoft.com/office/drawing/2014/main" id="{17585349-63E3-28B8-D8B7-6156D8498A6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15784433"/>
              </p:ext>
            </p:extLst>
          </p:nvPr>
        </p:nvGraphicFramePr>
        <p:xfrm>
          <a:off x="829733" y="1373031"/>
          <a:ext cx="7642725" cy="3605694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657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23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799711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lang="en-US" sz="1400" u="none" strike="noStrike" cap="none"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lang="en-US" sz="1400" u="none" strike="noStrike" cap="none"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lang="en-US" sz="1400" u="none" strike="noStrike" cap="none"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lang="en-US" sz="1400" u="none" strike="noStrike" cap="none"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lang="en-US" sz="1400" u="none" strike="noStrike" cap="none"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lang="en-US" sz="1400" u="none" strike="noStrike" cap="none"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800" u="none" strike="noStrike" cap="none" dirty="0"/>
                    </a:p>
                  </a:txBody>
                  <a:tcPr marL="91450" marR="91450" marT="45725" marB="457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 dirty="0"/>
                    </a:p>
                  </a:txBody>
                  <a:tcPr marL="91450" marR="91450" marT="45725" marB="457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 dirty="0"/>
                    </a:p>
                  </a:txBody>
                  <a:tcPr marL="91450" marR="91450" marT="45725" marB="45725"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85444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b="1" u="none" strike="noStrike" cap="none" dirty="0"/>
                        <a:t>Dr. Joshua Sperling</a:t>
                      </a:r>
                      <a:endParaRPr sz="1400" u="none" strike="noStrike" cap="none" dirty="0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 dirty="0"/>
                        <a:t>National Renewable Energy Laboratory</a:t>
                      </a:r>
                      <a:endParaRPr sz="1400" u="none" strike="noStrike" cap="none" dirty="0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b="0" i="0" u="none" strike="noStrike" cap="none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Manager – New Concepts Incubator, Urban Futures and the Energy-X Nexus</a:t>
                      </a:r>
                      <a:endParaRPr sz="1400" u="none" strike="noStrike" cap="none" dirty="0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b="0" i="0" u="none" strike="noStrike" cap="none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Colorado</a:t>
                      </a:r>
                      <a:endParaRPr sz="1400" u="none" strike="noStrike" cap="none" dirty="0"/>
                    </a:p>
                  </a:txBody>
                  <a:tcPr marL="91450" marR="91450" marT="45725" marB="457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b="1" u="none" strike="noStrike" cap="none" dirty="0"/>
                        <a:t>David Greene</a:t>
                      </a:r>
                      <a:endParaRPr sz="1400" u="none" strike="noStrike" cap="none" dirty="0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 dirty="0"/>
                        <a:t>National Renewable Energy Laboratory</a:t>
                      </a:r>
                      <a:endParaRPr sz="1400" u="none" strike="noStrike" cap="none" dirty="0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b="0" i="0" u="none" strike="noStrike" cap="none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Water, Energy, Climate, and Sustainability Engineer and Program Manager</a:t>
                      </a:r>
                      <a:endParaRPr sz="1400" u="none" strike="noStrike" cap="none" dirty="0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b="0" i="0" u="none" strike="noStrike" cap="none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Colorado</a:t>
                      </a:r>
                      <a:endParaRPr sz="1400" u="none" strike="noStrike" cap="none" dirty="0"/>
                    </a:p>
                  </a:txBody>
                  <a:tcPr marL="91450" marR="91450" marT="45725" marB="457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b="1" u="none" strike="noStrike" cap="none" dirty="0"/>
                        <a:t>Ross Greer</a:t>
                      </a:r>
                      <a:endParaRPr sz="1400" u="none" strike="noStrike" cap="none" dirty="0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 dirty="0"/>
                        <a:t>UC – San Diego</a:t>
                      </a:r>
                      <a:endParaRPr sz="1400" u="none" strike="noStrike" cap="none" dirty="0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b="0" i="0" u="none" strike="noStrike" cap="none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PhD Candidate - Electrical &amp; Computer Engineering</a:t>
                      </a:r>
                      <a:endParaRPr sz="1400" u="none" strike="noStrike" cap="none" dirty="0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b="0" i="0" u="none" strike="noStrike" cap="none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California</a:t>
                      </a:r>
                      <a:endParaRPr sz="1400" u="none" strike="noStrike" cap="none" dirty="0"/>
                    </a:p>
                  </a:txBody>
                  <a:tcPr marL="91450" marR="91450" marT="45725" marB="45725"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5" name="Google Shape;82;p2" descr="A person with his hand on his chin&#10;&#10;Description automatically generated">
            <a:extLst>
              <a:ext uri="{FF2B5EF4-FFF2-40B4-BE49-F238E27FC236}">
                <a16:creationId xmlns:a16="http://schemas.microsoft.com/office/drawing/2014/main" id="{A65065FE-1D26-8C9D-DA26-1F9BBE80509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24540" y="1430061"/>
            <a:ext cx="1904238" cy="1792224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81;p2" descr="A person with a beard&#10;&#10;Description automatically generated">
            <a:extLst>
              <a:ext uri="{FF2B5EF4-FFF2-40B4-BE49-F238E27FC236}">
                <a16:creationId xmlns:a16="http://schemas.microsoft.com/office/drawing/2014/main" id="{B9EFBE6F-A82B-646A-5FA0-F490FD30E1F7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031329" y="1402719"/>
            <a:ext cx="1471041" cy="1781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80;p2" descr="A close-up of a person smiling&#10;&#10;Description automatically generated">
            <a:extLst>
              <a:ext uri="{FF2B5EF4-FFF2-40B4-BE49-F238E27FC236}">
                <a16:creationId xmlns:a16="http://schemas.microsoft.com/office/drawing/2014/main" id="{7DBC317E-16A7-251F-3490-F33AE47F0745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0374" y="1414624"/>
            <a:ext cx="1757363" cy="175736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45490015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21_BasicWhite">
  <a:themeElements>
    <a:clrScheme name="IDRA World Congress 2024">
      <a:dk1>
        <a:srgbClr val="808384"/>
      </a:dk1>
      <a:lt1>
        <a:srgbClr val="2BB3AF"/>
      </a:lt1>
      <a:dk2>
        <a:srgbClr val="808384"/>
      </a:dk2>
      <a:lt2>
        <a:srgbClr val="FFFFFF"/>
      </a:lt2>
      <a:accent1>
        <a:srgbClr val="D6E3F3"/>
      </a:accent1>
      <a:accent2>
        <a:srgbClr val="2BB3AF"/>
      </a:accent2>
      <a:accent3>
        <a:srgbClr val="1C3867"/>
      </a:accent3>
      <a:accent4>
        <a:srgbClr val="2C455D"/>
      </a:accent4>
      <a:accent5>
        <a:srgbClr val="808384"/>
      </a:accent5>
      <a:accent6>
        <a:srgbClr val="2BB3AF"/>
      </a:accent6>
      <a:hlink>
        <a:srgbClr val="1C3867"/>
      </a:hlink>
      <a:folHlink>
        <a:srgbClr val="2C455D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IDRA WORLD CONGRESS 2024 PRESENTATION TEMPLATE PPT</Template>
  <TotalTime>15187</TotalTime>
  <Words>1992</Words>
  <Application>Microsoft Office PowerPoint</Application>
  <PresentationFormat>On-screen Show (16:9)</PresentationFormat>
  <Paragraphs>352</Paragraphs>
  <Slides>35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35</vt:i4>
      </vt:variant>
    </vt:vector>
  </HeadingPairs>
  <TitlesOfParts>
    <vt:vector size="48" baseType="lpstr">
      <vt:lpstr>Lato-Bold</vt:lpstr>
      <vt:lpstr>Cambria Math</vt:lpstr>
      <vt:lpstr>Avenir Medium</vt:lpstr>
      <vt:lpstr>Produkt Extralight</vt:lpstr>
      <vt:lpstr>Graphik</vt:lpstr>
      <vt:lpstr>Roboto</vt:lpstr>
      <vt:lpstr>Arial</vt:lpstr>
      <vt:lpstr>Aptos SemiBold</vt:lpstr>
      <vt:lpstr>Lato Medium</vt:lpstr>
      <vt:lpstr>Avenir Book</vt:lpstr>
      <vt:lpstr>Calibri</vt:lpstr>
      <vt:lpstr>Simple Light</vt:lpstr>
      <vt:lpstr>21_BasicWhite</vt:lpstr>
      <vt:lpstr>Decarbonizing Water Desalination with Renewable Energy and Battery Storage Using Optimization Algorithms</vt:lpstr>
      <vt:lpstr>Vision </vt:lpstr>
      <vt:lpstr>Background</vt:lpstr>
      <vt:lpstr>Research Overview</vt:lpstr>
      <vt:lpstr>Summary of Four Desalination Facilities</vt:lpstr>
      <vt:lpstr>Desalination Plant Data</vt:lpstr>
      <vt:lpstr>PowerPoint Presentation</vt:lpstr>
      <vt:lpstr>PowerPoint Presentation</vt:lpstr>
      <vt:lpstr>Forecast Treated Water, Energy Usage, Weather</vt:lpstr>
      <vt:lpstr>Forecast Treated Water/Energy Consumption</vt:lpstr>
      <vt:lpstr>PowerPoint Presentation</vt:lpstr>
      <vt:lpstr>PowerPoint Presentation</vt:lpstr>
      <vt:lpstr>Forecast Wind Speed/Temperature/GHI</vt:lpstr>
      <vt:lpstr>PowerPoint Presentation</vt:lpstr>
      <vt:lpstr>Wind Speed/Temperature/GHI Forecast Trends</vt:lpstr>
      <vt:lpstr>Daily and Seasonal Trends in Weather</vt:lpstr>
      <vt:lpstr>Results: Forecasted Variable Error Rates (RMSE)</vt:lpstr>
      <vt:lpstr>PowerPoint Presentation</vt:lpstr>
      <vt:lpstr>PowerPoint Presentation</vt:lpstr>
      <vt:lpstr>Step 2: RE and BS - Variables and Constants</vt:lpstr>
      <vt:lpstr>Results: RE Generation Forecast</vt:lpstr>
      <vt:lpstr>PowerPoint Presentation</vt:lpstr>
      <vt:lpstr>RE CAPEX, OpEx, CO2 Emissions: Assumptions</vt:lpstr>
      <vt:lpstr>PowerPoint Presentation</vt:lpstr>
      <vt:lpstr>Optimizing the RE Supply and Plant Energy Demand</vt:lpstr>
      <vt:lpstr>Optimization Algorithm Overview</vt:lpstr>
      <vt:lpstr>Optimization Scenarios</vt:lpstr>
      <vt:lpstr>PSO Optimization Model</vt:lpstr>
      <vt:lpstr>NSGA-II Optimization Model</vt:lpstr>
      <vt:lpstr>NSGA-II Optimization Model</vt:lpstr>
      <vt:lpstr>PSO Model - Optimization Results (Tampa Bay)</vt:lpstr>
      <vt:lpstr>PSO Model - Optimization Results (Tampa Bay)</vt:lpstr>
      <vt:lpstr>Potential Limitations</vt:lpstr>
      <vt:lpstr>Conclusions</vt:lpstr>
      <vt:lpstr>Acknowledgement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Om Sanan</dc:creator>
  <cp:lastModifiedBy>Puneet Sanan</cp:lastModifiedBy>
  <cp:revision>52</cp:revision>
  <dcterms:modified xsi:type="dcterms:W3CDTF">2024-12-06T08:01:31Z</dcterms:modified>
</cp:coreProperties>
</file>